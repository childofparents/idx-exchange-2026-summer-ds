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1" r:id="rId3"/>
    <p:sldId id="262" r:id="rId4"/>
    <p:sldId id="263" r:id="rId5"/>
    <p:sldId id="268" r:id="rId6"/>
    <p:sldId id="264" r:id="rId7"/>
    <p:sldId id="269" r:id="rId8"/>
    <p:sldId id="270" r:id="rId9"/>
    <p:sldId id="265" r:id="rId10"/>
    <p:sldId id="257" r:id="rId11"/>
    <p:sldId id="272" r:id="rId12"/>
    <p:sldId id="273" r:id="rId13"/>
    <p:sldId id="274" r:id="rId14"/>
    <p:sldId id="258" r:id="rId15"/>
    <p:sldId id="266" r:id="rId16"/>
    <p:sldId id="259" r:id="rId17"/>
    <p:sldId id="275" r:id="rId18"/>
    <p:sldId id="276" r:id="rId19"/>
    <p:sldId id="277" r:id="rId20"/>
    <p:sldId id="26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88" dt="2026-08-28T14:25:04.098"/>
    <p1510:client id="{24D35051-BBB1-ABBA-62EE-6FB9F0F202DB}" v="58" dt="2026-08-28T14:23:14.488"/>
    <p1510:client id="{36AB4CFF-4C75-43F0-8934-FFC6C1A81735}" v="55" dt="2026-08-27T02:03:50.952"/>
    <p1510:client id="{5AAD421D-4282-E1FD-0FD8-7B8F98F6F4D9}" v="3" dt="2026-08-26T22:21:59.306"/>
    <p1510:client id="{624AF44B-9AF1-5EA5-8F7F-6FC1BA69B508}" v="35" dt="2026-08-26T22:22:01.012"/>
    <p1510:client id="{6BA42920-65BC-CCD2-C45E-066EA6A62F87}" v="343" dt="2026-08-27T01:05:47.569"/>
    <p1510:client id="{C1BD51B7-4EA7-0088-F115-BEE0926B7125}" v="28" dt="2026-08-26T22:26:33.233"/>
    <p1510:client id="{DF034E9D-BA00-BABF-F78B-7EB31B87489F}" v="69" dt="2026-08-26T17:42:06.764"/>
    <p1510:client id="{F6DE51C8-4F55-F7CE-9DFA-A54EF6E11973}" v="30" dt="2026-08-27T17:07:23.9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87C6-0308-41C1-AC49-02517BC989DF}" type="datetimeFigureOut">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0D799-E897-4718-AD7E-717D1DB3C15F}" type="slidenum">
              <a:t>‹#›</a:t>
            </a:fld>
            <a:endParaRPr lang="en-US"/>
          </a:p>
        </p:txBody>
      </p:sp>
    </p:spTree>
    <p:extLst>
      <p:ext uri="{BB962C8B-B14F-4D97-AF65-F5344CB8AC3E}">
        <p14:creationId xmlns:p14="http://schemas.microsoft.com/office/powerpoint/2010/main" val="1342606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Stakeholder framing: </a:t>
            </a:r>
            <a:r>
              <a:rPr dirty="0" err="1"/>
              <a:t>XGBoost</a:t>
            </a:r>
            <a:r>
              <a:rPr dirty="0"/>
              <a:t> is not one giant rule. It is a sequence of modest tree-based corrections.</a:t>
            </a:r>
            <a:endParaRPr lang="en-US" dirty="0"/>
          </a:p>
          <a:p>
            <a:endParaRPr dirty="0"/>
          </a:p>
          <a:p>
            <a:r>
              <a:rPr dirty="0"/>
              <a:t>Emphasize that </a:t>
            </a:r>
            <a:r>
              <a:rPr lang="en-US" dirty="0"/>
              <a:t>this</a:t>
            </a:r>
            <a:r>
              <a:rPr dirty="0"/>
              <a:t> model can combine location and physical</a:t>
            </a:r>
            <a:r>
              <a:rPr lang="en-US" dirty="0"/>
              <a:t> </a:t>
            </a:r>
            <a:r>
              <a:rPr dirty="0"/>
              <a:t>property </a:t>
            </a:r>
            <a:r>
              <a:rPr lang="en-US" dirty="0"/>
              <a:t>characteristics</a:t>
            </a:r>
            <a:r>
              <a:rPr dirty="0"/>
              <a:t> without assuming one statewide linear relationship.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Lead with </a:t>
            </a:r>
            <a:r>
              <a:rPr dirty="0" err="1"/>
              <a:t>MdAPE</a:t>
            </a:r>
            <a:r>
              <a:rPr dirty="0"/>
              <a:t> as the </a:t>
            </a:r>
            <a:r>
              <a:rPr lang="en-US" dirty="0"/>
              <a:t>typical accuracy</a:t>
            </a:r>
            <a:r>
              <a:rPr dirty="0"/>
              <a:t> metric, then use R2 for statewide fit.</a:t>
            </a:r>
          </a:p>
          <a:p>
            <a:r>
              <a:rPr dirty="0"/>
              <a:t>All five rows were rerun on the same chronological June 2026 holdout, so this is the apples-to-apples table.</a:t>
            </a:r>
          </a:p>
          <a:p>
            <a:r>
              <a:rPr dirty="0"/>
              <a:t>MAPE - </a:t>
            </a:r>
            <a:r>
              <a:rPr dirty="0" err="1"/>
              <a:t>MdAPE</a:t>
            </a:r>
            <a:r>
              <a:rPr dirty="0"/>
              <a:t> is reported in percentage points: (MAPE - </a:t>
            </a:r>
            <a:r>
              <a:rPr dirty="0" err="1"/>
              <a:t>MdAPE</a:t>
            </a:r>
            <a:r>
              <a:rPr dirty="0"/>
              <a:t>) x 100.</a:t>
            </a:r>
          </a:p>
          <a:p>
            <a:endParaRPr dirty="0"/>
          </a:p>
          <a:p>
            <a:r>
              <a:rPr lang="en-US" dirty="0"/>
              <a:t>Related work:</a:t>
            </a:r>
          </a:p>
          <a:p>
            <a:r>
              <a:rPr lang="en-US" dirty="0"/>
              <a:t>- </a:t>
            </a:r>
            <a:r>
              <a:rPr dirty="0"/>
              <a:t>W8 </a:t>
            </a:r>
            <a:r>
              <a:rPr dirty="0" err="1"/>
              <a:t>metrics_summary.csv</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 wins the other</a:t>
            </a:r>
            <a:r>
              <a:rPr dirty="0"/>
              <a:t>. </a:t>
            </a:r>
            <a:r>
              <a:rPr dirty="0" err="1"/>
              <a:t>XGBoost</a:t>
            </a:r>
            <a:r>
              <a:rPr dirty="0"/>
              <a:t> wins the statewide fit/tail-dollar-error </a:t>
            </a:r>
            <a:r>
              <a:rPr lang="en-US" dirty="0"/>
              <a:t>lens</a:t>
            </a:r>
            <a:r>
              <a:rPr dirty="0"/>
              <a:t>; Random Forest wins the representative-home percentage-error lens.</a:t>
            </a:r>
          </a:p>
          <a:p>
            <a:r>
              <a:rPr dirty="0"/>
              <a:t>This deliberate trade-off is why </a:t>
            </a:r>
            <a:r>
              <a:rPr lang="en-US" dirty="0"/>
              <a:t>I </a:t>
            </a:r>
            <a:r>
              <a:rPr dirty="0"/>
              <a:t>retai</a:t>
            </a:r>
            <a:r>
              <a:rPr lang="en-US" dirty="0"/>
              <a:t>n</a:t>
            </a:r>
            <a:r>
              <a:rPr dirty="0"/>
              <a:t> Random Forest as a benchmark even though </a:t>
            </a:r>
            <a:r>
              <a:rPr dirty="0" err="1"/>
              <a:t>XGBoost</a:t>
            </a:r>
            <a:r>
              <a:rPr dirty="0"/>
              <a:t> is the selected </a:t>
            </a:r>
            <a:r>
              <a:rPr lang="en-US" dirty="0"/>
              <a:t>primary</a:t>
            </a:r>
            <a:r>
              <a:rPr dirty="0"/>
              <a:t> model.</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Related work:</a:t>
            </a:r>
          </a:p>
          <a:p>
            <a:endParaRPr dirty="0"/>
          </a:p>
          <a:p>
            <a:r>
              <a:rPr dirty="0"/>
              <a:t>- </a:t>
            </a:r>
            <a:r>
              <a:rPr lang="en-US" dirty="0"/>
              <a:t>W8 </a:t>
            </a:r>
            <a:r>
              <a:rPr dirty="0" err="1"/>
              <a:t>metrics_summary.csv</a:t>
            </a:r>
            <a:endParaRPr dirty="0"/>
          </a:p>
          <a:p>
            <a:r>
              <a:rPr dirty="0"/>
              <a:t>- </a:t>
            </a:r>
            <a:r>
              <a:rPr lang="en-US" dirty="0"/>
              <a:t>W7 </a:t>
            </a:r>
            <a:r>
              <a:rPr dirty="0"/>
              <a:t>Week7_Advanced_Models_Weekly_Report.md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earliest priority was leakage control and a time-respecting holdout, not model sophistication.</a:t>
            </a:r>
          </a:p>
          <a:p>
            <a:r>
              <a:rPr dirty="0"/>
              <a:t>The W4 result established the benchmark: 47.1% of price variance explained and 22.4% typical percentage error.</a:t>
            </a:r>
          </a:p>
          <a:p>
            <a:r>
              <a:rPr dirty="0"/>
              <a:t>W4-5 </a:t>
            </a:r>
            <a:r>
              <a:rPr lang="en-US" dirty="0"/>
              <a:t>pipelines</a:t>
            </a:r>
            <a:r>
              <a:rPr dirty="0"/>
              <a:t> use Kelvin</a:t>
            </a:r>
            <a:r>
              <a:rPr lang="en-US" dirty="0"/>
              <a:t>’s</a:t>
            </a:r>
            <a:r>
              <a:rPr dirty="0"/>
              <a:t> Week 3</a:t>
            </a:r>
            <a:r>
              <a:rPr lang="en-US" dirty="0"/>
              <a:t> preprocessed dataset</a:t>
            </a:r>
            <a:r>
              <a:rPr dirty="0"/>
              <a:t>; the final Week 7 workflow later rebuilds preprocessing from raw data.</a:t>
            </a:r>
          </a:p>
          <a:p>
            <a:endParaRPr dirty="0"/>
          </a:p>
          <a:p>
            <a:r>
              <a:rPr lang="en-US" dirty="0"/>
              <a:t>Related work:</a:t>
            </a:r>
          </a:p>
          <a:p>
            <a:r>
              <a:rPr dirty="0"/>
              <a:t>- </a:t>
            </a:r>
            <a:r>
              <a:rPr lang="en-US" dirty="0"/>
              <a:t>W3 </a:t>
            </a:r>
            <a:r>
              <a:rPr dirty="0"/>
              <a:t>02_preprocessing.</a:t>
            </a:r>
            <a:r>
              <a:rPr lang="en-US" dirty="0"/>
              <a:t>ipynb</a:t>
            </a:r>
            <a:endParaRPr dirty="0"/>
          </a:p>
          <a:p>
            <a:r>
              <a:rPr dirty="0"/>
              <a:t>-</a:t>
            </a:r>
            <a:r>
              <a:rPr lang="en-US" dirty="0"/>
              <a:t> </a:t>
            </a:r>
            <a:r>
              <a:rPr dirty="0"/>
              <a:t>W4 </a:t>
            </a:r>
            <a:r>
              <a:rPr dirty="0" err="1"/>
              <a:t>baseline_model_results.csv</a:t>
            </a:r>
            <a:endParaRPr dirty="0"/>
          </a:p>
          <a:p>
            <a:r>
              <a:rPr dirty="0"/>
              <a:t>- W4 Week4_Baseline_Model_Summary_Report.txt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dirty="0"/>
              <a:t>Week 5 isolated model behavior: same preprocessing, different algorithms. Random Forest was the decisive improvement.</a:t>
            </a:r>
          </a:p>
          <a:p>
            <a:r>
              <a:rPr lang="en-US" dirty="0"/>
              <a:t>In </a:t>
            </a:r>
            <a:r>
              <a:rPr dirty="0"/>
              <a:t>Week 6 added nine readable engineered inputs; one-hot expansion increased the processed matrix from 967 to 1,193 features.</a:t>
            </a:r>
          </a:p>
          <a:p>
            <a:r>
              <a:rPr dirty="0"/>
              <a:t>The feature set </a:t>
            </a:r>
            <a:r>
              <a:rPr lang="en-US" dirty="0"/>
              <a:t>strongly</a:t>
            </a:r>
            <a:r>
              <a:rPr dirty="0"/>
              <a:t> helped Linear Regression and modestly improved Random Forest, so it was retained for </a:t>
            </a:r>
            <a:r>
              <a:rPr lang="en-US" dirty="0"/>
              <a:t>boosting methods in later weeks</a:t>
            </a:r>
            <a:r>
              <a:rPr dirty="0"/>
              <a:t>.</a:t>
            </a:r>
          </a:p>
          <a:p>
            <a:endParaRPr dirty="0"/>
          </a:p>
          <a:p>
            <a:r>
              <a:rPr lang="en-US" dirty="0"/>
              <a:t>Related work:</a:t>
            </a:r>
          </a:p>
          <a:p>
            <a:r>
              <a:rPr dirty="0"/>
              <a:t>- W5 </a:t>
            </a:r>
            <a:r>
              <a:rPr dirty="0" err="1"/>
              <a:t>model_comparison_results.csv</a:t>
            </a:r>
            <a:endParaRPr dirty="0"/>
          </a:p>
          <a:p>
            <a:r>
              <a:rPr dirty="0"/>
              <a:t>- </a:t>
            </a:r>
            <a:r>
              <a:rPr lang="en-US" dirty="0"/>
              <a:t>W5 </a:t>
            </a:r>
            <a:r>
              <a:rPr dirty="0"/>
              <a:t>Week5_Additional_Models_Summary_Report.txt</a:t>
            </a:r>
          </a:p>
          <a:p>
            <a:r>
              <a:rPr dirty="0"/>
              <a:t>- </a:t>
            </a:r>
            <a:r>
              <a:rPr lang="en-US" dirty="0"/>
              <a:t>W6 </a:t>
            </a:r>
            <a:r>
              <a:rPr dirty="0"/>
              <a:t>week5_vs_week6_performance_change.csv</a:t>
            </a:r>
          </a:p>
          <a:p>
            <a:r>
              <a:rPr dirty="0"/>
              <a:t>- W6 Week6_Feature_Engineering_Summary_Report.txt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final workflow </a:t>
            </a:r>
            <a:r>
              <a:rPr lang="en-US" dirty="0"/>
              <a:t>rebuilt</a:t>
            </a:r>
            <a:r>
              <a:rPr dirty="0"/>
              <a:t> preprocessing and features directly from the</a:t>
            </a:r>
            <a:r>
              <a:rPr lang="en-US" dirty="0"/>
              <a:t> latest</a:t>
            </a:r>
            <a:r>
              <a:rPr dirty="0"/>
              <a:t> monthly raw files.</a:t>
            </a:r>
          </a:p>
          <a:p>
            <a:r>
              <a:rPr dirty="0"/>
              <a:t>The selected </a:t>
            </a:r>
            <a:r>
              <a:rPr dirty="0" err="1"/>
              <a:t>XGBoost</a:t>
            </a:r>
            <a:r>
              <a:rPr dirty="0"/>
              <a:t> configuration had mean validation R2 0.803 and mean </a:t>
            </a:r>
            <a:r>
              <a:rPr dirty="0" err="1"/>
              <a:t>MdAPE</a:t>
            </a:r>
            <a:r>
              <a:rPr dirty="0"/>
              <a:t> 11.82%; the 500-tree model beat the smaller candidate, while the 700-tree low-learning-rate alternative did not improve typical error enough.</a:t>
            </a:r>
          </a:p>
          <a:p>
            <a:r>
              <a:rPr dirty="0"/>
              <a:t>Do not compare W6 May holdout </a:t>
            </a:r>
            <a:r>
              <a:rPr lang="en-US" dirty="0"/>
              <a:t>results</a:t>
            </a:r>
            <a:r>
              <a:rPr dirty="0"/>
              <a:t> directly with W7/W8 June </a:t>
            </a:r>
            <a:r>
              <a:rPr lang="en-US" dirty="0"/>
              <a:t>results</a:t>
            </a:r>
            <a:r>
              <a:rPr dirty="0"/>
              <a:t>. The same-month five-model table is the ranking evidence.</a:t>
            </a:r>
          </a:p>
          <a:p>
            <a:endParaRPr dirty="0"/>
          </a:p>
          <a:p>
            <a:r>
              <a:rPr lang="en-US" dirty="0"/>
              <a:t>Related work:</a:t>
            </a:r>
            <a:endParaRPr dirty="0"/>
          </a:p>
          <a:p>
            <a:r>
              <a:rPr dirty="0"/>
              <a:t>- W7 </a:t>
            </a:r>
            <a:r>
              <a:rPr dirty="0" err="1"/>
              <a:t>advanced_model_validation_results.csv</a:t>
            </a:r>
            <a:endParaRPr dirty="0"/>
          </a:p>
          <a:p>
            <a:r>
              <a:rPr dirty="0"/>
              <a:t>- W7 </a:t>
            </a:r>
            <a:r>
              <a:rPr dirty="0" err="1"/>
              <a:t>training_window_validation.csv</a:t>
            </a:r>
            <a:endParaRPr dirty="0"/>
          </a:p>
          <a:p>
            <a:r>
              <a:rPr dirty="0"/>
              <a:t>- W7 </a:t>
            </a:r>
            <a:r>
              <a:rPr dirty="0" err="1"/>
              <a:t>advanced_model_test_metrics.csv</a:t>
            </a:r>
            <a:endParaRPr dirty="0"/>
          </a:p>
          <a:p>
            <a:r>
              <a:rPr dirty="0"/>
              <a:t>- W8 </a:t>
            </a:r>
            <a:r>
              <a:rPr dirty="0" err="1"/>
              <a:t>metrics_summary.csv</a:t>
            </a:r>
            <a:endParaRPr dirty="0"/>
          </a:p>
          <a:p>
            <a:r>
              <a:rPr dirty="0"/>
              <a:t>- W10 </a:t>
            </a:r>
            <a:r>
              <a:rPr dirty="0" err="1"/>
              <a:t>README.md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0400-FA27-10F9-0157-51F2DBD047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92B8E4-990C-37AB-CAB8-35098CD885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BDE94F-CC1B-01AD-6133-F08937EA09B7}"/>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5" name="Footer Placeholder 4">
            <a:extLst>
              <a:ext uri="{FF2B5EF4-FFF2-40B4-BE49-F238E27FC236}">
                <a16:creationId xmlns:a16="http://schemas.microsoft.com/office/drawing/2014/main" id="{A2E00527-E789-73A0-D0E6-004810224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6300F-F759-5467-2D67-98AF4390A97E}"/>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2554151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394B6-E792-A25A-DE36-9018D608D8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C1A4B6-C602-2D7C-0AA8-0242989C3C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3E2898-B3B8-7714-773E-467A97A753B4}"/>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5" name="Footer Placeholder 4">
            <a:extLst>
              <a:ext uri="{FF2B5EF4-FFF2-40B4-BE49-F238E27FC236}">
                <a16:creationId xmlns:a16="http://schemas.microsoft.com/office/drawing/2014/main" id="{0C9E47E8-4A0E-22F3-5D70-3E00A50D5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9CB46-487F-8209-35FD-791D66F09F46}"/>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74057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D45F5-D133-C892-9CBD-C618C13D52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138226-32C5-6493-8FA5-26360AB4C0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FE00EA-8371-79A7-8B83-E553C9AC7566}"/>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5" name="Footer Placeholder 4">
            <a:extLst>
              <a:ext uri="{FF2B5EF4-FFF2-40B4-BE49-F238E27FC236}">
                <a16:creationId xmlns:a16="http://schemas.microsoft.com/office/drawing/2014/main" id="{BA3ECF06-D8FB-7756-CB88-ACDE264CDA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661D1D-F611-8E26-3088-77C83EEDCCBC}"/>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1764671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14FD-DBF9-BA53-0236-5FAD165303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703ECA-CD2D-309F-B65E-B39504047E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1EDCCC-1200-7E11-DDE4-4CDF5CB0CA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D39E2B-AAC5-6800-37AD-0964BB762DC6}"/>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6" name="Footer Placeholder 5">
            <a:extLst>
              <a:ext uri="{FF2B5EF4-FFF2-40B4-BE49-F238E27FC236}">
                <a16:creationId xmlns:a16="http://schemas.microsoft.com/office/drawing/2014/main" id="{B376C09A-19CB-4954-F9F9-C147B2D8AE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9FBDFE-3647-15F5-EF33-A3C0289960D8}"/>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4067495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122AA-F45E-CCB1-A8DE-0C1A445865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2183CF-DC5C-CE89-BF3C-CC0106D507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98DD7D-E805-2DC8-99CA-DCE3EC6E5A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DBD321-2380-BC3C-D08A-64AC152E79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DD4D93-6DB3-B101-45CA-97D1BD0D9C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3A541A-B98F-E786-65BE-A777787C9825}"/>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8" name="Footer Placeholder 7">
            <a:extLst>
              <a:ext uri="{FF2B5EF4-FFF2-40B4-BE49-F238E27FC236}">
                <a16:creationId xmlns:a16="http://schemas.microsoft.com/office/drawing/2014/main" id="{068C36FF-F574-A8DF-057F-AE9C0CFB30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58A449-D62C-E958-2B6E-EA6B0E55A396}"/>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1749623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978A-ED30-1791-E1AE-C88A0DF800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157787-D8DF-DB38-3F7E-BEA8CAFE3EF2}"/>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4" name="Footer Placeholder 3">
            <a:extLst>
              <a:ext uri="{FF2B5EF4-FFF2-40B4-BE49-F238E27FC236}">
                <a16:creationId xmlns:a16="http://schemas.microsoft.com/office/drawing/2014/main" id="{7CEE9B44-4435-41D5-1E25-D572575013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CA0370-9410-7431-88AA-5D58ACFE499A}"/>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1975195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D000B0-5BED-3104-4D8E-F2172E6286F0}"/>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3" name="Footer Placeholder 2">
            <a:extLst>
              <a:ext uri="{FF2B5EF4-FFF2-40B4-BE49-F238E27FC236}">
                <a16:creationId xmlns:a16="http://schemas.microsoft.com/office/drawing/2014/main" id="{4CD43EC9-122D-CEAA-8004-2AC2D9F17C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50DD43-A4DA-FAB7-6986-518AF4C58C45}"/>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56634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442E-968E-E20F-E5A0-A9903E48F2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E15626-F582-0666-CB7A-E891951D5B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697805-A158-C360-48F7-506CA6156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86FB70-C504-F632-63F4-649146AB7072}"/>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6" name="Footer Placeholder 5">
            <a:extLst>
              <a:ext uri="{FF2B5EF4-FFF2-40B4-BE49-F238E27FC236}">
                <a16:creationId xmlns:a16="http://schemas.microsoft.com/office/drawing/2014/main" id="{ADC9AF95-7032-AD0D-823D-2E981E328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A30126-3210-E805-1585-15470C0AAF67}"/>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3006064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776F8-9C37-D771-3404-A75C6707F1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3B4950-C2AA-FB72-140A-618F0BABAE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B7444A-CE2B-FE73-ABC3-3886DDDFF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B5D0BD-3AA3-CBCF-95A2-0F0F937A84C8}"/>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6" name="Footer Placeholder 5">
            <a:extLst>
              <a:ext uri="{FF2B5EF4-FFF2-40B4-BE49-F238E27FC236}">
                <a16:creationId xmlns:a16="http://schemas.microsoft.com/office/drawing/2014/main" id="{2563C1DB-DF4F-E849-0300-619DABD7E8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35A7FA-9B3B-C124-D599-7179337DFA7E}"/>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2088460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4BACC-1F0B-E62A-B692-AFC7778FF3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9CCDA3-F2DF-DC0E-DA38-AEEC847835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99BABB-BF70-6FBD-EC7F-2210451F9610}"/>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5" name="Footer Placeholder 4">
            <a:extLst>
              <a:ext uri="{FF2B5EF4-FFF2-40B4-BE49-F238E27FC236}">
                <a16:creationId xmlns:a16="http://schemas.microsoft.com/office/drawing/2014/main" id="{B5741534-45B2-D02C-4FE3-20E795D1B1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DB0A88-9DBC-5494-1A2F-4AA39126B5AD}"/>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3265384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8DA66C-FDC0-91E4-31AB-67DD07B22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93D014-9F9F-00CF-415A-6C4C603330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F6413B-DE5F-4E0C-0191-3BE92F722E96}"/>
              </a:ext>
            </a:extLst>
          </p:cNvPr>
          <p:cNvSpPr>
            <a:spLocks noGrp="1"/>
          </p:cNvSpPr>
          <p:nvPr>
            <p:ph type="dt" sz="half" idx="10"/>
          </p:nvPr>
        </p:nvSpPr>
        <p:spPr/>
        <p:txBody>
          <a:bodyPr/>
          <a:lstStyle/>
          <a:p>
            <a:fld id="{73528A12-A6F0-4263-A4BE-7FFCD90AFFF6}" type="datetimeFigureOut">
              <a:rPr lang="en-US" smtClean="0"/>
              <a:t>8/28/2026</a:t>
            </a:fld>
            <a:endParaRPr lang="en-US"/>
          </a:p>
        </p:txBody>
      </p:sp>
      <p:sp>
        <p:nvSpPr>
          <p:cNvPr id="5" name="Footer Placeholder 4">
            <a:extLst>
              <a:ext uri="{FF2B5EF4-FFF2-40B4-BE49-F238E27FC236}">
                <a16:creationId xmlns:a16="http://schemas.microsoft.com/office/drawing/2014/main" id="{3BCEC796-CCD4-3161-9121-E37F07C40D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8E653C-EC89-BD6A-C2AE-8AC157C884F4}"/>
              </a:ext>
            </a:extLst>
          </p:cNvPr>
          <p:cNvSpPr>
            <a:spLocks noGrp="1"/>
          </p:cNvSpPr>
          <p:nvPr>
            <p:ph type="sldNum" sz="quarter" idx="12"/>
          </p:nvPr>
        </p:nvSpPr>
        <p:spPr/>
        <p:txBody>
          <a:bodyPr/>
          <a:lstStyle/>
          <a:p>
            <a:fld id="{F112652C-D68B-4B23-ABDD-97B351513544}" type="slidenum">
              <a:rPr lang="en-US" smtClean="0"/>
              <a:t>‹#›</a:t>
            </a:fld>
            <a:endParaRPr lang="en-US"/>
          </a:p>
        </p:txBody>
      </p:sp>
    </p:spTree>
    <p:extLst>
      <p:ext uri="{BB962C8B-B14F-4D97-AF65-F5344CB8AC3E}">
        <p14:creationId xmlns:p14="http://schemas.microsoft.com/office/powerpoint/2010/main" val="3724656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2F89EF-94CF-100E-9DD8-F28E003CD4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37CF3A-5BB6-5688-A28E-8292569DCB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4C4F5B-3D72-72AB-58EE-101946366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528A12-A6F0-4263-A4BE-7FFCD90AFFF6}" type="datetimeFigureOut">
              <a:rPr lang="en-US" smtClean="0"/>
              <a:t>8/28/2026</a:t>
            </a:fld>
            <a:endParaRPr lang="en-US"/>
          </a:p>
        </p:txBody>
      </p:sp>
      <p:sp>
        <p:nvSpPr>
          <p:cNvPr id="5" name="Footer Placeholder 4">
            <a:extLst>
              <a:ext uri="{FF2B5EF4-FFF2-40B4-BE49-F238E27FC236}">
                <a16:creationId xmlns:a16="http://schemas.microsoft.com/office/drawing/2014/main" id="{CE240A6A-6B97-611A-BA73-AA0326FDAA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FA63DE1-08D8-865B-E648-92BF179F5B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12652C-D68B-4B23-ABDD-97B351513544}" type="slidenum">
              <a:rPr lang="en-US" smtClean="0"/>
              <a:t>‹#›</a:t>
            </a:fld>
            <a:endParaRPr lang="en-US"/>
          </a:p>
        </p:txBody>
      </p:sp>
    </p:spTree>
    <p:extLst>
      <p:ext uri="{BB962C8B-B14F-4D97-AF65-F5344CB8AC3E}">
        <p14:creationId xmlns:p14="http://schemas.microsoft.com/office/powerpoint/2010/main" val="1355770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6830E-78BD-0330-7010-58F9BC3FD581}"/>
              </a:ext>
            </a:extLst>
          </p:cNvPr>
          <p:cNvSpPr>
            <a:spLocks noGrp="1"/>
          </p:cNvSpPr>
          <p:nvPr>
            <p:ph type="ctrTitle"/>
          </p:nvPr>
        </p:nvSpPr>
        <p:spPr/>
        <p:txBody>
          <a:bodyPr/>
          <a:lstStyle/>
          <a:p>
            <a:r>
              <a:rPr lang="en-US"/>
              <a:t>ds 55 presentation</a:t>
            </a:r>
          </a:p>
        </p:txBody>
      </p:sp>
      <p:sp>
        <p:nvSpPr>
          <p:cNvPr id="3" name="Subtitle 2">
            <a:extLst>
              <a:ext uri="{FF2B5EF4-FFF2-40B4-BE49-F238E27FC236}">
                <a16:creationId xmlns:a16="http://schemas.microsoft.com/office/drawing/2014/main" id="{9203CEB4-902F-962D-B0B4-6536E4AEEF07}"/>
              </a:ext>
            </a:extLst>
          </p:cNvPr>
          <p:cNvSpPr>
            <a:spLocks noGrp="1"/>
          </p:cNvSpPr>
          <p:nvPr>
            <p:ph type="subTitle" idx="1"/>
          </p:nvPr>
        </p:nvSpPr>
        <p:spPr/>
        <p:txBody>
          <a:bodyPr vert="horz" lIns="91440" tIns="45720" rIns="91440" bIns="45720" rtlCol="0" anchor="t">
            <a:normAutofit/>
          </a:bodyPr>
          <a:lstStyle/>
          <a:p>
            <a:r>
              <a:rPr lang="en-US"/>
              <a:t>Team members: </a:t>
            </a:r>
          </a:p>
          <a:p>
            <a:r>
              <a:rPr lang="en-US">
                <a:ea typeface="+mn-lt"/>
                <a:cs typeface="+mn-lt"/>
              </a:rPr>
              <a:t>Luoxu Chen, Maria Guerrero Cordoba, Riva Lan, Maverick Donald-Wright, Kelvin Yuan, Yingxin Deng, Lydia Chin, Jorge Garcia-Diaz</a:t>
            </a:r>
            <a:endParaRPr lang="en-US"/>
          </a:p>
        </p:txBody>
      </p:sp>
    </p:spTree>
    <p:extLst>
      <p:ext uri="{BB962C8B-B14F-4D97-AF65-F5344CB8AC3E}">
        <p14:creationId xmlns:p14="http://schemas.microsoft.com/office/powerpoint/2010/main" val="2402960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2FF93-94F2-0208-75E3-263BBFD7C0D4}"/>
              </a:ext>
            </a:extLst>
          </p:cNvPr>
          <p:cNvSpPr>
            <a:spLocks noGrp="1"/>
          </p:cNvSpPr>
          <p:nvPr>
            <p:ph type="title"/>
          </p:nvPr>
        </p:nvSpPr>
        <p:spPr/>
        <p:txBody>
          <a:bodyPr/>
          <a:lstStyle/>
          <a:p>
            <a:r>
              <a:rPr lang="en-US"/>
              <a:t>Timeline / Content</a:t>
            </a:r>
          </a:p>
        </p:txBody>
      </p:sp>
      <p:sp>
        <p:nvSpPr>
          <p:cNvPr id="3" name="Content Placeholder 2">
            <a:extLst>
              <a:ext uri="{FF2B5EF4-FFF2-40B4-BE49-F238E27FC236}">
                <a16:creationId xmlns:a16="http://schemas.microsoft.com/office/drawing/2014/main" id="{A8AC4EB0-4223-25A5-918B-6BE697C764F6}"/>
              </a:ext>
            </a:extLst>
          </p:cNvPr>
          <p:cNvSpPr>
            <a:spLocks noGrp="1"/>
          </p:cNvSpPr>
          <p:nvPr>
            <p:ph idx="1"/>
          </p:nvPr>
        </p:nvSpPr>
        <p:spPr/>
        <p:txBody>
          <a:bodyPr vert="horz" lIns="91440" tIns="45720" rIns="91440" bIns="45720" rtlCol="0" anchor="t">
            <a:normAutofit fontScale="85000" lnSpcReduction="20000"/>
          </a:bodyPr>
          <a:lstStyle/>
          <a:p>
            <a:pPr marL="514350" indent="-514350">
              <a:buAutoNum type="arabicPeriod"/>
            </a:pPr>
            <a:r>
              <a:rPr lang="en-US"/>
              <a:t>Problem to Present – Objective - Maria</a:t>
            </a:r>
          </a:p>
          <a:p>
            <a:pPr marL="514350" indent="-514350">
              <a:buAutoNum type="arabicPeriod"/>
            </a:pPr>
            <a:r>
              <a:rPr lang="en-US"/>
              <a:t>Models to Explore - Lydia</a:t>
            </a:r>
          </a:p>
          <a:p>
            <a:pPr marL="514350" indent="-514350">
              <a:buAutoNum type="arabicPeriod"/>
            </a:pPr>
            <a:r>
              <a:rPr lang="en-US"/>
              <a:t>Performance Comparison by Model</a:t>
            </a:r>
          </a:p>
          <a:p>
            <a:pPr marL="971550" lvl="1">
              <a:buFont typeface="Courier New" panose="020B0604020202020204" pitchFamily="34" charset="0"/>
              <a:buChar char="o"/>
            </a:pPr>
            <a:r>
              <a:rPr lang="en-US"/>
              <a:t>Linear - Jorge</a:t>
            </a:r>
          </a:p>
          <a:p>
            <a:pPr marL="971550" lvl="1">
              <a:buFont typeface="Courier New" panose="020B0604020202020204" pitchFamily="34" charset="0"/>
              <a:buChar char="o"/>
            </a:pPr>
            <a:r>
              <a:rPr lang="en-US"/>
              <a:t>Random Forest / Decision Tree - Maverick</a:t>
            </a:r>
          </a:p>
          <a:p>
            <a:pPr marL="971550" lvl="1">
              <a:buFont typeface="Courier New" panose="020B0604020202020204" pitchFamily="34" charset="0"/>
              <a:buChar char="o"/>
            </a:pPr>
            <a:r>
              <a:rPr lang="en-US"/>
              <a:t>Light GBM - </a:t>
            </a:r>
            <a:r>
              <a:rPr lang="en-US" err="1"/>
              <a:t>Luoxu</a:t>
            </a:r>
            <a:endParaRPr lang="en-US"/>
          </a:p>
          <a:p>
            <a:pPr marL="971550" lvl="1">
              <a:buFont typeface="Courier New" panose="020B0604020202020204" pitchFamily="34" charset="0"/>
              <a:buChar char="o"/>
            </a:pPr>
            <a:r>
              <a:rPr lang="en-US" err="1"/>
              <a:t>XGBoost</a:t>
            </a:r>
            <a:r>
              <a:rPr lang="en-US"/>
              <a:t> - Riva</a:t>
            </a:r>
          </a:p>
          <a:p>
            <a:pPr marL="285750" indent="0">
              <a:buNone/>
            </a:pPr>
            <a:r>
              <a:rPr lang="en-US"/>
              <a:t>4. </a:t>
            </a:r>
            <a:r>
              <a:rPr lang="en-US" b="1">
                <a:ea typeface="+mn-lt"/>
                <a:cs typeface="+mn-lt"/>
              </a:rPr>
              <a:t>Performance by Price Band - Sammy</a:t>
            </a:r>
            <a:endParaRPr lang="en-US"/>
          </a:p>
          <a:p>
            <a:pPr marL="285750" indent="0">
              <a:buNone/>
            </a:pPr>
            <a:r>
              <a:rPr lang="en-US" b="1"/>
              <a:t>5. Stability over time - </a:t>
            </a:r>
            <a:r>
              <a:rPr lang="en-US" b="1" err="1"/>
              <a:t>Luoxu</a:t>
            </a:r>
            <a:endParaRPr lang="en-US" b="1"/>
          </a:p>
          <a:p>
            <a:pPr marL="285750" indent="0">
              <a:buNone/>
            </a:pPr>
            <a:r>
              <a:rPr lang="en-US" b="1"/>
              <a:t>6. </a:t>
            </a:r>
            <a:r>
              <a:rPr lang="en-US" b="1">
                <a:ea typeface="+mn-lt"/>
                <a:cs typeface="+mn-lt"/>
              </a:rPr>
              <a:t>Iteration Timeline – Riva</a:t>
            </a:r>
            <a:endParaRPr lang="en-US" b="1"/>
          </a:p>
          <a:p>
            <a:pPr marL="285750" indent="0">
              <a:buNone/>
            </a:pPr>
            <a:r>
              <a:rPr lang="en-US" b="1"/>
              <a:t>7. What work - Kelvin</a:t>
            </a:r>
          </a:p>
          <a:p>
            <a:pPr marL="285750" indent="0">
              <a:buNone/>
            </a:pPr>
            <a:r>
              <a:rPr lang="en-US" b="1"/>
              <a:t>8. what didn't work - Kelvin</a:t>
            </a:r>
          </a:p>
          <a:p>
            <a:pPr marL="742950" lvl="1" indent="0">
              <a:buNone/>
            </a:pPr>
            <a:endParaRPr lang="en-US" b="1"/>
          </a:p>
          <a:p>
            <a:pPr marL="742950" lvl="1" indent="0">
              <a:buNone/>
            </a:pPr>
            <a:endParaRPr lang="en-US" b="1"/>
          </a:p>
          <a:p>
            <a:pPr marL="971550" lvl="1">
              <a:buFont typeface="Courier New" panose="020B0604020202020204" pitchFamily="34" charset="0"/>
              <a:buChar char="o"/>
            </a:pPr>
            <a:endParaRPr lang="en-US"/>
          </a:p>
        </p:txBody>
      </p:sp>
    </p:spTree>
    <p:extLst>
      <p:ext uri="{BB962C8B-B14F-4D97-AF65-F5344CB8AC3E}">
        <p14:creationId xmlns:p14="http://schemas.microsoft.com/office/powerpoint/2010/main" val="2282227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4EBB-B75C-AC13-7A41-3CB07E739D7F}"/>
              </a:ext>
            </a:extLst>
          </p:cNvPr>
          <p:cNvSpPr>
            <a:spLocks noGrp="1"/>
          </p:cNvSpPr>
          <p:nvPr>
            <p:ph type="title"/>
          </p:nvPr>
        </p:nvSpPr>
        <p:spPr/>
        <p:txBody>
          <a:bodyPr/>
          <a:lstStyle/>
          <a:p>
            <a:r>
              <a:rPr lang="en-US"/>
              <a:t>Objective</a:t>
            </a:r>
          </a:p>
        </p:txBody>
      </p:sp>
      <p:sp>
        <p:nvSpPr>
          <p:cNvPr id="3" name="Content Placeholder 2">
            <a:extLst>
              <a:ext uri="{FF2B5EF4-FFF2-40B4-BE49-F238E27FC236}">
                <a16:creationId xmlns:a16="http://schemas.microsoft.com/office/drawing/2014/main" id="{4B53EF6A-09FA-9397-02B3-458A2828F79C}"/>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a:t>Our objective was to develop a machine learning (ML) model to accurately predict the closing price of single-family residential properties using the </a:t>
            </a:r>
            <a:r>
              <a:rPr lang="en-US">
                <a:ea typeface="+mn-lt"/>
                <a:cs typeface="+mn-lt"/>
              </a:rPr>
              <a:t>California Regional Multiple Listing Service </a:t>
            </a:r>
            <a:r>
              <a:rPr lang="en-US"/>
              <a:t>(CRMLS) data. </a:t>
            </a:r>
          </a:p>
          <a:p>
            <a:pPr marL="0" indent="0">
              <a:buNone/>
            </a:pPr>
            <a:endParaRPr lang="en-US"/>
          </a:p>
          <a:p>
            <a:pPr marL="0" indent="0">
              <a:buNone/>
            </a:pPr>
            <a:r>
              <a:rPr lang="en-US" b="1"/>
              <a:t>Input: </a:t>
            </a:r>
            <a:r>
              <a:rPr lang="en-US"/>
              <a:t>Property and listing characteristics</a:t>
            </a:r>
          </a:p>
          <a:p>
            <a:pPr marL="0" indent="0">
              <a:buNone/>
            </a:pPr>
            <a:r>
              <a:rPr lang="en-US" b="1"/>
              <a:t>Model: </a:t>
            </a:r>
            <a:r>
              <a:rPr lang="en-US"/>
              <a:t>Various ML regression and tree models</a:t>
            </a:r>
          </a:p>
          <a:p>
            <a:pPr marL="0" indent="0">
              <a:buNone/>
            </a:pPr>
            <a:r>
              <a:rPr lang="en-US" b="1"/>
              <a:t>Output:</a:t>
            </a:r>
            <a:r>
              <a:rPr lang="en-US"/>
              <a:t> Predicted Close Price</a:t>
            </a:r>
          </a:p>
          <a:p>
            <a:pPr marL="0" indent="0">
              <a:buNone/>
            </a:pPr>
            <a:endParaRPr lang="en-US"/>
          </a:p>
          <a:p>
            <a:pPr marL="0" indent="0">
              <a:buNone/>
            </a:pPr>
            <a:r>
              <a:rPr lang="en-US"/>
              <a:t>We wanted to answer the question of how accurately we can predict final sale price with the information we have?</a:t>
            </a:r>
          </a:p>
        </p:txBody>
      </p:sp>
    </p:spTree>
    <p:extLst>
      <p:ext uri="{BB962C8B-B14F-4D97-AF65-F5344CB8AC3E}">
        <p14:creationId xmlns:p14="http://schemas.microsoft.com/office/powerpoint/2010/main" val="2716764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31134-4154-DB82-BD5A-5CB7069879C2}"/>
              </a:ext>
            </a:extLst>
          </p:cNvPr>
          <p:cNvSpPr>
            <a:spLocks noGrp="1"/>
          </p:cNvSpPr>
          <p:nvPr>
            <p:ph type="title"/>
          </p:nvPr>
        </p:nvSpPr>
        <p:spPr/>
        <p:txBody>
          <a:bodyPr/>
          <a:lstStyle/>
          <a:p>
            <a:r>
              <a:rPr lang="en-US"/>
              <a:t>Dataset</a:t>
            </a:r>
          </a:p>
        </p:txBody>
      </p:sp>
      <p:sp>
        <p:nvSpPr>
          <p:cNvPr id="3" name="Content Placeholder 2">
            <a:extLst>
              <a:ext uri="{FF2B5EF4-FFF2-40B4-BE49-F238E27FC236}">
                <a16:creationId xmlns:a16="http://schemas.microsoft.com/office/drawing/2014/main" id="{3E4BE458-F67D-2293-9E5B-68F8922F8981}"/>
              </a:ext>
            </a:extLst>
          </p:cNvPr>
          <p:cNvSpPr>
            <a:spLocks noGrp="1"/>
          </p:cNvSpPr>
          <p:nvPr>
            <p:ph idx="1"/>
          </p:nvPr>
        </p:nvSpPr>
        <p:spPr/>
        <p:txBody>
          <a:bodyPr vert="horz" lIns="91440" tIns="45720" rIns="91440" bIns="45720" rtlCol="0" anchor="t">
            <a:normAutofit lnSpcReduction="10000"/>
          </a:bodyPr>
          <a:lstStyle/>
          <a:p>
            <a:pPr marL="0" indent="0">
              <a:buNone/>
            </a:pPr>
            <a:r>
              <a:rPr lang="en-US" b="1"/>
              <a:t>Dataset Source:</a:t>
            </a:r>
            <a:r>
              <a:rPr lang="en-US"/>
              <a:t> California Regional Multiple Listing Services (CRMLS)</a:t>
            </a:r>
          </a:p>
          <a:p>
            <a:pPr marL="0" indent="0">
              <a:buNone/>
            </a:pPr>
            <a:endParaRPr lang="en-US"/>
          </a:p>
          <a:p>
            <a:pPr marL="0" indent="0">
              <a:buNone/>
            </a:pPr>
            <a:r>
              <a:rPr lang="en-US" b="1"/>
              <a:t>Original time period:</a:t>
            </a:r>
            <a:r>
              <a:rPr lang="en-US"/>
              <a:t> May 2025 – May 2026</a:t>
            </a:r>
          </a:p>
          <a:p>
            <a:pPr marL="0" indent="0">
              <a:buNone/>
            </a:pPr>
            <a:r>
              <a:rPr lang="en-US" b="1"/>
              <a:t>Final time period:</a:t>
            </a:r>
            <a:r>
              <a:rPr lang="en-US"/>
              <a:t> June 2025 – June 2026</a:t>
            </a:r>
          </a:p>
          <a:p>
            <a:pPr marL="0" indent="0">
              <a:buNone/>
            </a:pPr>
            <a:endParaRPr lang="en-US"/>
          </a:p>
          <a:p>
            <a:pPr marL="0" indent="0">
              <a:buNone/>
            </a:pPr>
            <a:r>
              <a:rPr lang="en-US" b="1"/>
              <a:t>Scope:</a:t>
            </a:r>
            <a:r>
              <a:rPr lang="en-US"/>
              <a:t> Residential Properties, Single Family residences, </a:t>
            </a:r>
            <a:r>
              <a:rPr lang="en-US" err="1"/>
              <a:t>Californ</a:t>
            </a:r>
            <a:r>
              <a:rPr lang="en-US"/>
              <a:t>ia</a:t>
            </a:r>
          </a:p>
          <a:p>
            <a:pPr marL="0" indent="0">
              <a:buNone/>
            </a:pPr>
            <a:endParaRPr lang="en-US"/>
          </a:p>
          <a:p>
            <a:pPr marL="0" indent="0">
              <a:buNone/>
            </a:pPr>
            <a:r>
              <a:rPr lang="en-US" b="1"/>
              <a:t>Target Variable:</a:t>
            </a:r>
            <a:r>
              <a:rPr lang="en-US"/>
              <a:t> </a:t>
            </a:r>
            <a:r>
              <a:rPr lang="en-US" err="1"/>
              <a:t>ClosePrice</a:t>
            </a:r>
            <a:endParaRPr lang="en-US"/>
          </a:p>
          <a:p>
            <a:pPr marL="0" indent="0">
              <a:buNone/>
            </a:pPr>
            <a:endParaRPr lang="en-US"/>
          </a:p>
        </p:txBody>
      </p:sp>
    </p:spTree>
    <p:extLst>
      <p:ext uri="{BB962C8B-B14F-4D97-AF65-F5344CB8AC3E}">
        <p14:creationId xmlns:p14="http://schemas.microsoft.com/office/powerpoint/2010/main" val="3561029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4D5C-D81C-AB7D-6DFE-4D35CEDC39AC}"/>
              </a:ext>
            </a:extLst>
          </p:cNvPr>
          <p:cNvSpPr>
            <a:spLocks noGrp="1"/>
          </p:cNvSpPr>
          <p:nvPr>
            <p:ph type="title"/>
          </p:nvPr>
        </p:nvSpPr>
        <p:spPr/>
        <p:txBody>
          <a:bodyPr/>
          <a:lstStyle/>
          <a:p>
            <a:r>
              <a:rPr lang="en-US"/>
              <a:t>Initial Data Exploration</a:t>
            </a:r>
          </a:p>
        </p:txBody>
      </p:sp>
      <p:sp>
        <p:nvSpPr>
          <p:cNvPr id="3" name="Content Placeholder 2">
            <a:extLst>
              <a:ext uri="{FF2B5EF4-FFF2-40B4-BE49-F238E27FC236}">
                <a16:creationId xmlns:a16="http://schemas.microsoft.com/office/drawing/2014/main" id="{677C638D-A490-793F-81C5-4EDFE36EDD76}"/>
              </a:ext>
            </a:extLst>
          </p:cNvPr>
          <p:cNvSpPr>
            <a:spLocks noGrp="1"/>
          </p:cNvSpPr>
          <p:nvPr>
            <p:ph idx="1"/>
          </p:nvPr>
        </p:nvSpPr>
        <p:spPr/>
        <p:txBody>
          <a:bodyPr vert="horz" lIns="91440" tIns="45720" rIns="91440" bIns="45720" rtlCol="0" anchor="t">
            <a:normAutofit/>
          </a:bodyPr>
          <a:lstStyle/>
          <a:p>
            <a:r>
              <a:rPr lang="en-US"/>
              <a:t>We conducted EDA Analysis to measure how we could go about using the data. Some of our key findings included:</a:t>
            </a:r>
          </a:p>
          <a:p>
            <a:pPr lvl="1">
              <a:buFont typeface="Courier New" panose="020B0604020202020204" pitchFamily="34" charset="0"/>
              <a:buChar char="o"/>
            </a:pPr>
            <a:r>
              <a:rPr lang="en-US"/>
              <a:t>Strongly right-skewed </a:t>
            </a:r>
            <a:r>
              <a:rPr lang="en-US" err="1"/>
              <a:t>ClosePrice</a:t>
            </a:r>
            <a:endParaRPr lang="en-US"/>
          </a:p>
          <a:p>
            <a:pPr lvl="1">
              <a:buFont typeface="Courier New" panose="020B0604020202020204" pitchFamily="34" charset="0"/>
              <a:buChar char="o"/>
            </a:pPr>
            <a:r>
              <a:rPr lang="en-US" err="1"/>
              <a:t>LotSize</a:t>
            </a:r>
            <a:r>
              <a:rPr lang="en-US"/>
              <a:t> &amp; </a:t>
            </a:r>
            <a:r>
              <a:rPr lang="en-US" err="1"/>
              <a:t>LivingArea</a:t>
            </a:r>
            <a:r>
              <a:rPr lang="en-US"/>
              <a:t> were also strongly right-skewed</a:t>
            </a:r>
          </a:p>
          <a:p>
            <a:pPr lvl="1">
              <a:buFont typeface="Courier New" panose="020B0604020202020204" pitchFamily="34" charset="0"/>
              <a:buChar char="o"/>
            </a:pPr>
            <a:r>
              <a:rPr lang="en-US"/>
              <a:t>Some features had extreme outliers</a:t>
            </a:r>
          </a:p>
          <a:p>
            <a:pPr lvl="1">
              <a:buFont typeface="Courier New" panose="020B0604020202020204" pitchFamily="34" charset="0"/>
              <a:buChar char="o"/>
            </a:pPr>
            <a:r>
              <a:rPr lang="en-US"/>
              <a:t>Missing variables throughout the data</a:t>
            </a:r>
          </a:p>
        </p:txBody>
      </p:sp>
    </p:spTree>
    <p:extLst>
      <p:ext uri="{BB962C8B-B14F-4D97-AF65-F5344CB8AC3E}">
        <p14:creationId xmlns:p14="http://schemas.microsoft.com/office/powerpoint/2010/main" val="3586085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86861-0974-F2FB-8691-9A30B79F7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0CD9D-B105-B12D-129E-AEC377BF1281}"/>
              </a:ext>
            </a:extLst>
          </p:cNvPr>
          <p:cNvSpPr>
            <a:spLocks noGrp="1"/>
          </p:cNvSpPr>
          <p:nvPr>
            <p:ph type="title"/>
          </p:nvPr>
        </p:nvSpPr>
        <p:spPr/>
        <p:txBody>
          <a:bodyPr/>
          <a:lstStyle/>
          <a:p>
            <a:r>
              <a:rPr lang="en-US"/>
              <a:t>Dataset Challenges</a:t>
            </a:r>
          </a:p>
        </p:txBody>
      </p:sp>
      <p:sp>
        <p:nvSpPr>
          <p:cNvPr id="3" name="Content Placeholder 2">
            <a:extLst>
              <a:ext uri="{FF2B5EF4-FFF2-40B4-BE49-F238E27FC236}">
                <a16:creationId xmlns:a16="http://schemas.microsoft.com/office/drawing/2014/main" id="{9B80588F-FF8C-7690-0F1A-D66FB9B4AC74}"/>
              </a:ext>
            </a:extLst>
          </p:cNvPr>
          <p:cNvSpPr>
            <a:spLocks noGrp="1"/>
          </p:cNvSpPr>
          <p:nvPr>
            <p:ph idx="1"/>
          </p:nvPr>
        </p:nvSpPr>
        <p:spPr/>
        <p:txBody>
          <a:bodyPr vert="horz" lIns="91440" tIns="45720" rIns="91440" bIns="45720" rtlCol="0" anchor="t">
            <a:normAutofit/>
          </a:bodyPr>
          <a:lstStyle/>
          <a:p>
            <a:r>
              <a:rPr lang="en-US" b="1"/>
              <a:t>Missing Data:</a:t>
            </a:r>
            <a:r>
              <a:rPr lang="en-US"/>
              <a:t> Incomplete property characteristics across various listings. Each listing had at least one missing value.</a:t>
            </a:r>
          </a:p>
          <a:p>
            <a:r>
              <a:rPr lang="en-US" b="1"/>
              <a:t>Extreme Values:</a:t>
            </a:r>
            <a:r>
              <a:rPr lang="en-US"/>
              <a:t> Usually high or low property measurements </a:t>
            </a:r>
          </a:p>
          <a:p>
            <a:r>
              <a:rPr lang="en-US" b="1"/>
              <a:t>Skewed Distributions:</a:t>
            </a:r>
            <a:r>
              <a:rPr lang="en-US"/>
              <a:t> Such as </a:t>
            </a:r>
            <a:r>
              <a:rPr lang="en-US" err="1"/>
              <a:t>ClosePrice</a:t>
            </a:r>
            <a:r>
              <a:rPr lang="en-US"/>
              <a:t>, </a:t>
            </a:r>
            <a:r>
              <a:rPr lang="en-US" err="1"/>
              <a:t>LivingArea</a:t>
            </a:r>
            <a:r>
              <a:rPr lang="en-US"/>
              <a:t>, </a:t>
            </a:r>
            <a:r>
              <a:rPr lang="en-US" err="1"/>
              <a:t>LotSize</a:t>
            </a:r>
            <a:r>
              <a:rPr lang="en-US"/>
              <a:t>, and other numerical values.</a:t>
            </a:r>
          </a:p>
          <a:p>
            <a:r>
              <a:rPr lang="en-US" b="1"/>
              <a:t>High Volume Data:</a:t>
            </a:r>
            <a:r>
              <a:rPr lang="en-US"/>
              <a:t> Large number of both numerical and categorical variables</a:t>
            </a:r>
          </a:p>
        </p:txBody>
      </p:sp>
    </p:spTree>
    <p:extLst>
      <p:ext uri="{BB962C8B-B14F-4D97-AF65-F5344CB8AC3E}">
        <p14:creationId xmlns:p14="http://schemas.microsoft.com/office/powerpoint/2010/main" val="1649266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9801F-D14B-3C28-6593-200D0E91E04C}"/>
              </a:ext>
            </a:extLst>
          </p:cNvPr>
          <p:cNvSpPr>
            <a:spLocks noGrp="1"/>
          </p:cNvSpPr>
          <p:nvPr>
            <p:ph type="title"/>
          </p:nvPr>
        </p:nvSpPr>
        <p:spPr/>
        <p:txBody>
          <a:bodyPr/>
          <a:lstStyle/>
          <a:p>
            <a:r>
              <a:rPr lang="en-US"/>
              <a:t>Preprocessing Pipeline</a:t>
            </a:r>
          </a:p>
        </p:txBody>
      </p:sp>
      <p:sp>
        <p:nvSpPr>
          <p:cNvPr id="3" name="Content Placeholder 2">
            <a:extLst>
              <a:ext uri="{FF2B5EF4-FFF2-40B4-BE49-F238E27FC236}">
                <a16:creationId xmlns:a16="http://schemas.microsoft.com/office/drawing/2014/main" id="{2C00AFA8-BCB8-BDB6-4C0D-9FE2E6B09A11}"/>
              </a:ext>
            </a:extLst>
          </p:cNvPr>
          <p:cNvSpPr>
            <a:spLocks noGrp="1"/>
          </p:cNvSpPr>
          <p:nvPr>
            <p:ph idx="1"/>
          </p:nvPr>
        </p:nvSpPr>
        <p:spPr/>
        <p:txBody>
          <a:bodyPr vert="horz" lIns="91440" tIns="45720" rIns="91440" bIns="45720" rtlCol="0" anchor="t">
            <a:normAutofit/>
          </a:bodyPr>
          <a:lstStyle/>
          <a:p>
            <a:r>
              <a:rPr lang="en-US"/>
              <a:t>Idea for slide: we can try and make it like a diagram type of style slide and for the actual presentation we can go more into details.</a:t>
            </a:r>
          </a:p>
          <a:p>
            <a:r>
              <a:rPr lang="en-US"/>
              <a:t>We can talk about how we filter and clean data, and how we handles things like outliers and also used log transformation for our target and some other variables. And so on</a:t>
            </a:r>
          </a:p>
        </p:txBody>
      </p:sp>
    </p:spTree>
    <p:extLst>
      <p:ext uri="{BB962C8B-B14F-4D97-AF65-F5344CB8AC3E}">
        <p14:creationId xmlns:p14="http://schemas.microsoft.com/office/powerpoint/2010/main" val="806500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AD64-A66A-3087-F85A-45D6093FC594}"/>
              </a:ext>
            </a:extLst>
          </p:cNvPr>
          <p:cNvSpPr>
            <a:spLocks noGrp="1"/>
          </p:cNvSpPr>
          <p:nvPr>
            <p:ph type="title"/>
          </p:nvPr>
        </p:nvSpPr>
        <p:spPr/>
        <p:txBody>
          <a:bodyPr/>
          <a:lstStyle/>
          <a:p>
            <a:r>
              <a:rPr lang="en-US"/>
              <a:t>Feature Engineering</a:t>
            </a:r>
          </a:p>
        </p:txBody>
      </p:sp>
      <p:sp>
        <p:nvSpPr>
          <p:cNvPr id="3" name="Content Placeholder 2">
            <a:extLst>
              <a:ext uri="{FF2B5EF4-FFF2-40B4-BE49-F238E27FC236}">
                <a16:creationId xmlns:a16="http://schemas.microsoft.com/office/drawing/2014/main" id="{2446C528-84C5-8A49-07F7-ECDFEBDB294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30694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5149-C69E-BC65-B271-09AC8D5AA4EC}"/>
              </a:ext>
            </a:extLst>
          </p:cNvPr>
          <p:cNvSpPr>
            <a:spLocks noGrp="1"/>
          </p:cNvSpPr>
          <p:nvPr>
            <p:ph type="title"/>
          </p:nvPr>
        </p:nvSpPr>
        <p:spPr/>
        <p:txBody>
          <a:bodyPr/>
          <a:lstStyle/>
          <a:p>
            <a:r>
              <a:rPr lang="en-US"/>
              <a:t>Models Used:</a:t>
            </a:r>
          </a:p>
        </p:txBody>
      </p:sp>
      <p:sp>
        <p:nvSpPr>
          <p:cNvPr id="3" name="Content Placeholder 2">
            <a:extLst>
              <a:ext uri="{FF2B5EF4-FFF2-40B4-BE49-F238E27FC236}">
                <a16:creationId xmlns:a16="http://schemas.microsoft.com/office/drawing/2014/main" id="{CF7D2B7E-50C9-A0C0-1C24-FA03A22EC21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29126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rPr lang="en-US"/>
              <a:t>Model Comparison </a:t>
            </a:r>
          </a:p>
        </p:txBody>
      </p:sp>
      <p:sp>
        <p:nvSpPr>
          <p:cNvPr id="3" name="Content Placeholder 2">
            <a:extLst>
              <a:ext uri="{FF2B5EF4-FFF2-40B4-BE49-F238E27FC236}">
                <a16:creationId xmlns:a16="http://schemas.microsoft.com/office/drawing/2014/main" id="{E7411363-78FE-829A-B32C-B73003653FE4}"/>
              </a:ext>
            </a:extLst>
          </p:cNvPr>
          <p:cNvSpPr>
            <a:spLocks noGrp="1"/>
          </p:cNvSpPr>
          <p:nvPr>
            <p:ph idx="1"/>
          </p:nvPr>
        </p:nvSpPr>
        <p:spPr/>
        <p:txBody>
          <a:bodyPr vert="horz" lIns="91440" tIns="45720" rIns="91440" bIns="45720" rtlCol="0" anchor="t">
            <a:normAutofit/>
          </a:bodyPr>
          <a:lstStyle/>
          <a:p>
            <a:endParaRPr lang="en-US"/>
          </a:p>
        </p:txBody>
      </p:sp>
    </p:spTree>
    <p:extLst>
      <p:ext uri="{BB962C8B-B14F-4D97-AF65-F5344CB8AC3E}">
        <p14:creationId xmlns:p14="http://schemas.microsoft.com/office/powerpoint/2010/main" val="1308266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t>How XGBoost learns</a:t>
            </a:r>
          </a:p>
        </p:txBody>
      </p:sp>
      <p:sp>
        <p:nvSpPr>
          <p:cNvPr id="3" name="xgb-plain-language">
            <a:extLst>
              <a:ext uri="{FF2B5EF4-FFF2-40B4-BE49-F238E27FC236}">
                <a16:creationId xmlns:a16="http://schemas.microsoft.com/office/drawing/2014/main" id="{DADCD4E2-7B15-4FAD-9368-FFBC434CB4F4}"/>
              </a:ext>
            </a:extLst>
          </p:cNvPr>
          <p:cNvSpPr>
            <a:spLocks noGrp="1"/>
          </p:cNvSpPr>
          <p:nvPr/>
        </p:nvSpPr>
        <p:spPr>
          <a:xfrm>
            <a:off x="914400" y="1771650"/>
            <a:ext cx="10363200" cy="781050"/>
          </a:xfrm>
          <a:prstGeom prst="rect">
            <a:avLst/>
          </a:prstGeom>
          <a:noFill/>
          <a:ln w="0">
            <a:noFill/>
            <a:prstDash val="solid"/>
          </a:ln>
        </p:spPr>
        <p:txBody>
          <a:bodyPr lIns="0" tIns="0" rIns="0" bIns="0" anchor="t">
            <a:noAutofit/>
          </a:bodyPr>
          <a:lstStyle/>
          <a:p>
            <a:pPr>
              <a:defRPr sz="1800">
                <a:solidFill>
                  <a:srgbClr val="263238"/>
                </a:solidFill>
                <a:latin typeface="Aptos"/>
                <a:ea typeface="Aptos"/>
                <a:cs typeface="Aptos"/>
              </a:defRPr>
            </a:pPr>
            <a:r>
              <a:rPr lang="en-US" sz="1600" dirty="0">
                <a:solidFill>
                  <a:srgbClr val="263238"/>
                </a:solidFill>
                <a:latin typeface="Aptos"/>
                <a:ea typeface="Aptos"/>
                <a:cs typeface="Aptos"/>
              </a:rPr>
              <a:t>Instead of building a large model, </a:t>
            </a:r>
            <a:r>
              <a:rPr lang="en-US" sz="1600" dirty="0" err="1">
                <a:solidFill>
                  <a:srgbClr val="263238"/>
                </a:solidFill>
                <a:latin typeface="Aptos"/>
                <a:ea typeface="Aptos"/>
                <a:cs typeface="Aptos"/>
              </a:rPr>
              <a:t>XGBoost</a:t>
            </a:r>
            <a:r>
              <a:rPr sz="1600" dirty="0">
                <a:solidFill>
                  <a:srgbClr val="263238"/>
                </a:solidFill>
                <a:latin typeface="Aptos"/>
                <a:ea typeface="Aptos"/>
                <a:cs typeface="Aptos"/>
              </a:rPr>
              <a:t> builds a sequence of small decision trees. Each new tree focuses on the homes the </a:t>
            </a:r>
            <a:r>
              <a:rPr lang="en-US" sz="1600" dirty="0">
                <a:solidFill>
                  <a:srgbClr val="263238"/>
                </a:solidFill>
                <a:latin typeface="Aptos"/>
                <a:ea typeface="Aptos"/>
                <a:cs typeface="Aptos"/>
              </a:rPr>
              <a:t>previous trees predicted </a:t>
            </a:r>
            <a:r>
              <a:rPr sz="1600" dirty="0">
                <a:solidFill>
                  <a:srgbClr val="263238"/>
                </a:solidFill>
                <a:latin typeface="Aptos"/>
                <a:ea typeface="Aptos"/>
                <a:cs typeface="Aptos"/>
              </a:rPr>
              <a:t>poorly, then adds correction.</a:t>
            </a:r>
            <a:r>
              <a:rPr lang="en-US" sz="1600" dirty="0">
                <a:solidFill>
                  <a:srgbClr val="263238"/>
                </a:solidFill>
                <a:latin typeface="Aptos"/>
                <a:ea typeface="Aptos"/>
                <a:cs typeface="Aptos"/>
              </a:rPr>
              <a:t> </a:t>
            </a:r>
            <a:r>
              <a:rPr lang="en-US" sz="1600" dirty="0">
                <a:solidFill>
                  <a:srgbClr val="263238"/>
                </a:solidFill>
                <a:ea typeface="+mn-lt"/>
                <a:cs typeface="+mn-lt"/>
              </a:rPr>
              <a:t>By combining all these small corrections, the final prediction is much more accurate and stable, especially for complex housing data with many interacting features.</a:t>
            </a:r>
            <a:endParaRPr lang="en-US" sz="1600" dirty="0">
              <a:solidFill>
                <a:srgbClr val="263238"/>
              </a:solidFill>
              <a:latin typeface="Aptos"/>
              <a:ea typeface="Aptos"/>
              <a:cs typeface="Aptos"/>
            </a:endParaRPr>
          </a:p>
        </p:txBody>
      </p:sp>
      <p:sp>
        <p:nvSpPr>
          <p:cNvPr id="4" name="xgb-process-line">
            <a:extLst>
              <a:ext uri="{FF2B5EF4-FFF2-40B4-BE49-F238E27FC236}">
                <a16:creationId xmlns:a16="http://schemas.microsoft.com/office/drawing/2014/main" id="{D675033E-9E28-4930-B6E6-0430D15AAF4C}"/>
              </a:ext>
            </a:extLst>
          </p:cNvPr>
          <p:cNvSpPr>
            <a:spLocks noGrp="1"/>
          </p:cNvSpPr>
          <p:nvPr/>
        </p:nvSpPr>
        <p:spPr>
          <a:xfrm>
            <a:off x="1524000" y="3562350"/>
            <a:ext cx="9144000" cy="38100"/>
          </a:xfrm>
          <a:prstGeom prst="rect">
            <a:avLst/>
          </a:prstGeom>
          <a:solidFill>
            <a:srgbClr val="D9E1E5"/>
          </a:solidFill>
          <a:ln w="0">
            <a:noFill/>
            <a:prstDash val="solid"/>
          </a:ln>
        </p:spPr>
        <p:txBody>
          <a:bodyPr/>
          <a:lstStyle/>
          <a:p>
            <a:endParaRPr lang="en-US"/>
          </a:p>
        </p:txBody>
      </p:sp>
      <p:sp>
        <p:nvSpPr>
          <p:cNvPr id="5" name="step-1-box">
            <a:extLst>
              <a:ext uri="{FF2B5EF4-FFF2-40B4-BE49-F238E27FC236}">
                <a16:creationId xmlns:a16="http://schemas.microsoft.com/office/drawing/2014/main" id="{878E664F-AE33-45C2-97F8-CEF8B8A58B7C}"/>
              </a:ext>
            </a:extLst>
          </p:cNvPr>
          <p:cNvSpPr>
            <a:spLocks noGrp="1"/>
          </p:cNvSpPr>
          <p:nvPr/>
        </p:nvSpPr>
        <p:spPr>
          <a:xfrm>
            <a:off x="1066800" y="3009900"/>
            <a:ext cx="2238375" cy="1200150"/>
          </a:xfrm>
          <a:prstGeom prst="roundRect">
            <a:avLst>
              <a:gd name="adj" fmla="val 9524"/>
            </a:avLst>
          </a:prstGeom>
          <a:solidFill>
            <a:srgbClr val="F4F7F8"/>
          </a:solidFill>
          <a:ln w="9525">
            <a:solidFill>
              <a:srgbClr val="5B6770"/>
            </a:solidFill>
            <a:prstDash val="solid"/>
          </a:ln>
        </p:spPr>
        <p:txBody>
          <a:bodyPr lIns="133350" tIns="133350" rIns="133350" bIns="114300" anchor="t">
            <a:normAutofit lnSpcReduction="10000"/>
          </a:bodyPr>
          <a:lstStyle/>
          <a:p>
            <a:pPr>
              <a:lnSpc>
                <a:spcPct val="108000"/>
              </a:lnSpc>
              <a:buNone/>
              <a:defRPr sz="1350">
                <a:solidFill>
                  <a:srgbClr val="263238"/>
                </a:solidFill>
                <a:latin typeface="Aptos"/>
                <a:ea typeface="Aptos"/>
                <a:cs typeface="Aptos"/>
              </a:defRPr>
            </a:pPr>
            <a:r>
              <a:rPr sz="1400" b="1" dirty="0">
                <a:solidFill>
                  <a:srgbClr val="263238"/>
                </a:solidFill>
                <a:latin typeface="Aptos"/>
                <a:ea typeface="Aptos"/>
                <a:cs typeface="Aptos"/>
              </a:rPr>
              <a:t>1  </a:t>
            </a:r>
            <a:r>
              <a:rPr lang="en-US" sz="1400" b="1" dirty="0">
                <a:solidFill>
                  <a:srgbClr val="263238"/>
                </a:solidFill>
                <a:latin typeface="Aptos"/>
                <a:ea typeface="Aptos"/>
                <a:cs typeface="Aptos"/>
              </a:rPr>
              <a:t>Intrinsic</a:t>
            </a:r>
            <a:r>
              <a:rPr sz="1400" b="1" dirty="0">
                <a:solidFill>
                  <a:srgbClr val="263238"/>
                </a:solidFill>
                <a:latin typeface="Aptos"/>
                <a:ea typeface="Aptos"/>
                <a:cs typeface="Aptos"/>
              </a:rPr>
              <a:t> </a:t>
            </a:r>
            <a:r>
              <a:rPr lang="en-US" sz="1400" b="1" dirty="0">
                <a:solidFill>
                  <a:srgbClr val="263238"/>
                </a:solidFill>
                <a:latin typeface="Aptos"/>
                <a:ea typeface="Aptos"/>
                <a:cs typeface="Aptos"/>
              </a:rPr>
              <a:t>features</a:t>
            </a:r>
            <a:endParaRPr sz="1400" b="1" dirty="0">
              <a:solidFill>
                <a:srgbClr val="263238"/>
              </a:solidFill>
              <a:latin typeface="Aptos"/>
              <a:ea typeface="Aptos"/>
              <a:cs typeface="Aptos"/>
            </a:endParaRPr>
          </a:p>
          <a:p>
            <a:pPr>
              <a:lnSpc>
                <a:spcPct val="108000"/>
              </a:lnSpc>
              <a:buNone/>
              <a:defRPr sz="1350">
                <a:solidFill>
                  <a:srgbClr val="263238"/>
                </a:solidFill>
                <a:latin typeface="Aptos"/>
                <a:ea typeface="Aptos"/>
                <a:cs typeface="Aptos"/>
              </a:defRPr>
            </a:pPr>
            <a:r>
              <a:rPr sz="1400" dirty="0">
                <a:solidFill>
                  <a:srgbClr val="263238"/>
                </a:solidFill>
                <a:latin typeface="Aptos"/>
                <a:ea typeface="Aptos"/>
                <a:cs typeface="Aptos"/>
              </a:rPr>
              <a:t>Location, size</a:t>
            </a:r>
            <a:r>
              <a:rPr lang="en-US" sz="1400" dirty="0">
                <a:solidFill>
                  <a:srgbClr val="263238"/>
                </a:solidFill>
                <a:latin typeface="Aptos"/>
                <a:ea typeface="Aptos"/>
                <a:cs typeface="Aptos"/>
              </a:rPr>
              <a:t> (</a:t>
            </a:r>
            <a:r>
              <a:rPr lang="en-US" sz="1400" dirty="0" err="1">
                <a:solidFill>
                  <a:srgbClr val="263238"/>
                </a:solidFill>
                <a:latin typeface="Aptos"/>
                <a:ea typeface="Aptos"/>
                <a:cs typeface="Aptos"/>
              </a:rPr>
              <a:t>sqft</a:t>
            </a:r>
            <a:r>
              <a:rPr lang="en-US" sz="1400" dirty="0">
                <a:solidFill>
                  <a:srgbClr val="263238"/>
                </a:solidFill>
                <a:latin typeface="Aptos"/>
                <a:ea typeface="Aptos"/>
                <a:cs typeface="Aptos"/>
              </a:rPr>
              <a:t>)</a:t>
            </a:r>
            <a:r>
              <a:rPr sz="1400" dirty="0">
                <a:solidFill>
                  <a:srgbClr val="263238"/>
                </a:solidFill>
                <a:latin typeface="Aptos"/>
                <a:ea typeface="Aptos"/>
                <a:cs typeface="Aptos"/>
              </a:rPr>
              <a:t>, </a:t>
            </a:r>
            <a:r>
              <a:rPr lang="en-US" sz="1400" dirty="0">
                <a:solidFill>
                  <a:srgbClr val="263238"/>
                </a:solidFill>
                <a:latin typeface="Aptos"/>
                <a:ea typeface="Aptos"/>
                <a:cs typeface="Aptos"/>
              </a:rPr>
              <a:t>bedrooms, bathrooms, lot size, </a:t>
            </a:r>
            <a:r>
              <a:rPr sz="1400" dirty="0">
                <a:solidFill>
                  <a:srgbClr val="263238"/>
                </a:solidFill>
                <a:latin typeface="Aptos"/>
                <a:ea typeface="Aptos"/>
                <a:cs typeface="Aptos"/>
              </a:rPr>
              <a:t>age, amenities</a:t>
            </a:r>
          </a:p>
        </p:txBody>
      </p:sp>
      <p:sp>
        <p:nvSpPr>
          <p:cNvPr id="6" name="step-2-box">
            <a:extLst>
              <a:ext uri="{FF2B5EF4-FFF2-40B4-BE49-F238E27FC236}">
                <a16:creationId xmlns:a16="http://schemas.microsoft.com/office/drawing/2014/main" id="{6FF1182D-BEE7-4537-BD65-5E8895F55FD1}"/>
              </a:ext>
            </a:extLst>
          </p:cNvPr>
          <p:cNvSpPr>
            <a:spLocks noGrp="1"/>
          </p:cNvSpPr>
          <p:nvPr/>
        </p:nvSpPr>
        <p:spPr>
          <a:xfrm>
            <a:off x="3667125" y="3009900"/>
            <a:ext cx="2238375" cy="1200150"/>
          </a:xfrm>
          <a:prstGeom prst="roundRect">
            <a:avLst>
              <a:gd name="adj" fmla="val 9524"/>
            </a:avLst>
          </a:prstGeom>
          <a:solidFill>
            <a:srgbClr val="EAF3F6"/>
          </a:solidFill>
          <a:ln w="9525">
            <a:solidFill>
              <a:srgbClr val="156082"/>
            </a:solidFill>
            <a:prstDash val="solid"/>
          </a:ln>
        </p:spPr>
        <p:txBody>
          <a:bodyPr lIns="133350" tIns="133350" rIns="133350" bIns="114300" anchor="t">
            <a:normAutofit/>
          </a:bodyPr>
          <a:lstStyle/>
          <a:p>
            <a:pPr>
              <a:lnSpc>
                <a:spcPct val="108000"/>
              </a:lnSpc>
              <a:buNone/>
              <a:defRPr sz="1350">
                <a:solidFill>
                  <a:srgbClr val="263238"/>
                </a:solidFill>
                <a:latin typeface="Aptos"/>
                <a:ea typeface="Aptos"/>
                <a:cs typeface="Aptos"/>
              </a:defRPr>
            </a:pPr>
            <a:r>
              <a:rPr sz="1400" b="1" dirty="0">
                <a:solidFill>
                  <a:srgbClr val="263238"/>
                </a:solidFill>
                <a:latin typeface="Aptos"/>
                <a:ea typeface="Aptos"/>
                <a:cs typeface="Aptos"/>
              </a:rPr>
              <a:t>2  First tree</a:t>
            </a:r>
          </a:p>
          <a:p>
            <a:pPr>
              <a:lnSpc>
                <a:spcPct val="108000"/>
              </a:lnSpc>
              <a:buNone/>
              <a:defRPr sz="1350">
                <a:solidFill>
                  <a:srgbClr val="263238"/>
                </a:solidFill>
                <a:latin typeface="Aptos"/>
                <a:ea typeface="Aptos"/>
                <a:cs typeface="Aptos"/>
              </a:defRPr>
            </a:pPr>
            <a:r>
              <a:rPr sz="1400" dirty="0">
                <a:solidFill>
                  <a:srgbClr val="263238"/>
                </a:solidFill>
                <a:latin typeface="Aptos"/>
                <a:ea typeface="Aptos"/>
                <a:cs typeface="Aptos"/>
              </a:rPr>
              <a:t>Makes a rough price estimate</a:t>
            </a:r>
          </a:p>
        </p:txBody>
      </p:sp>
      <p:sp>
        <p:nvSpPr>
          <p:cNvPr id="7" name="step-3-box">
            <a:extLst>
              <a:ext uri="{FF2B5EF4-FFF2-40B4-BE49-F238E27FC236}">
                <a16:creationId xmlns:a16="http://schemas.microsoft.com/office/drawing/2014/main" id="{849ECA8F-38D9-4EE6-9D18-3C856E29BB71}"/>
              </a:ext>
            </a:extLst>
          </p:cNvPr>
          <p:cNvSpPr>
            <a:spLocks noGrp="1"/>
          </p:cNvSpPr>
          <p:nvPr/>
        </p:nvSpPr>
        <p:spPr>
          <a:xfrm>
            <a:off x="6267450" y="3009900"/>
            <a:ext cx="2238375" cy="1200150"/>
          </a:xfrm>
          <a:prstGeom prst="roundRect">
            <a:avLst>
              <a:gd name="adj" fmla="val 9524"/>
            </a:avLst>
          </a:prstGeom>
          <a:solidFill>
            <a:srgbClr val="FDF0E8"/>
          </a:solidFill>
          <a:ln w="9525">
            <a:solidFill>
              <a:srgbClr val="E97132"/>
            </a:solidFill>
            <a:prstDash val="solid"/>
          </a:ln>
        </p:spPr>
        <p:txBody>
          <a:bodyPr lIns="133350" tIns="133350" rIns="133350" bIns="114300" anchor="t">
            <a:normAutofit/>
          </a:bodyPr>
          <a:lstStyle/>
          <a:p>
            <a:pPr>
              <a:lnSpc>
                <a:spcPct val="108000"/>
              </a:lnSpc>
              <a:buNone/>
              <a:defRPr sz="1350">
                <a:solidFill>
                  <a:srgbClr val="263238"/>
                </a:solidFill>
                <a:latin typeface="Aptos"/>
                <a:ea typeface="Aptos"/>
                <a:cs typeface="Aptos"/>
              </a:defRPr>
            </a:pPr>
            <a:r>
              <a:rPr sz="1400" b="1">
                <a:solidFill>
                  <a:srgbClr val="263238"/>
                </a:solidFill>
                <a:latin typeface="Aptos"/>
                <a:ea typeface="Aptos"/>
                <a:cs typeface="Aptos"/>
              </a:rPr>
              <a:t>3  Next trees</a:t>
            </a:r>
          </a:p>
          <a:p>
            <a:pPr>
              <a:lnSpc>
                <a:spcPct val="108000"/>
              </a:lnSpc>
              <a:buNone/>
              <a:defRPr sz="1350">
                <a:solidFill>
                  <a:srgbClr val="263238"/>
                </a:solidFill>
                <a:latin typeface="Aptos"/>
                <a:ea typeface="Aptos"/>
                <a:cs typeface="Aptos"/>
              </a:defRPr>
            </a:pPr>
            <a:r>
              <a:rPr sz="1400">
                <a:solidFill>
                  <a:srgbClr val="263238"/>
                </a:solidFill>
                <a:latin typeface="Aptos"/>
                <a:ea typeface="Aptos"/>
                <a:cs typeface="Aptos"/>
              </a:rPr>
              <a:t>Target the largest remaining misses</a:t>
            </a:r>
          </a:p>
        </p:txBody>
      </p:sp>
      <p:sp>
        <p:nvSpPr>
          <p:cNvPr id="8" name="step-4-box">
            <a:extLst>
              <a:ext uri="{FF2B5EF4-FFF2-40B4-BE49-F238E27FC236}">
                <a16:creationId xmlns:a16="http://schemas.microsoft.com/office/drawing/2014/main" id="{F7CCDD02-4A20-406D-98BE-4A410131CB05}"/>
              </a:ext>
            </a:extLst>
          </p:cNvPr>
          <p:cNvSpPr>
            <a:spLocks noGrp="1"/>
          </p:cNvSpPr>
          <p:nvPr/>
        </p:nvSpPr>
        <p:spPr>
          <a:xfrm>
            <a:off x="8867775" y="3009900"/>
            <a:ext cx="2238375" cy="1200150"/>
          </a:xfrm>
          <a:prstGeom prst="roundRect">
            <a:avLst>
              <a:gd name="adj" fmla="val 9524"/>
            </a:avLst>
          </a:prstGeom>
          <a:solidFill>
            <a:srgbClr val="EAF4EC"/>
          </a:solidFill>
          <a:ln w="9525">
            <a:solidFill>
              <a:srgbClr val="196B24"/>
            </a:solidFill>
            <a:prstDash val="solid"/>
          </a:ln>
        </p:spPr>
        <p:txBody>
          <a:bodyPr lIns="133350" tIns="133350" rIns="133350" bIns="114300" anchor="t">
            <a:normAutofit/>
          </a:bodyPr>
          <a:lstStyle/>
          <a:p>
            <a:pPr>
              <a:lnSpc>
                <a:spcPct val="108000"/>
              </a:lnSpc>
              <a:buNone/>
              <a:defRPr sz="1350">
                <a:solidFill>
                  <a:srgbClr val="263238"/>
                </a:solidFill>
                <a:latin typeface="Aptos"/>
                <a:ea typeface="Aptos"/>
                <a:cs typeface="Aptos"/>
              </a:defRPr>
            </a:pPr>
            <a:r>
              <a:rPr sz="1400" b="1">
                <a:solidFill>
                  <a:srgbClr val="263238"/>
                </a:solidFill>
                <a:latin typeface="Aptos"/>
                <a:ea typeface="Aptos"/>
                <a:cs typeface="Aptos"/>
              </a:rPr>
              <a:t>4  Final price</a:t>
            </a:r>
          </a:p>
          <a:p>
            <a:pPr>
              <a:lnSpc>
                <a:spcPct val="108000"/>
              </a:lnSpc>
              <a:buNone/>
              <a:defRPr sz="1350">
                <a:solidFill>
                  <a:srgbClr val="263238"/>
                </a:solidFill>
                <a:latin typeface="Aptos"/>
                <a:ea typeface="Aptos"/>
                <a:cs typeface="Aptos"/>
              </a:defRPr>
            </a:pPr>
            <a:r>
              <a:rPr sz="1400">
                <a:solidFill>
                  <a:srgbClr val="263238"/>
                </a:solidFill>
                <a:latin typeface="Aptos"/>
                <a:ea typeface="Aptos"/>
                <a:cs typeface="Aptos"/>
              </a:rPr>
              <a:t>Adds all small corrections together</a:t>
            </a:r>
          </a:p>
        </p:txBody>
      </p:sp>
      <p:sp>
        <p:nvSpPr>
          <p:cNvPr id="9" name="xgb-why">
            <a:extLst>
              <a:ext uri="{FF2B5EF4-FFF2-40B4-BE49-F238E27FC236}">
                <a16:creationId xmlns:a16="http://schemas.microsoft.com/office/drawing/2014/main" id="{E1A299B5-727D-4E03-A150-F3247413BDA7}"/>
              </a:ext>
            </a:extLst>
          </p:cNvPr>
          <p:cNvSpPr>
            <a:spLocks noGrp="1"/>
          </p:cNvSpPr>
          <p:nvPr/>
        </p:nvSpPr>
        <p:spPr>
          <a:xfrm>
            <a:off x="1066800" y="4648200"/>
            <a:ext cx="10058400" cy="781050"/>
          </a:xfrm>
          <a:prstGeom prst="rect">
            <a:avLst/>
          </a:prstGeom>
          <a:noFill/>
          <a:ln w="0">
            <a:noFill/>
            <a:prstDash val="solid"/>
          </a:ln>
        </p:spPr>
        <p:txBody>
          <a:bodyPr lIns="0" tIns="0" rIns="0" bIns="0" anchor="ctr">
            <a:normAutofit/>
          </a:bodyPr>
          <a:lstStyle/>
          <a:p>
            <a:pPr algn="ctr">
              <a:defRPr sz="1575" b="1">
                <a:solidFill>
                  <a:srgbClr val="156082"/>
                </a:solidFill>
                <a:latin typeface="Aptos"/>
                <a:ea typeface="Aptos"/>
                <a:cs typeface="Aptos"/>
              </a:defRPr>
            </a:pPr>
            <a:r>
              <a:rPr sz="1600" b="1" dirty="0">
                <a:solidFill>
                  <a:srgbClr val="156082"/>
                </a:solidFill>
                <a:latin typeface="Aptos"/>
                <a:ea typeface="Aptos"/>
                <a:cs typeface="Aptos"/>
              </a:rPr>
              <a:t>Why it fit California housing: it can learn nonlinear </a:t>
            </a:r>
            <a:r>
              <a:rPr sz="1600" b="1" u="sng" dirty="0">
                <a:solidFill>
                  <a:srgbClr val="156082"/>
                </a:solidFill>
                <a:latin typeface="Aptos"/>
                <a:ea typeface="Aptos"/>
                <a:cs typeface="Aptos"/>
              </a:rPr>
              <a:t>size x location x condition</a:t>
            </a:r>
            <a:r>
              <a:rPr sz="1600" b="1" dirty="0">
                <a:solidFill>
                  <a:srgbClr val="156082"/>
                </a:solidFill>
                <a:latin typeface="Aptos"/>
                <a:ea typeface="Aptos"/>
                <a:cs typeface="Aptos"/>
              </a:rPr>
              <a:t> interactions, while sampling and L2 regularization keep the corrections from chasing every unusual sale</a:t>
            </a:r>
            <a:r>
              <a:rPr lang="en-US" sz="1600" b="1" dirty="0">
                <a:solidFill>
                  <a:srgbClr val="156082"/>
                </a:solidFill>
                <a:latin typeface="Aptos"/>
                <a:ea typeface="Aptos"/>
                <a:cs typeface="Aptos"/>
              </a:rPr>
              <a:t> record</a:t>
            </a:r>
            <a:r>
              <a:rPr sz="1600" b="1" dirty="0">
                <a:solidFill>
                  <a:srgbClr val="156082"/>
                </a:solidFill>
                <a:latin typeface="Aptos"/>
                <a:ea typeface="Aptos"/>
                <a:cs typeface="Aptos"/>
              </a:rPr>
              <a:t>.</a:t>
            </a:r>
          </a:p>
        </p:txBody>
      </p:sp>
    </p:spTree>
    <p:extLst>
      <p:ext uri="{BB962C8B-B14F-4D97-AF65-F5344CB8AC3E}">
        <p14:creationId xmlns:p14="http://schemas.microsoft.com/office/powerpoint/2010/main" val="473570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t>One holdout, five models</a:t>
            </a:r>
          </a:p>
        </p:txBody>
      </p:sp>
      <p:sp>
        <p:nvSpPr>
          <p:cNvPr id="3" name="comparison-scope">
            <a:extLst>
              <a:ext uri="{FF2B5EF4-FFF2-40B4-BE49-F238E27FC236}">
                <a16:creationId xmlns:a16="http://schemas.microsoft.com/office/drawing/2014/main" id="{883B28A8-1541-4AA6-AC5C-B227A613F6C9}"/>
              </a:ext>
            </a:extLst>
          </p:cNvPr>
          <p:cNvSpPr>
            <a:spLocks noGrp="1"/>
          </p:cNvSpPr>
          <p:nvPr/>
        </p:nvSpPr>
        <p:spPr>
          <a:xfrm>
            <a:off x="914400" y="1752600"/>
            <a:ext cx="10363200" cy="342900"/>
          </a:xfrm>
          <a:prstGeom prst="rect">
            <a:avLst/>
          </a:prstGeom>
          <a:noFill/>
          <a:ln w="0">
            <a:noFill/>
            <a:prstDash val="solid"/>
          </a:ln>
        </p:spPr>
        <p:txBody>
          <a:bodyPr lIns="0" tIns="0" rIns="0" bIns="0" anchor="t">
            <a:normAutofit/>
          </a:bodyPr>
          <a:lstStyle/>
          <a:p>
            <a:pPr>
              <a:defRPr sz="1500">
                <a:solidFill>
                  <a:srgbClr val="5B6770"/>
                </a:solidFill>
                <a:latin typeface="Aptos"/>
                <a:ea typeface="Aptos"/>
                <a:cs typeface="Aptos"/>
              </a:defRPr>
            </a:pPr>
            <a:r>
              <a:rPr sz="1500" dirty="0">
                <a:solidFill>
                  <a:srgbClr val="5B6770"/>
                </a:solidFill>
                <a:latin typeface="Aptos"/>
                <a:ea typeface="Aptos"/>
                <a:cs typeface="Aptos"/>
              </a:rPr>
              <a:t>Same evaluation for every row: train </a:t>
            </a:r>
            <a:r>
              <a:rPr sz="1500" b="1" dirty="0">
                <a:solidFill>
                  <a:srgbClr val="5B6770"/>
                </a:solidFill>
                <a:latin typeface="Aptos"/>
                <a:ea typeface="Aptos"/>
                <a:cs typeface="Aptos"/>
              </a:rPr>
              <a:t>Jun 2025-May 2026 </a:t>
            </a:r>
            <a:r>
              <a:rPr sz="1500" dirty="0">
                <a:solidFill>
                  <a:srgbClr val="5B6770"/>
                </a:solidFill>
                <a:latin typeface="Aptos"/>
                <a:ea typeface="Aptos"/>
                <a:cs typeface="Aptos"/>
              </a:rPr>
              <a:t>(130,060 sales); test </a:t>
            </a:r>
            <a:r>
              <a:rPr sz="1500" b="1" dirty="0">
                <a:solidFill>
                  <a:srgbClr val="5B6770"/>
                </a:solidFill>
                <a:latin typeface="Aptos"/>
                <a:ea typeface="Aptos"/>
                <a:cs typeface="Aptos"/>
              </a:rPr>
              <a:t>Jun 2026 </a:t>
            </a:r>
            <a:r>
              <a:rPr sz="1500" dirty="0">
                <a:solidFill>
                  <a:srgbClr val="5B6770"/>
                </a:solidFill>
                <a:latin typeface="Aptos"/>
                <a:ea typeface="Aptos"/>
                <a:cs typeface="Aptos"/>
              </a:rPr>
              <a:t>(12,857 untouched sales).</a:t>
            </a:r>
          </a:p>
        </p:txBody>
      </p:sp>
      <p:graphicFrame>
        <p:nvGraphicFramePr>
          <p:cNvPr id="9" name="Table 8"/>
          <p:cNvGraphicFramePr/>
          <p:nvPr/>
        </p:nvGraphicFramePr>
        <p:xfrm>
          <a:off x="914400" y="2152650"/>
          <a:ext cx="10363200" cy="2724150"/>
        </p:xfrm>
        <a:graphic>
          <a:graphicData uri="http://schemas.openxmlformats.org/drawingml/2006/table">
            <a:tbl>
              <a:tblPr/>
              <a:tblGrid>
                <a:gridCol w="3684693">
                  <a:extLst>
                    <a:ext uri="{9D8B030D-6E8A-4147-A177-3AD203B41FA5}">
                      <a16:colId xmlns:a16="http://schemas.microsoft.com/office/drawing/2014/main" val="20000"/>
                    </a:ext>
                  </a:extLst>
                </a:gridCol>
                <a:gridCol w="1535289">
                  <a:extLst>
                    <a:ext uri="{9D8B030D-6E8A-4147-A177-3AD203B41FA5}">
                      <a16:colId xmlns:a16="http://schemas.microsoft.com/office/drawing/2014/main" val="20001"/>
                    </a:ext>
                  </a:extLst>
                </a:gridCol>
                <a:gridCol w="1535289">
                  <a:extLst>
                    <a:ext uri="{9D8B030D-6E8A-4147-A177-3AD203B41FA5}">
                      <a16:colId xmlns:a16="http://schemas.microsoft.com/office/drawing/2014/main" val="20002"/>
                    </a:ext>
                  </a:extLst>
                </a:gridCol>
                <a:gridCol w="1535289">
                  <a:extLst>
                    <a:ext uri="{9D8B030D-6E8A-4147-A177-3AD203B41FA5}">
                      <a16:colId xmlns:a16="http://schemas.microsoft.com/office/drawing/2014/main" val="20003"/>
                    </a:ext>
                  </a:extLst>
                </a:gridCol>
                <a:gridCol w="2072640">
                  <a:extLst>
                    <a:ext uri="{9D8B030D-6E8A-4147-A177-3AD203B41FA5}">
                      <a16:colId xmlns:a16="http://schemas.microsoft.com/office/drawing/2014/main" val="20004"/>
                    </a:ext>
                  </a:extLst>
                </a:gridCol>
              </a:tblGrid>
              <a:tr h="454025">
                <a:tc>
                  <a:txBody>
                    <a:bodyPr/>
                    <a:lstStyle/>
                    <a:p>
                      <a:pPr algn="ctr"/>
                      <a:r>
                        <a:rPr sz="1425" b="1" dirty="0">
                          <a:solidFill>
                            <a:srgbClr val="FFFFFF"/>
                          </a:solidFill>
                          <a:latin typeface="Aptos"/>
                          <a:ea typeface="Aptos"/>
                          <a:cs typeface="Aptos"/>
                        </a:rPr>
                        <a:t>Model</a:t>
                      </a:r>
                    </a:p>
                  </a:txBody>
                  <a:tcPr marL="76200" marR="76200" marT="47625" marB="47625" anchor="ctr">
                    <a:solidFill>
                      <a:srgbClr val="156082"/>
                    </a:solidFill>
                  </a:tcPr>
                </a:tc>
                <a:tc>
                  <a:txBody>
                    <a:bodyPr/>
                    <a:lstStyle/>
                    <a:p>
                      <a:pPr algn="ctr"/>
                      <a:r>
                        <a:rPr sz="1425" b="1" dirty="0">
                          <a:solidFill>
                            <a:srgbClr val="FFFFFF"/>
                          </a:solidFill>
                          <a:latin typeface="Aptos"/>
                          <a:ea typeface="Aptos"/>
                          <a:cs typeface="Aptos"/>
                        </a:rPr>
                        <a:t>Test R2</a:t>
                      </a:r>
                    </a:p>
                  </a:txBody>
                  <a:tcPr marL="76200" marR="76200" marT="47625" marB="47625" anchor="ctr">
                    <a:solidFill>
                      <a:srgbClr val="156082"/>
                    </a:solidFill>
                  </a:tcPr>
                </a:tc>
                <a:tc>
                  <a:txBody>
                    <a:bodyPr/>
                    <a:lstStyle/>
                    <a:p>
                      <a:pPr algn="ctr"/>
                      <a:r>
                        <a:rPr sz="1425" b="1">
                          <a:solidFill>
                            <a:srgbClr val="FFFFFF"/>
                          </a:solidFill>
                          <a:latin typeface="Aptos"/>
                          <a:ea typeface="Aptos"/>
                          <a:cs typeface="Aptos"/>
                        </a:rPr>
                        <a:t>MAPE</a:t>
                      </a:r>
                    </a:p>
                  </a:txBody>
                  <a:tcPr marL="76200" marR="76200" marT="47625" marB="47625" anchor="ctr">
                    <a:solidFill>
                      <a:srgbClr val="156082"/>
                    </a:solidFill>
                  </a:tcPr>
                </a:tc>
                <a:tc>
                  <a:txBody>
                    <a:bodyPr/>
                    <a:lstStyle/>
                    <a:p>
                      <a:pPr algn="ctr"/>
                      <a:r>
                        <a:rPr sz="1425" b="1">
                          <a:solidFill>
                            <a:srgbClr val="FFFFFF"/>
                          </a:solidFill>
                          <a:latin typeface="Aptos"/>
                          <a:ea typeface="Aptos"/>
                          <a:cs typeface="Aptos"/>
                        </a:rPr>
                        <a:t>MdAPE</a:t>
                      </a:r>
                    </a:p>
                  </a:txBody>
                  <a:tcPr marL="76200" marR="76200" marT="47625" marB="47625" anchor="ctr">
                    <a:solidFill>
                      <a:srgbClr val="156082"/>
                    </a:solidFill>
                  </a:tcPr>
                </a:tc>
                <a:tc>
                  <a:txBody>
                    <a:bodyPr/>
                    <a:lstStyle/>
                    <a:p>
                      <a:pPr algn="ctr"/>
                      <a:r>
                        <a:rPr sz="1425" b="1">
                          <a:solidFill>
                            <a:srgbClr val="FFFFFF"/>
                          </a:solidFill>
                          <a:latin typeface="Aptos"/>
                          <a:ea typeface="Aptos"/>
                          <a:cs typeface="Aptos"/>
                        </a:rPr>
                        <a:t>MAPE - MdAPE</a:t>
                      </a:r>
                    </a:p>
                  </a:txBody>
                  <a:tcPr marL="76200" marR="76200" marT="47625" marB="47625" anchor="ctr">
                    <a:solidFill>
                      <a:srgbClr val="156082"/>
                    </a:solidFill>
                  </a:tcPr>
                </a:tc>
                <a:extLst>
                  <a:ext uri="{0D108BD9-81ED-4DB2-BD59-A6C34878D82A}">
                    <a16:rowId xmlns:a16="http://schemas.microsoft.com/office/drawing/2014/main" val="10000"/>
                  </a:ext>
                </a:extLst>
              </a:tr>
              <a:tr h="454025">
                <a:tc>
                  <a:txBody>
                    <a:bodyPr/>
                    <a:lstStyle/>
                    <a:p>
                      <a:r>
                        <a:rPr sz="1425" b="1">
                          <a:solidFill>
                            <a:srgbClr val="156082"/>
                          </a:solidFill>
                          <a:latin typeface="Aptos"/>
                          <a:ea typeface="Aptos"/>
                          <a:cs typeface="Aptos"/>
                        </a:rPr>
                        <a:t>XGBoost</a:t>
                      </a:r>
                    </a:p>
                  </a:txBody>
                  <a:tcPr marL="76200" marR="76200" marT="47625" marB="47625" anchor="ctr">
                    <a:solidFill>
                      <a:srgbClr val="EAF3F6"/>
                    </a:solidFill>
                  </a:tcPr>
                </a:tc>
                <a:tc>
                  <a:txBody>
                    <a:bodyPr/>
                    <a:lstStyle/>
                    <a:p>
                      <a:pPr algn="ctr"/>
                      <a:r>
                        <a:rPr sz="1425" b="1">
                          <a:solidFill>
                            <a:srgbClr val="156082"/>
                          </a:solidFill>
                          <a:latin typeface="Aptos"/>
                          <a:ea typeface="Aptos"/>
                          <a:cs typeface="Aptos"/>
                        </a:rPr>
                        <a:t>0.812</a:t>
                      </a:r>
                    </a:p>
                  </a:txBody>
                  <a:tcPr marL="76200" marR="76200" marT="47625" marB="47625" anchor="ctr">
                    <a:solidFill>
                      <a:srgbClr val="EAF3F6"/>
                    </a:solidFill>
                  </a:tcPr>
                </a:tc>
                <a:tc>
                  <a:txBody>
                    <a:bodyPr/>
                    <a:lstStyle/>
                    <a:p>
                      <a:pPr algn="ctr"/>
                      <a:r>
                        <a:rPr sz="1425">
                          <a:solidFill>
                            <a:srgbClr val="263238"/>
                          </a:solidFill>
                          <a:latin typeface="Aptos"/>
                          <a:ea typeface="Aptos"/>
                          <a:cs typeface="Aptos"/>
                        </a:rPr>
                        <a:t>25.20%</a:t>
                      </a:r>
                    </a:p>
                  </a:txBody>
                  <a:tcPr marL="76200" marR="76200" marT="47625" marB="47625" anchor="ctr">
                    <a:solidFill>
                      <a:srgbClr val="EAF3F6"/>
                    </a:solidFill>
                  </a:tcPr>
                </a:tc>
                <a:tc>
                  <a:txBody>
                    <a:bodyPr/>
                    <a:lstStyle/>
                    <a:p>
                      <a:pPr algn="ctr"/>
                      <a:r>
                        <a:rPr sz="1425">
                          <a:solidFill>
                            <a:srgbClr val="263238"/>
                          </a:solidFill>
                          <a:latin typeface="Aptos"/>
                          <a:ea typeface="Aptos"/>
                          <a:cs typeface="Aptos"/>
                        </a:rPr>
                        <a:t>11.77%</a:t>
                      </a:r>
                    </a:p>
                  </a:txBody>
                  <a:tcPr marL="76200" marR="76200" marT="47625" marB="47625" anchor="ctr">
                    <a:solidFill>
                      <a:srgbClr val="EAF3F6"/>
                    </a:solidFill>
                  </a:tcPr>
                </a:tc>
                <a:tc>
                  <a:txBody>
                    <a:bodyPr/>
                    <a:lstStyle/>
                    <a:p>
                      <a:pPr algn="ctr"/>
                      <a:r>
                        <a:rPr sz="1425" dirty="0">
                          <a:solidFill>
                            <a:srgbClr val="263238"/>
                          </a:solidFill>
                          <a:latin typeface="Aptos"/>
                          <a:ea typeface="Aptos"/>
                          <a:cs typeface="Aptos"/>
                        </a:rPr>
                        <a:t>13.43</a:t>
                      </a:r>
                      <a:r>
                        <a:rPr lang="en-US" sz="1425" dirty="0">
                          <a:solidFill>
                            <a:srgbClr val="263238"/>
                          </a:solidFill>
                          <a:latin typeface="Aptos"/>
                          <a:ea typeface="Aptos"/>
                          <a:cs typeface="Aptos"/>
                        </a:rPr>
                        <a:t>%</a:t>
                      </a:r>
                      <a:endParaRPr sz="1425" dirty="0">
                        <a:solidFill>
                          <a:srgbClr val="263238"/>
                        </a:solidFill>
                        <a:latin typeface="Aptos"/>
                        <a:ea typeface="Aptos"/>
                        <a:cs typeface="Aptos"/>
                      </a:endParaRPr>
                    </a:p>
                  </a:txBody>
                  <a:tcPr marL="76200" marR="76200" marT="47625" marB="47625" anchor="ctr">
                    <a:solidFill>
                      <a:srgbClr val="EAF3F6"/>
                    </a:solidFill>
                  </a:tcPr>
                </a:tc>
                <a:extLst>
                  <a:ext uri="{0D108BD9-81ED-4DB2-BD59-A6C34878D82A}">
                    <a16:rowId xmlns:a16="http://schemas.microsoft.com/office/drawing/2014/main" val="10001"/>
                  </a:ext>
                </a:extLst>
              </a:tr>
              <a:tr h="454025">
                <a:tc>
                  <a:txBody>
                    <a:bodyPr/>
                    <a:lstStyle/>
                    <a:p>
                      <a:r>
                        <a:rPr sz="1425">
                          <a:solidFill>
                            <a:srgbClr val="263238"/>
                          </a:solidFill>
                          <a:latin typeface="Aptos"/>
                          <a:ea typeface="Aptos"/>
                          <a:cs typeface="Aptos"/>
                        </a:rPr>
                        <a:t>LightGBM</a:t>
                      </a:r>
                    </a:p>
                  </a:txBody>
                  <a:tcPr marL="76200" marR="76200" marT="47625" marB="47625" anchor="ctr"/>
                </a:tc>
                <a:tc>
                  <a:txBody>
                    <a:bodyPr/>
                    <a:lstStyle/>
                    <a:p>
                      <a:pPr algn="ctr"/>
                      <a:r>
                        <a:rPr sz="1425">
                          <a:solidFill>
                            <a:srgbClr val="263238"/>
                          </a:solidFill>
                          <a:latin typeface="Aptos"/>
                          <a:ea typeface="Aptos"/>
                          <a:cs typeface="Aptos"/>
                        </a:rPr>
                        <a:t>0.798</a:t>
                      </a:r>
                    </a:p>
                  </a:txBody>
                  <a:tcPr marL="76200" marR="76200" marT="47625" marB="47625" anchor="ctr"/>
                </a:tc>
                <a:tc>
                  <a:txBody>
                    <a:bodyPr/>
                    <a:lstStyle/>
                    <a:p>
                      <a:pPr algn="ctr"/>
                      <a:r>
                        <a:rPr sz="1425">
                          <a:solidFill>
                            <a:srgbClr val="263238"/>
                          </a:solidFill>
                          <a:latin typeface="Aptos"/>
                          <a:ea typeface="Aptos"/>
                          <a:cs typeface="Aptos"/>
                        </a:rPr>
                        <a:t>26.56%</a:t>
                      </a:r>
                    </a:p>
                  </a:txBody>
                  <a:tcPr marL="76200" marR="76200" marT="47625" marB="47625" anchor="ctr"/>
                </a:tc>
                <a:tc>
                  <a:txBody>
                    <a:bodyPr/>
                    <a:lstStyle/>
                    <a:p>
                      <a:pPr algn="ctr"/>
                      <a:r>
                        <a:rPr sz="1425">
                          <a:solidFill>
                            <a:srgbClr val="263238"/>
                          </a:solidFill>
                          <a:latin typeface="Aptos"/>
                          <a:ea typeface="Aptos"/>
                          <a:cs typeface="Aptos"/>
                        </a:rPr>
                        <a:t>12.23%</a:t>
                      </a:r>
                    </a:p>
                  </a:txBody>
                  <a:tcPr marL="76200" marR="76200" marT="47625" marB="47625" anchor="ctr"/>
                </a:tc>
                <a:tc>
                  <a:txBody>
                    <a:bodyPr/>
                    <a:lstStyle/>
                    <a:p>
                      <a:pPr algn="ctr"/>
                      <a:r>
                        <a:rPr sz="1425" dirty="0">
                          <a:solidFill>
                            <a:srgbClr val="263238"/>
                          </a:solidFill>
                          <a:latin typeface="Aptos"/>
                          <a:ea typeface="Aptos"/>
                          <a:cs typeface="Aptos"/>
                        </a:rPr>
                        <a:t>14.33</a:t>
                      </a:r>
                      <a:r>
                        <a:rPr lang="en-US" sz="1425" dirty="0">
                          <a:solidFill>
                            <a:srgbClr val="263238"/>
                          </a:solidFill>
                          <a:latin typeface="Aptos"/>
                          <a:ea typeface="Aptos"/>
                          <a:cs typeface="Aptos"/>
                        </a:rPr>
                        <a:t>%</a:t>
                      </a:r>
                      <a:endParaRPr sz="1425" dirty="0">
                        <a:solidFill>
                          <a:srgbClr val="263238"/>
                        </a:solidFill>
                        <a:latin typeface="Aptos"/>
                        <a:ea typeface="Aptos"/>
                        <a:cs typeface="Aptos"/>
                      </a:endParaRPr>
                    </a:p>
                  </a:txBody>
                  <a:tcPr marL="76200" marR="76200" marT="47625" marB="47625" anchor="ctr"/>
                </a:tc>
                <a:extLst>
                  <a:ext uri="{0D108BD9-81ED-4DB2-BD59-A6C34878D82A}">
                    <a16:rowId xmlns:a16="http://schemas.microsoft.com/office/drawing/2014/main" val="10002"/>
                  </a:ext>
                </a:extLst>
              </a:tr>
              <a:tr h="454025">
                <a:tc>
                  <a:txBody>
                    <a:bodyPr/>
                    <a:lstStyle/>
                    <a:p>
                      <a:r>
                        <a:rPr sz="1425" b="1">
                          <a:solidFill>
                            <a:srgbClr val="E97132"/>
                          </a:solidFill>
                          <a:latin typeface="Aptos"/>
                          <a:ea typeface="Aptos"/>
                          <a:cs typeface="Aptos"/>
                        </a:rPr>
                        <a:t>Random Forest</a:t>
                      </a:r>
                    </a:p>
                  </a:txBody>
                  <a:tcPr marL="76200" marR="76200" marT="47625" marB="47625" anchor="ctr">
                    <a:solidFill>
                      <a:srgbClr val="FDF0E8"/>
                    </a:solidFill>
                  </a:tcPr>
                </a:tc>
                <a:tc>
                  <a:txBody>
                    <a:bodyPr/>
                    <a:lstStyle/>
                    <a:p>
                      <a:pPr algn="ctr"/>
                      <a:r>
                        <a:rPr sz="1425">
                          <a:solidFill>
                            <a:srgbClr val="263238"/>
                          </a:solidFill>
                          <a:latin typeface="Aptos"/>
                          <a:ea typeface="Aptos"/>
                          <a:cs typeface="Aptos"/>
                        </a:rPr>
                        <a:t>0.749</a:t>
                      </a:r>
                    </a:p>
                  </a:txBody>
                  <a:tcPr marL="76200" marR="76200" marT="47625" marB="47625" anchor="ctr">
                    <a:solidFill>
                      <a:srgbClr val="FDF0E8"/>
                    </a:solidFill>
                  </a:tcPr>
                </a:tc>
                <a:tc>
                  <a:txBody>
                    <a:bodyPr/>
                    <a:lstStyle/>
                    <a:p>
                      <a:pPr algn="ctr"/>
                      <a:r>
                        <a:rPr sz="1425" b="1">
                          <a:solidFill>
                            <a:srgbClr val="E97132"/>
                          </a:solidFill>
                          <a:latin typeface="Aptos"/>
                          <a:ea typeface="Aptos"/>
                          <a:cs typeface="Aptos"/>
                        </a:rPr>
                        <a:t>23.69%</a:t>
                      </a:r>
                    </a:p>
                  </a:txBody>
                  <a:tcPr marL="76200" marR="76200" marT="47625" marB="47625" anchor="ctr">
                    <a:solidFill>
                      <a:srgbClr val="FDF0E8"/>
                    </a:solidFill>
                  </a:tcPr>
                </a:tc>
                <a:tc>
                  <a:txBody>
                    <a:bodyPr/>
                    <a:lstStyle/>
                    <a:p>
                      <a:pPr algn="ctr"/>
                      <a:r>
                        <a:rPr sz="1425" b="1">
                          <a:solidFill>
                            <a:srgbClr val="E97132"/>
                          </a:solidFill>
                          <a:latin typeface="Aptos"/>
                          <a:ea typeface="Aptos"/>
                          <a:cs typeface="Aptos"/>
                        </a:rPr>
                        <a:t>9.14%</a:t>
                      </a:r>
                    </a:p>
                  </a:txBody>
                  <a:tcPr marL="76200" marR="76200" marT="47625" marB="47625" anchor="ctr">
                    <a:solidFill>
                      <a:srgbClr val="FDF0E8"/>
                    </a:solidFill>
                  </a:tcPr>
                </a:tc>
                <a:tc>
                  <a:txBody>
                    <a:bodyPr/>
                    <a:lstStyle/>
                    <a:p>
                      <a:pPr algn="ctr"/>
                      <a:r>
                        <a:rPr sz="1425" dirty="0">
                          <a:solidFill>
                            <a:srgbClr val="263238"/>
                          </a:solidFill>
                          <a:latin typeface="Aptos"/>
                          <a:ea typeface="Aptos"/>
                          <a:cs typeface="Aptos"/>
                        </a:rPr>
                        <a:t>14.54</a:t>
                      </a:r>
                      <a:r>
                        <a:rPr lang="en-US" sz="1425" dirty="0">
                          <a:solidFill>
                            <a:srgbClr val="263238"/>
                          </a:solidFill>
                          <a:latin typeface="Aptos"/>
                          <a:ea typeface="Aptos"/>
                          <a:cs typeface="Aptos"/>
                        </a:rPr>
                        <a:t>%</a:t>
                      </a:r>
                      <a:endParaRPr sz="1425" dirty="0">
                        <a:solidFill>
                          <a:srgbClr val="263238"/>
                        </a:solidFill>
                        <a:latin typeface="Aptos"/>
                        <a:ea typeface="Aptos"/>
                        <a:cs typeface="Aptos"/>
                      </a:endParaRPr>
                    </a:p>
                  </a:txBody>
                  <a:tcPr marL="76200" marR="76200" marT="47625" marB="47625" anchor="ctr">
                    <a:solidFill>
                      <a:srgbClr val="FDF0E8"/>
                    </a:solidFill>
                  </a:tcPr>
                </a:tc>
                <a:extLst>
                  <a:ext uri="{0D108BD9-81ED-4DB2-BD59-A6C34878D82A}">
                    <a16:rowId xmlns:a16="http://schemas.microsoft.com/office/drawing/2014/main" val="10003"/>
                  </a:ext>
                </a:extLst>
              </a:tr>
              <a:tr h="454025">
                <a:tc>
                  <a:txBody>
                    <a:bodyPr/>
                    <a:lstStyle/>
                    <a:p>
                      <a:r>
                        <a:rPr sz="1425">
                          <a:solidFill>
                            <a:srgbClr val="263238"/>
                          </a:solidFill>
                          <a:latin typeface="Aptos"/>
                          <a:ea typeface="Aptos"/>
                          <a:cs typeface="Aptos"/>
                        </a:rPr>
                        <a:t>Decision Tree</a:t>
                      </a:r>
                    </a:p>
                  </a:txBody>
                  <a:tcPr marL="76200" marR="76200" marT="47625" marB="47625" anchor="ctr"/>
                </a:tc>
                <a:tc>
                  <a:txBody>
                    <a:bodyPr/>
                    <a:lstStyle/>
                    <a:p>
                      <a:pPr algn="ctr"/>
                      <a:r>
                        <a:rPr sz="1425">
                          <a:solidFill>
                            <a:srgbClr val="263238"/>
                          </a:solidFill>
                          <a:latin typeface="Aptos"/>
                          <a:ea typeface="Aptos"/>
                          <a:cs typeface="Aptos"/>
                        </a:rPr>
                        <a:t>0.722</a:t>
                      </a:r>
                    </a:p>
                  </a:txBody>
                  <a:tcPr marL="76200" marR="76200" marT="47625" marB="47625" anchor="ctr"/>
                </a:tc>
                <a:tc>
                  <a:txBody>
                    <a:bodyPr/>
                    <a:lstStyle/>
                    <a:p>
                      <a:pPr algn="ctr"/>
                      <a:r>
                        <a:rPr sz="1425">
                          <a:solidFill>
                            <a:srgbClr val="263238"/>
                          </a:solidFill>
                          <a:latin typeface="Aptos"/>
                          <a:ea typeface="Aptos"/>
                          <a:cs typeface="Aptos"/>
                        </a:rPr>
                        <a:t>26.30%</a:t>
                      </a:r>
                    </a:p>
                  </a:txBody>
                  <a:tcPr marL="76200" marR="76200" marT="47625" marB="47625" anchor="ctr"/>
                </a:tc>
                <a:tc>
                  <a:txBody>
                    <a:bodyPr/>
                    <a:lstStyle/>
                    <a:p>
                      <a:pPr algn="ctr"/>
                      <a:r>
                        <a:rPr sz="1425">
                          <a:solidFill>
                            <a:srgbClr val="263238"/>
                          </a:solidFill>
                          <a:latin typeface="Aptos"/>
                          <a:ea typeface="Aptos"/>
                          <a:cs typeface="Aptos"/>
                        </a:rPr>
                        <a:t>10.61%</a:t>
                      </a:r>
                    </a:p>
                  </a:txBody>
                  <a:tcPr marL="76200" marR="76200" marT="47625" marB="47625" anchor="ctr"/>
                </a:tc>
                <a:tc>
                  <a:txBody>
                    <a:bodyPr/>
                    <a:lstStyle/>
                    <a:p>
                      <a:pPr algn="ctr"/>
                      <a:r>
                        <a:rPr sz="1425" dirty="0">
                          <a:solidFill>
                            <a:srgbClr val="263238"/>
                          </a:solidFill>
                          <a:latin typeface="Aptos"/>
                          <a:ea typeface="Aptos"/>
                          <a:cs typeface="Aptos"/>
                        </a:rPr>
                        <a:t>15.69</a:t>
                      </a:r>
                      <a:r>
                        <a:rPr lang="en-US" sz="1425" dirty="0">
                          <a:solidFill>
                            <a:srgbClr val="263238"/>
                          </a:solidFill>
                          <a:latin typeface="Aptos"/>
                          <a:ea typeface="Aptos"/>
                          <a:cs typeface="Aptos"/>
                        </a:rPr>
                        <a:t>%</a:t>
                      </a:r>
                      <a:endParaRPr sz="1425" dirty="0">
                        <a:solidFill>
                          <a:srgbClr val="263238"/>
                        </a:solidFill>
                        <a:latin typeface="Aptos"/>
                        <a:ea typeface="Aptos"/>
                        <a:cs typeface="Aptos"/>
                      </a:endParaRPr>
                    </a:p>
                  </a:txBody>
                  <a:tcPr marL="76200" marR="76200" marT="47625" marB="47625" anchor="ctr"/>
                </a:tc>
                <a:extLst>
                  <a:ext uri="{0D108BD9-81ED-4DB2-BD59-A6C34878D82A}">
                    <a16:rowId xmlns:a16="http://schemas.microsoft.com/office/drawing/2014/main" val="10004"/>
                  </a:ext>
                </a:extLst>
              </a:tr>
              <a:tr h="454025">
                <a:tc>
                  <a:txBody>
                    <a:bodyPr/>
                    <a:lstStyle/>
                    <a:p>
                      <a:r>
                        <a:rPr sz="1425">
                          <a:solidFill>
                            <a:srgbClr val="263238"/>
                          </a:solidFill>
                          <a:latin typeface="Aptos"/>
                          <a:ea typeface="Aptos"/>
                          <a:cs typeface="Aptos"/>
                        </a:rPr>
                        <a:t>Linear Regression</a:t>
                      </a:r>
                    </a:p>
                  </a:txBody>
                  <a:tcPr marL="76200" marR="76200" marT="47625" marB="47625" anchor="ctr"/>
                </a:tc>
                <a:tc>
                  <a:txBody>
                    <a:bodyPr/>
                    <a:lstStyle/>
                    <a:p>
                      <a:pPr algn="ctr"/>
                      <a:r>
                        <a:rPr sz="1425">
                          <a:solidFill>
                            <a:srgbClr val="263238"/>
                          </a:solidFill>
                          <a:latin typeface="Aptos"/>
                          <a:ea typeface="Aptos"/>
                          <a:cs typeface="Aptos"/>
                        </a:rPr>
                        <a:t>0.699</a:t>
                      </a:r>
                    </a:p>
                  </a:txBody>
                  <a:tcPr marL="76200" marR="76200" marT="47625" marB="47625" anchor="ctr"/>
                </a:tc>
                <a:tc>
                  <a:txBody>
                    <a:bodyPr/>
                    <a:lstStyle/>
                    <a:p>
                      <a:pPr algn="ctr"/>
                      <a:r>
                        <a:rPr sz="1425">
                          <a:solidFill>
                            <a:srgbClr val="263238"/>
                          </a:solidFill>
                          <a:latin typeface="Aptos"/>
                          <a:ea typeface="Aptos"/>
                          <a:cs typeface="Aptos"/>
                        </a:rPr>
                        <a:t>33.82%</a:t>
                      </a:r>
                    </a:p>
                  </a:txBody>
                  <a:tcPr marL="76200" marR="76200" marT="47625" marB="47625" anchor="ctr"/>
                </a:tc>
                <a:tc>
                  <a:txBody>
                    <a:bodyPr/>
                    <a:lstStyle/>
                    <a:p>
                      <a:pPr algn="ctr"/>
                      <a:r>
                        <a:rPr sz="1425">
                          <a:solidFill>
                            <a:srgbClr val="263238"/>
                          </a:solidFill>
                          <a:latin typeface="Aptos"/>
                          <a:ea typeface="Aptos"/>
                          <a:cs typeface="Aptos"/>
                        </a:rPr>
                        <a:t>17.98%</a:t>
                      </a:r>
                    </a:p>
                  </a:txBody>
                  <a:tcPr marL="76200" marR="76200" marT="47625" marB="47625" anchor="ctr"/>
                </a:tc>
                <a:tc>
                  <a:txBody>
                    <a:bodyPr/>
                    <a:lstStyle/>
                    <a:p>
                      <a:pPr algn="ctr"/>
                      <a:r>
                        <a:rPr sz="1425" dirty="0">
                          <a:solidFill>
                            <a:srgbClr val="263238"/>
                          </a:solidFill>
                          <a:latin typeface="Aptos"/>
                          <a:ea typeface="Aptos"/>
                          <a:cs typeface="Aptos"/>
                        </a:rPr>
                        <a:t>15.84</a:t>
                      </a:r>
                      <a:r>
                        <a:rPr lang="en-US" sz="1425" dirty="0">
                          <a:solidFill>
                            <a:srgbClr val="263238"/>
                          </a:solidFill>
                          <a:latin typeface="Aptos"/>
                          <a:ea typeface="Aptos"/>
                          <a:cs typeface="Aptos"/>
                        </a:rPr>
                        <a:t>%</a:t>
                      </a:r>
                      <a:endParaRPr sz="1425" dirty="0">
                        <a:solidFill>
                          <a:srgbClr val="263238"/>
                        </a:solidFill>
                        <a:latin typeface="Aptos"/>
                        <a:ea typeface="Aptos"/>
                        <a:cs typeface="Aptos"/>
                      </a:endParaRPr>
                    </a:p>
                  </a:txBody>
                  <a:tcPr marL="76200" marR="76200" marT="47625" marB="47625" anchor="ctr"/>
                </a:tc>
                <a:extLst>
                  <a:ext uri="{0D108BD9-81ED-4DB2-BD59-A6C34878D82A}">
                    <a16:rowId xmlns:a16="http://schemas.microsoft.com/office/drawing/2014/main" val="10005"/>
                  </a:ext>
                </a:extLst>
              </a:tr>
            </a:tbl>
          </a:graphicData>
        </a:graphic>
      </p:graphicFrame>
      <p:sp>
        <p:nvSpPr>
          <p:cNvPr id="5" name="comparison-insight-bar">
            <a:extLst>
              <a:ext uri="{FF2B5EF4-FFF2-40B4-BE49-F238E27FC236}">
                <a16:creationId xmlns:a16="http://schemas.microsoft.com/office/drawing/2014/main" id="{BD8B736E-02CD-4F66-81E8-BC5758042BE0}"/>
              </a:ext>
            </a:extLst>
          </p:cNvPr>
          <p:cNvSpPr>
            <a:spLocks noGrp="1"/>
          </p:cNvSpPr>
          <p:nvPr/>
        </p:nvSpPr>
        <p:spPr>
          <a:xfrm>
            <a:off x="914400" y="5105400"/>
            <a:ext cx="76200" cy="819150"/>
          </a:xfrm>
          <a:prstGeom prst="rect">
            <a:avLst/>
          </a:prstGeom>
          <a:solidFill>
            <a:srgbClr val="E97132"/>
          </a:solidFill>
          <a:ln w="0">
            <a:noFill/>
            <a:prstDash val="solid"/>
          </a:ln>
        </p:spPr>
        <p:txBody>
          <a:bodyPr/>
          <a:lstStyle/>
          <a:p>
            <a:endParaRPr lang="en-US"/>
          </a:p>
        </p:txBody>
      </p:sp>
      <p:sp>
        <p:nvSpPr>
          <p:cNvPr id="6" name="comparison-insight">
            <a:extLst>
              <a:ext uri="{FF2B5EF4-FFF2-40B4-BE49-F238E27FC236}">
                <a16:creationId xmlns:a16="http://schemas.microsoft.com/office/drawing/2014/main" id="{5DBF1514-2D0B-4FCF-A007-F1AF18C67EA0}"/>
              </a:ext>
            </a:extLst>
          </p:cNvPr>
          <p:cNvSpPr>
            <a:spLocks noGrp="1"/>
          </p:cNvSpPr>
          <p:nvPr/>
        </p:nvSpPr>
        <p:spPr>
          <a:xfrm>
            <a:off x="1143000" y="5048250"/>
            <a:ext cx="10134600" cy="933450"/>
          </a:xfrm>
          <a:prstGeom prst="rect">
            <a:avLst/>
          </a:prstGeom>
          <a:noFill/>
          <a:ln w="0">
            <a:noFill/>
            <a:prstDash val="solid"/>
          </a:ln>
        </p:spPr>
        <p:txBody>
          <a:bodyPr lIns="0" tIns="0" rIns="0" bIns="0" anchor="ctr">
            <a:normAutofit/>
          </a:bodyPr>
          <a:lstStyle/>
          <a:p>
            <a:pPr>
              <a:defRPr sz="1500">
                <a:solidFill>
                  <a:srgbClr val="263238"/>
                </a:solidFill>
                <a:latin typeface="Aptos"/>
                <a:ea typeface="Aptos"/>
                <a:cs typeface="Aptos"/>
              </a:defRPr>
            </a:pPr>
            <a:r>
              <a:rPr sz="1500" dirty="0">
                <a:solidFill>
                  <a:srgbClr val="263238"/>
                </a:solidFill>
                <a:latin typeface="Aptos"/>
                <a:ea typeface="Aptos"/>
                <a:cs typeface="Aptos"/>
              </a:rPr>
              <a:t>The 13</a:t>
            </a:r>
            <a:r>
              <a:rPr lang="en-US" sz="1500" dirty="0">
                <a:solidFill>
                  <a:srgbClr val="263238"/>
                </a:solidFill>
                <a:latin typeface="Aptos"/>
                <a:ea typeface="Aptos"/>
                <a:cs typeface="Aptos"/>
              </a:rPr>
              <a:t>-to-</a:t>
            </a:r>
            <a:r>
              <a:rPr sz="1500" dirty="0">
                <a:solidFill>
                  <a:srgbClr val="263238"/>
                </a:solidFill>
                <a:latin typeface="Aptos"/>
                <a:ea typeface="Aptos"/>
                <a:cs typeface="Aptos"/>
              </a:rPr>
              <a:t>16</a:t>
            </a:r>
            <a:r>
              <a:rPr lang="en-US" sz="1500" dirty="0">
                <a:solidFill>
                  <a:srgbClr val="263238"/>
                </a:solidFill>
                <a:latin typeface="Aptos"/>
                <a:ea typeface="Aptos"/>
                <a:cs typeface="Aptos"/>
              </a:rPr>
              <a:t>% </a:t>
            </a:r>
            <a:r>
              <a:rPr sz="1500" dirty="0">
                <a:solidFill>
                  <a:srgbClr val="263238"/>
                </a:solidFill>
                <a:latin typeface="Aptos"/>
                <a:ea typeface="Aptos"/>
                <a:cs typeface="Aptos"/>
              </a:rPr>
              <a:t>MAPE-</a:t>
            </a:r>
            <a:r>
              <a:rPr sz="1500" dirty="0" err="1">
                <a:solidFill>
                  <a:srgbClr val="263238"/>
                </a:solidFill>
                <a:latin typeface="Aptos"/>
                <a:ea typeface="Aptos"/>
                <a:cs typeface="Aptos"/>
              </a:rPr>
              <a:t>MdAPE</a:t>
            </a:r>
            <a:r>
              <a:rPr sz="1500" dirty="0">
                <a:solidFill>
                  <a:srgbClr val="263238"/>
                </a:solidFill>
                <a:latin typeface="Aptos"/>
                <a:ea typeface="Aptos"/>
                <a:cs typeface="Aptos"/>
              </a:rPr>
              <a:t> gaps are </a:t>
            </a:r>
            <a:r>
              <a:rPr lang="en-US" sz="1500" dirty="0">
                <a:solidFill>
                  <a:srgbClr val="263238"/>
                </a:solidFill>
                <a:latin typeface="Aptos"/>
                <a:ea typeface="Aptos"/>
                <a:cs typeface="Aptos"/>
              </a:rPr>
              <a:t>reasonable</a:t>
            </a:r>
            <a:r>
              <a:rPr sz="1500" dirty="0">
                <a:solidFill>
                  <a:srgbClr val="263238"/>
                </a:solidFill>
                <a:latin typeface="Aptos"/>
                <a:ea typeface="Aptos"/>
                <a:cs typeface="Aptos"/>
              </a:rPr>
              <a:t>: most homes are closer than the mean suggests, while a smaller tail of luxury or unusual properties </a:t>
            </a:r>
            <a:r>
              <a:rPr lang="en-US" sz="1500" dirty="0">
                <a:solidFill>
                  <a:srgbClr val="263238"/>
                </a:solidFill>
                <a:latin typeface="Aptos"/>
                <a:ea typeface="Aptos"/>
                <a:cs typeface="Aptos"/>
              </a:rPr>
              <a:t>results in</a:t>
            </a:r>
            <a:r>
              <a:rPr sz="1500" dirty="0">
                <a:solidFill>
                  <a:srgbClr val="263238"/>
                </a:solidFill>
                <a:latin typeface="Aptos"/>
                <a:ea typeface="Aptos"/>
                <a:cs typeface="Aptos"/>
              </a:rPr>
              <a:t> much larger percentage misses. </a:t>
            </a:r>
            <a:r>
              <a:rPr sz="1500" b="1" dirty="0" err="1">
                <a:solidFill>
                  <a:srgbClr val="263238"/>
                </a:solidFill>
                <a:latin typeface="Aptos"/>
                <a:ea typeface="Aptos"/>
                <a:cs typeface="Aptos"/>
              </a:rPr>
              <a:t>XGBoost</a:t>
            </a:r>
            <a:r>
              <a:rPr sz="1500" dirty="0">
                <a:solidFill>
                  <a:srgbClr val="263238"/>
                </a:solidFill>
                <a:latin typeface="Aptos"/>
                <a:ea typeface="Aptos"/>
                <a:cs typeface="Aptos"/>
              </a:rPr>
              <a:t> leads R2; </a:t>
            </a:r>
            <a:r>
              <a:rPr sz="1500" b="1" dirty="0">
                <a:solidFill>
                  <a:srgbClr val="263238"/>
                </a:solidFill>
                <a:latin typeface="Aptos"/>
                <a:ea typeface="Aptos"/>
                <a:cs typeface="Aptos"/>
              </a:rPr>
              <a:t>Random Forest </a:t>
            </a:r>
            <a:r>
              <a:rPr sz="1500" dirty="0">
                <a:solidFill>
                  <a:srgbClr val="263238"/>
                </a:solidFill>
                <a:latin typeface="Aptos"/>
                <a:ea typeface="Aptos"/>
                <a:cs typeface="Aptos"/>
              </a:rPr>
              <a:t>leads typical % accuracy.</a:t>
            </a:r>
          </a:p>
        </p:txBody>
      </p:sp>
    </p:spTree>
    <p:extLst>
      <p:ext uri="{BB962C8B-B14F-4D97-AF65-F5344CB8AC3E}">
        <p14:creationId xmlns:p14="http://schemas.microsoft.com/office/powerpoint/2010/main" val="3925778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radeoff-divider">
            <a:extLst>
              <a:ext uri="{FF2B5EF4-FFF2-40B4-BE49-F238E27FC236}">
                <a16:creationId xmlns:a16="http://schemas.microsoft.com/office/drawing/2014/main" id="{A9EA89A4-2943-417F-B2D1-AF81B37295D2}"/>
              </a:ext>
            </a:extLst>
          </p:cNvPr>
          <p:cNvSpPr>
            <a:spLocks noGrp="1"/>
          </p:cNvSpPr>
          <p:nvPr/>
        </p:nvSpPr>
        <p:spPr>
          <a:xfrm>
            <a:off x="5970587" y="2243138"/>
            <a:ext cx="28575" cy="2781300"/>
          </a:xfrm>
          <a:prstGeom prst="rect">
            <a:avLst/>
          </a:prstGeom>
          <a:solidFill>
            <a:srgbClr val="D9E1E5"/>
          </a:solidFill>
          <a:ln w="0">
            <a:noFill/>
            <a:prstDash val="solid"/>
          </a:ln>
        </p:spPr>
        <p:txBody>
          <a:bodyPr/>
          <a:lstStyle/>
          <a:p>
            <a:endParaRPr lang="en-US" sz="2400"/>
          </a:p>
        </p:txBody>
      </p:sp>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t>XGBoost leads overall fit</a:t>
            </a:r>
          </a:p>
        </p:txBody>
      </p:sp>
      <p:sp>
        <p:nvSpPr>
          <p:cNvPr id="3" name="tradeoff-subtitle">
            <a:extLst>
              <a:ext uri="{FF2B5EF4-FFF2-40B4-BE49-F238E27FC236}">
                <a16:creationId xmlns:a16="http://schemas.microsoft.com/office/drawing/2014/main" id="{32F4CA14-A7F0-43B4-9E67-8A2ED717BA53}"/>
              </a:ext>
            </a:extLst>
          </p:cNvPr>
          <p:cNvSpPr>
            <a:spLocks noGrp="1"/>
          </p:cNvSpPr>
          <p:nvPr/>
        </p:nvSpPr>
        <p:spPr>
          <a:xfrm>
            <a:off x="914400" y="1752600"/>
            <a:ext cx="10363200" cy="323850"/>
          </a:xfrm>
          <a:prstGeom prst="rect">
            <a:avLst/>
          </a:prstGeom>
          <a:noFill/>
          <a:ln w="0">
            <a:noFill/>
            <a:prstDash val="solid"/>
          </a:ln>
        </p:spPr>
        <p:txBody>
          <a:bodyPr lIns="0" tIns="0" rIns="0" bIns="0" anchor="t">
            <a:normAutofit/>
          </a:bodyPr>
          <a:lstStyle/>
          <a:p>
            <a:pPr algn="ctr">
              <a:defRPr sz="1350">
                <a:solidFill>
                  <a:srgbClr val="5B6770"/>
                </a:solidFill>
                <a:latin typeface="Aptos"/>
                <a:ea typeface="Aptos"/>
                <a:cs typeface="Aptos"/>
              </a:defRPr>
            </a:pPr>
            <a:r>
              <a:rPr sz="1600">
                <a:solidFill>
                  <a:srgbClr val="5B6770"/>
                </a:solidFill>
                <a:latin typeface="Aptos"/>
                <a:ea typeface="Aptos"/>
                <a:cs typeface="Aptos"/>
              </a:rPr>
              <a:t>Jun 2026 holdout (same rows)</a:t>
            </a:r>
          </a:p>
        </p:txBody>
      </p:sp>
      <p:sp>
        <p:nvSpPr>
          <p:cNvPr id="5" name="xgb-label">
            <a:extLst>
              <a:ext uri="{FF2B5EF4-FFF2-40B4-BE49-F238E27FC236}">
                <a16:creationId xmlns:a16="http://schemas.microsoft.com/office/drawing/2014/main" id="{4E3FB1D8-CC20-4B95-8CBC-A53C07F1904B}"/>
              </a:ext>
            </a:extLst>
          </p:cNvPr>
          <p:cNvSpPr>
            <a:spLocks noGrp="1"/>
          </p:cNvSpPr>
          <p:nvPr/>
        </p:nvSpPr>
        <p:spPr>
          <a:xfrm>
            <a:off x="466725" y="2162175"/>
            <a:ext cx="4000500" cy="400050"/>
          </a:xfrm>
          <a:prstGeom prst="rect">
            <a:avLst/>
          </a:prstGeom>
          <a:noFill/>
          <a:ln w="0">
            <a:noFill/>
            <a:prstDash val="solid"/>
          </a:ln>
        </p:spPr>
        <p:txBody>
          <a:bodyPr lIns="0" tIns="0" rIns="0" bIns="0" anchor="t">
            <a:normAutofit/>
          </a:bodyPr>
          <a:lstStyle/>
          <a:p>
            <a:pPr algn="ctr">
              <a:defRPr sz="2250" b="1">
                <a:solidFill>
                  <a:srgbClr val="156082"/>
                </a:solidFill>
                <a:latin typeface="Aptos"/>
                <a:ea typeface="Aptos"/>
                <a:cs typeface="Aptos"/>
              </a:defRPr>
            </a:pPr>
            <a:r>
              <a:rPr sz="2250" b="1" dirty="0" err="1">
                <a:solidFill>
                  <a:srgbClr val="156082"/>
                </a:solidFill>
                <a:latin typeface="Aptos"/>
                <a:ea typeface="Aptos"/>
                <a:cs typeface="Aptos"/>
              </a:rPr>
              <a:t>XGBoost</a:t>
            </a:r>
            <a:endParaRPr sz="2250" b="1" dirty="0">
              <a:solidFill>
                <a:srgbClr val="156082"/>
              </a:solidFill>
              <a:latin typeface="Aptos"/>
              <a:ea typeface="Aptos"/>
              <a:cs typeface="Aptos"/>
            </a:endParaRPr>
          </a:p>
        </p:txBody>
      </p:sp>
      <p:sp>
        <p:nvSpPr>
          <p:cNvPr id="6" name="rf-label">
            <a:extLst>
              <a:ext uri="{FF2B5EF4-FFF2-40B4-BE49-F238E27FC236}">
                <a16:creationId xmlns:a16="http://schemas.microsoft.com/office/drawing/2014/main" id="{2191D3BC-B1E0-4E33-9080-7371610BFA66}"/>
              </a:ext>
            </a:extLst>
          </p:cNvPr>
          <p:cNvSpPr>
            <a:spLocks noGrp="1"/>
          </p:cNvSpPr>
          <p:nvPr/>
        </p:nvSpPr>
        <p:spPr>
          <a:xfrm>
            <a:off x="7667624" y="2228850"/>
            <a:ext cx="4000500" cy="400050"/>
          </a:xfrm>
          <a:prstGeom prst="rect">
            <a:avLst/>
          </a:prstGeom>
          <a:noFill/>
          <a:ln w="0">
            <a:noFill/>
            <a:prstDash val="solid"/>
          </a:ln>
        </p:spPr>
        <p:txBody>
          <a:bodyPr lIns="0" tIns="0" rIns="0" bIns="0" anchor="t">
            <a:normAutofit/>
          </a:bodyPr>
          <a:lstStyle/>
          <a:p>
            <a:pPr algn="ctr">
              <a:defRPr sz="2250" b="1">
                <a:solidFill>
                  <a:srgbClr val="E97132"/>
                </a:solidFill>
                <a:latin typeface="Aptos"/>
                <a:ea typeface="Aptos"/>
                <a:cs typeface="Aptos"/>
              </a:defRPr>
            </a:pPr>
            <a:r>
              <a:rPr sz="2250" b="1" dirty="0">
                <a:solidFill>
                  <a:srgbClr val="E97132"/>
                </a:solidFill>
                <a:latin typeface="Aptos"/>
                <a:ea typeface="Aptos"/>
                <a:cs typeface="Aptos"/>
              </a:rPr>
              <a:t>Random Forest</a:t>
            </a:r>
          </a:p>
        </p:txBody>
      </p:sp>
      <p:sp>
        <p:nvSpPr>
          <p:cNvPr id="7" name="metric-left-R2">
            <a:extLst>
              <a:ext uri="{FF2B5EF4-FFF2-40B4-BE49-F238E27FC236}">
                <a16:creationId xmlns:a16="http://schemas.microsoft.com/office/drawing/2014/main" id="{1FBB95F3-411E-4FD1-AE2A-7AF45B485471}"/>
              </a:ext>
            </a:extLst>
          </p:cNvPr>
          <p:cNvSpPr>
            <a:spLocks noGrp="1"/>
          </p:cNvSpPr>
          <p:nvPr/>
        </p:nvSpPr>
        <p:spPr>
          <a:xfrm>
            <a:off x="1466850" y="2781300"/>
            <a:ext cx="2000250" cy="476250"/>
          </a:xfrm>
          <a:prstGeom prst="rect">
            <a:avLst/>
          </a:prstGeom>
          <a:noFill/>
          <a:ln w="0">
            <a:noFill/>
            <a:prstDash val="solid"/>
          </a:ln>
        </p:spPr>
        <p:txBody>
          <a:bodyPr lIns="0" tIns="0" rIns="0" bIns="0" anchor="ctr">
            <a:normAutofit/>
          </a:bodyPr>
          <a:lstStyle/>
          <a:p>
            <a:pPr algn="ctr">
              <a:defRPr sz="2550" b="1">
                <a:solidFill>
                  <a:srgbClr val="156082"/>
                </a:solidFill>
                <a:latin typeface="Aptos"/>
                <a:ea typeface="Aptos"/>
                <a:cs typeface="Aptos"/>
              </a:defRPr>
            </a:pPr>
            <a:r>
              <a:rPr sz="2550" b="1">
                <a:solidFill>
                  <a:srgbClr val="156082"/>
                </a:solidFill>
                <a:latin typeface="Aptos"/>
                <a:ea typeface="Aptos"/>
                <a:cs typeface="Aptos"/>
              </a:rPr>
              <a:t>0.812</a:t>
            </a:r>
          </a:p>
        </p:txBody>
      </p:sp>
      <p:sp>
        <p:nvSpPr>
          <p:cNvPr id="8" name="metric-name-R2">
            <a:extLst>
              <a:ext uri="{FF2B5EF4-FFF2-40B4-BE49-F238E27FC236}">
                <a16:creationId xmlns:a16="http://schemas.microsoft.com/office/drawing/2014/main" id="{AAC73B9D-0230-42A9-908B-55670D539259}"/>
              </a:ext>
            </a:extLst>
          </p:cNvPr>
          <p:cNvSpPr>
            <a:spLocks noGrp="1"/>
          </p:cNvSpPr>
          <p:nvPr/>
        </p:nvSpPr>
        <p:spPr>
          <a:xfrm>
            <a:off x="4845050" y="2749550"/>
            <a:ext cx="2286000" cy="285750"/>
          </a:xfrm>
          <a:prstGeom prst="rect">
            <a:avLst/>
          </a:prstGeom>
          <a:noFill/>
          <a:ln w="0">
            <a:noFill/>
            <a:prstDash val="solid"/>
          </a:ln>
        </p:spPr>
        <p:txBody>
          <a:bodyPr lIns="0" tIns="0" rIns="0" bIns="0" anchor="t">
            <a:normAutofit/>
          </a:bodyPr>
          <a:lstStyle/>
          <a:p>
            <a:pPr algn="ctr">
              <a:defRPr sz="1500" b="1">
                <a:solidFill>
                  <a:srgbClr val="0E2841"/>
                </a:solidFill>
                <a:latin typeface="Aptos"/>
                <a:ea typeface="Aptos"/>
                <a:cs typeface="Aptos"/>
              </a:defRPr>
            </a:pPr>
            <a:r>
              <a:rPr b="1" dirty="0">
                <a:solidFill>
                  <a:srgbClr val="0E2841"/>
                </a:solidFill>
                <a:latin typeface="Aptos"/>
                <a:ea typeface="Aptos"/>
                <a:cs typeface="Aptos"/>
              </a:rPr>
              <a:t>R2</a:t>
            </a:r>
          </a:p>
        </p:txBody>
      </p:sp>
      <p:sp>
        <p:nvSpPr>
          <p:cNvPr id="9" name="metric-readout-R2">
            <a:extLst>
              <a:ext uri="{FF2B5EF4-FFF2-40B4-BE49-F238E27FC236}">
                <a16:creationId xmlns:a16="http://schemas.microsoft.com/office/drawing/2014/main" id="{F0CC1B53-5EFD-41E1-BD77-70FEB4A01749}"/>
              </a:ext>
            </a:extLst>
          </p:cNvPr>
          <p:cNvSpPr>
            <a:spLocks noGrp="1"/>
          </p:cNvSpPr>
          <p:nvPr/>
        </p:nvSpPr>
        <p:spPr>
          <a:xfrm>
            <a:off x="4654550" y="3025775"/>
            <a:ext cx="2667000" cy="247650"/>
          </a:xfrm>
          <a:prstGeom prst="rect">
            <a:avLst/>
          </a:prstGeom>
          <a:noFill/>
          <a:ln w="0">
            <a:noFill/>
            <a:prstDash val="solid"/>
          </a:ln>
        </p:spPr>
        <p:txBody>
          <a:bodyPr lIns="0" tIns="0" rIns="0" bIns="0" anchor="t">
            <a:normAutofit/>
          </a:bodyPr>
          <a:lstStyle/>
          <a:p>
            <a:pPr algn="ctr">
              <a:defRPr sz="1200">
                <a:solidFill>
                  <a:srgbClr val="5B6770"/>
                </a:solidFill>
                <a:latin typeface="Aptos"/>
                <a:ea typeface="Aptos"/>
                <a:cs typeface="Aptos"/>
              </a:defRPr>
            </a:pPr>
            <a:r>
              <a:rPr lang="en-US" sz="1600" dirty="0" err="1">
                <a:solidFill>
                  <a:srgbClr val="5B6770"/>
                </a:solidFill>
                <a:latin typeface="Aptos"/>
                <a:ea typeface="Aptos"/>
                <a:cs typeface="Aptos"/>
              </a:rPr>
              <a:t>XGBoost</a:t>
            </a:r>
            <a:r>
              <a:rPr lang="en-US" sz="1600" dirty="0">
                <a:solidFill>
                  <a:srgbClr val="5B6770"/>
                </a:solidFill>
                <a:latin typeface="Aptos"/>
                <a:ea typeface="Aptos"/>
                <a:cs typeface="Aptos"/>
              </a:rPr>
              <a:t> </a:t>
            </a:r>
            <a:r>
              <a:rPr sz="1600" dirty="0">
                <a:solidFill>
                  <a:srgbClr val="5B6770"/>
                </a:solidFill>
                <a:latin typeface="Aptos"/>
                <a:ea typeface="Aptos"/>
                <a:cs typeface="Aptos"/>
              </a:rPr>
              <a:t>+0.063</a:t>
            </a:r>
          </a:p>
        </p:txBody>
      </p:sp>
      <p:sp>
        <p:nvSpPr>
          <p:cNvPr id="10" name="metric-right-R2">
            <a:extLst>
              <a:ext uri="{FF2B5EF4-FFF2-40B4-BE49-F238E27FC236}">
                <a16:creationId xmlns:a16="http://schemas.microsoft.com/office/drawing/2014/main" id="{370F35E4-45DC-45E0-A74B-70EBEB2C1EE1}"/>
              </a:ext>
            </a:extLst>
          </p:cNvPr>
          <p:cNvSpPr>
            <a:spLocks noGrp="1"/>
          </p:cNvSpPr>
          <p:nvPr/>
        </p:nvSpPr>
        <p:spPr>
          <a:xfrm>
            <a:off x="8724900" y="2781300"/>
            <a:ext cx="2000250" cy="476250"/>
          </a:xfrm>
          <a:prstGeom prst="rect">
            <a:avLst/>
          </a:prstGeom>
          <a:noFill/>
          <a:ln w="0">
            <a:noFill/>
            <a:prstDash val="solid"/>
          </a:ln>
        </p:spPr>
        <p:txBody>
          <a:bodyPr lIns="0" tIns="0" rIns="0" bIns="0" anchor="ctr">
            <a:normAutofit/>
          </a:bodyPr>
          <a:lstStyle/>
          <a:p>
            <a:pPr algn="ctr">
              <a:defRPr sz="2550" b="1">
                <a:solidFill>
                  <a:srgbClr val="E97132"/>
                </a:solidFill>
                <a:latin typeface="Aptos"/>
                <a:ea typeface="Aptos"/>
                <a:cs typeface="Aptos"/>
              </a:defRPr>
            </a:pPr>
            <a:r>
              <a:rPr sz="2550" b="1">
                <a:solidFill>
                  <a:srgbClr val="E97132"/>
                </a:solidFill>
                <a:latin typeface="Aptos"/>
                <a:ea typeface="Aptos"/>
                <a:cs typeface="Aptos"/>
              </a:rPr>
              <a:t>0.749</a:t>
            </a:r>
          </a:p>
        </p:txBody>
      </p:sp>
      <p:sp>
        <p:nvSpPr>
          <p:cNvPr id="11" name="metric-left-RMSE">
            <a:extLst>
              <a:ext uri="{FF2B5EF4-FFF2-40B4-BE49-F238E27FC236}">
                <a16:creationId xmlns:a16="http://schemas.microsoft.com/office/drawing/2014/main" id="{090B2C4A-6E52-4C47-8E5D-419E41F649FD}"/>
              </a:ext>
            </a:extLst>
          </p:cNvPr>
          <p:cNvSpPr>
            <a:spLocks noGrp="1"/>
          </p:cNvSpPr>
          <p:nvPr/>
        </p:nvSpPr>
        <p:spPr>
          <a:xfrm>
            <a:off x="1466850" y="3524250"/>
            <a:ext cx="2000250" cy="476250"/>
          </a:xfrm>
          <a:prstGeom prst="rect">
            <a:avLst/>
          </a:prstGeom>
          <a:noFill/>
          <a:ln w="0">
            <a:noFill/>
            <a:prstDash val="solid"/>
          </a:ln>
        </p:spPr>
        <p:txBody>
          <a:bodyPr lIns="0" tIns="0" rIns="0" bIns="0" anchor="ctr">
            <a:normAutofit/>
          </a:bodyPr>
          <a:lstStyle/>
          <a:p>
            <a:pPr algn="ctr">
              <a:defRPr sz="2550" b="1">
                <a:solidFill>
                  <a:srgbClr val="156082"/>
                </a:solidFill>
                <a:latin typeface="Aptos"/>
                <a:ea typeface="Aptos"/>
                <a:cs typeface="Aptos"/>
              </a:defRPr>
            </a:pPr>
            <a:r>
              <a:rPr sz="2550" b="1">
                <a:solidFill>
                  <a:srgbClr val="156082"/>
                </a:solidFill>
                <a:latin typeface="Aptos"/>
                <a:ea typeface="Aptos"/>
                <a:cs typeface="Aptos"/>
              </a:rPr>
              <a:t>$667K</a:t>
            </a:r>
          </a:p>
        </p:txBody>
      </p:sp>
      <p:sp>
        <p:nvSpPr>
          <p:cNvPr id="12" name="metric-name-RMSE">
            <a:extLst>
              <a:ext uri="{FF2B5EF4-FFF2-40B4-BE49-F238E27FC236}">
                <a16:creationId xmlns:a16="http://schemas.microsoft.com/office/drawing/2014/main" id="{CA25B121-AB37-4354-9715-929B1C423F76}"/>
              </a:ext>
            </a:extLst>
          </p:cNvPr>
          <p:cNvSpPr>
            <a:spLocks noGrp="1"/>
          </p:cNvSpPr>
          <p:nvPr/>
        </p:nvSpPr>
        <p:spPr>
          <a:xfrm>
            <a:off x="4845050" y="3492500"/>
            <a:ext cx="2286000" cy="285750"/>
          </a:xfrm>
          <a:prstGeom prst="rect">
            <a:avLst/>
          </a:prstGeom>
          <a:noFill/>
          <a:ln w="0">
            <a:noFill/>
            <a:prstDash val="solid"/>
          </a:ln>
        </p:spPr>
        <p:txBody>
          <a:bodyPr lIns="0" tIns="0" rIns="0" bIns="0" anchor="t">
            <a:normAutofit/>
          </a:bodyPr>
          <a:lstStyle/>
          <a:p>
            <a:pPr algn="ctr">
              <a:defRPr sz="1500" b="1">
                <a:solidFill>
                  <a:srgbClr val="0E2841"/>
                </a:solidFill>
                <a:latin typeface="Aptos"/>
                <a:ea typeface="Aptos"/>
                <a:cs typeface="Aptos"/>
              </a:defRPr>
            </a:pPr>
            <a:r>
              <a:rPr b="1">
                <a:solidFill>
                  <a:srgbClr val="0E2841"/>
                </a:solidFill>
                <a:latin typeface="Aptos"/>
                <a:ea typeface="Aptos"/>
                <a:cs typeface="Aptos"/>
              </a:rPr>
              <a:t>RMSE</a:t>
            </a:r>
          </a:p>
        </p:txBody>
      </p:sp>
      <p:sp>
        <p:nvSpPr>
          <p:cNvPr id="13" name="metric-readout-RMSE">
            <a:extLst>
              <a:ext uri="{FF2B5EF4-FFF2-40B4-BE49-F238E27FC236}">
                <a16:creationId xmlns:a16="http://schemas.microsoft.com/office/drawing/2014/main" id="{A620C444-73EB-479E-8A3C-EBD52427FA05}"/>
              </a:ext>
            </a:extLst>
          </p:cNvPr>
          <p:cNvSpPr>
            <a:spLocks noGrp="1"/>
          </p:cNvSpPr>
          <p:nvPr/>
        </p:nvSpPr>
        <p:spPr>
          <a:xfrm>
            <a:off x="4654550" y="3768725"/>
            <a:ext cx="2667000" cy="247650"/>
          </a:xfrm>
          <a:prstGeom prst="rect">
            <a:avLst/>
          </a:prstGeom>
          <a:noFill/>
          <a:ln w="0">
            <a:noFill/>
            <a:prstDash val="solid"/>
          </a:ln>
        </p:spPr>
        <p:txBody>
          <a:bodyPr lIns="0" tIns="0" rIns="0" bIns="0" anchor="t">
            <a:normAutofit/>
          </a:bodyPr>
          <a:lstStyle/>
          <a:p>
            <a:pPr algn="ctr">
              <a:defRPr sz="1200">
                <a:solidFill>
                  <a:srgbClr val="5B6770"/>
                </a:solidFill>
                <a:latin typeface="Aptos"/>
                <a:ea typeface="Aptos"/>
                <a:cs typeface="Aptos"/>
              </a:defRPr>
            </a:pPr>
            <a:r>
              <a:rPr lang="en-US" sz="1600" dirty="0" err="1">
                <a:solidFill>
                  <a:srgbClr val="5B6770"/>
                </a:solidFill>
                <a:latin typeface="Aptos"/>
                <a:ea typeface="Aptos"/>
                <a:cs typeface="Aptos"/>
              </a:rPr>
              <a:t>XGBoost</a:t>
            </a:r>
            <a:r>
              <a:rPr lang="en-US" sz="1600" dirty="0">
                <a:solidFill>
                  <a:srgbClr val="5B6770"/>
                </a:solidFill>
                <a:latin typeface="Aptos"/>
                <a:ea typeface="Aptos"/>
                <a:cs typeface="Aptos"/>
              </a:rPr>
              <a:t> </a:t>
            </a:r>
            <a:r>
              <a:rPr sz="1600" dirty="0">
                <a:solidFill>
                  <a:srgbClr val="5B6770"/>
                </a:solidFill>
                <a:latin typeface="Aptos"/>
                <a:ea typeface="Aptos"/>
                <a:cs typeface="Aptos"/>
              </a:rPr>
              <a:t>$103K lower</a:t>
            </a:r>
          </a:p>
        </p:txBody>
      </p:sp>
      <p:sp>
        <p:nvSpPr>
          <p:cNvPr id="14" name="metric-right-RMSE">
            <a:extLst>
              <a:ext uri="{FF2B5EF4-FFF2-40B4-BE49-F238E27FC236}">
                <a16:creationId xmlns:a16="http://schemas.microsoft.com/office/drawing/2014/main" id="{F1A19475-C3FD-4983-8345-520BFEA56BDC}"/>
              </a:ext>
            </a:extLst>
          </p:cNvPr>
          <p:cNvSpPr>
            <a:spLocks noGrp="1"/>
          </p:cNvSpPr>
          <p:nvPr/>
        </p:nvSpPr>
        <p:spPr>
          <a:xfrm>
            <a:off x="8724900" y="3524250"/>
            <a:ext cx="2000250" cy="476250"/>
          </a:xfrm>
          <a:prstGeom prst="rect">
            <a:avLst/>
          </a:prstGeom>
          <a:noFill/>
          <a:ln w="0">
            <a:noFill/>
            <a:prstDash val="solid"/>
          </a:ln>
        </p:spPr>
        <p:txBody>
          <a:bodyPr lIns="0" tIns="0" rIns="0" bIns="0" anchor="ctr">
            <a:normAutofit/>
          </a:bodyPr>
          <a:lstStyle/>
          <a:p>
            <a:pPr algn="ctr">
              <a:defRPr sz="2550" b="1">
                <a:solidFill>
                  <a:srgbClr val="E97132"/>
                </a:solidFill>
                <a:latin typeface="Aptos"/>
                <a:ea typeface="Aptos"/>
                <a:cs typeface="Aptos"/>
              </a:defRPr>
            </a:pPr>
            <a:r>
              <a:rPr sz="2550" b="1">
                <a:solidFill>
                  <a:srgbClr val="E97132"/>
                </a:solidFill>
                <a:latin typeface="Aptos"/>
                <a:ea typeface="Aptos"/>
                <a:cs typeface="Aptos"/>
              </a:rPr>
              <a:t>$770K</a:t>
            </a:r>
          </a:p>
        </p:txBody>
      </p:sp>
      <p:sp>
        <p:nvSpPr>
          <p:cNvPr id="15" name="metric-left-MdAPE">
            <a:extLst>
              <a:ext uri="{FF2B5EF4-FFF2-40B4-BE49-F238E27FC236}">
                <a16:creationId xmlns:a16="http://schemas.microsoft.com/office/drawing/2014/main" id="{9238F1C7-0E1E-45D1-B611-46DC900D808F}"/>
              </a:ext>
            </a:extLst>
          </p:cNvPr>
          <p:cNvSpPr>
            <a:spLocks noGrp="1"/>
          </p:cNvSpPr>
          <p:nvPr/>
        </p:nvSpPr>
        <p:spPr>
          <a:xfrm>
            <a:off x="1466850" y="4267200"/>
            <a:ext cx="2000250" cy="476250"/>
          </a:xfrm>
          <a:prstGeom prst="rect">
            <a:avLst/>
          </a:prstGeom>
          <a:noFill/>
          <a:ln w="0">
            <a:noFill/>
            <a:prstDash val="solid"/>
          </a:ln>
        </p:spPr>
        <p:txBody>
          <a:bodyPr lIns="0" tIns="0" rIns="0" bIns="0" anchor="ctr">
            <a:normAutofit/>
          </a:bodyPr>
          <a:lstStyle/>
          <a:p>
            <a:pPr algn="ctr">
              <a:defRPr sz="2550" b="1">
                <a:solidFill>
                  <a:srgbClr val="156082"/>
                </a:solidFill>
                <a:latin typeface="Aptos"/>
                <a:ea typeface="Aptos"/>
                <a:cs typeface="Aptos"/>
              </a:defRPr>
            </a:pPr>
            <a:r>
              <a:rPr sz="2550" b="1">
                <a:solidFill>
                  <a:srgbClr val="156082"/>
                </a:solidFill>
                <a:latin typeface="Aptos"/>
                <a:ea typeface="Aptos"/>
                <a:cs typeface="Aptos"/>
              </a:rPr>
              <a:t>11.8%</a:t>
            </a:r>
          </a:p>
        </p:txBody>
      </p:sp>
      <p:sp>
        <p:nvSpPr>
          <p:cNvPr id="16" name="metric-name-MdAPE">
            <a:extLst>
              <a:ext uri="{FF2B5EF4-FFF2-40B4-BE49-F238E27FC236}">
                <a16:creationId xmlns:a16="http://schemas.microsoft.com/office/drawing/2014/main" id="{F4CE3C29-B683-4D2D-8577-6EF605394C0D}"/>
              </a:ext>
            </a:extLst>
          </p:cNvPr>
          <p:cNvSpPr>
            <a:spLocks noGrp="1"/>
          </p:cNvSpPr>
          <p:nvPr/>
        </p:nvSpPr>
        <p:spPr>
          <a:xfrm>
            <a:off x="4845050" y="4235450"/>
            <a:ext cx="2286000" cy="285750"/>
          </a:xfrm>
          <a:prstGeom prst="rect">
            <a:avLst/>
          </a:prstGeom>
          <a:noFill/>
          <a:ln w="0">
            <a:noFill/>
            <a:prstDash val="solid"/>
          </a:ln>
        </p:spPr>
        <p:txBody>
          <a:bodyPr lIns="0" tIns="0" rIns="0" bIns="0" anchor="t">
            <a:normAutofit/>
          </a:bodyPr>
          <a:lstStyle/>
          <a:p>
            <a:pPr algn="ctr">
              <a:defRPr sz="1500" b="1">
                <a:solidFill>
                  <a:srgbClr val="0E2841"/>
                </a:solidFill>
                <a:latin typeface="Aptos"/>
                <a:ea typeface="Aptos"/>
                <a:cs typeface="Aptos"/>
              </a:defRPr>
            </a:pPr>
            <a:r>
              <a:rPr b="1">
                <a:solidFill>
                  <a:srgbClr val="0E2841"/>
                </a:solidFill>
                <a:latin typeface="Aptos"/>
                <a:ea typeface="Aptos"/>
                <a:cs typeface="Aptos"/>
              </a:rPr>
              <a:t>MdAPE</a:t>
            </a:r>
          </a:p>
        </p:txBody>
      </p:sp>
      <p:sp>
        <p:nvSpPr>
          <p:cNvPr id="17" name="metric-readout-MdAPE">
            <a:extLst>
              <a:ext uri="{FF2B5EF4-FFF2-40B4-BE49-F238E27FC236}">
                <a16:creationId xmlns:a16="http://schemas.microsoft.com/office/drawing/2014/main" id="{B8A53BBF-926D-485B-8C21-115FFC6F1E8E}"/>
              </a:ext>
            </a:extLst>
          </p:cNvPr>
          <p:cNvSpPr>
            <a:spLocks noGrp="1"/>
          </p:cNvSpPr>
          <p:nvPr/>
        </p:nvSpPr>
        <p:spPr>
          <a:xfrm>
            <a:off x="4654550" y="4511675"/>
            <a:ext cx="2667000" cy="247650"/>
          </a:xfrm>
          <a:prstGeom prst="rect">
            <a:avLst/>
          </a:prstGeom>
          <a:noFill/>
          <a:ln w="0">
            <a:noFill/>
            <a:prstDash val="solid"/>
          </a:ln>
        </p:spPr>
        <p:txBody>
          <a:bodyPr lIns="0" tIns="0" rIns="0" bIns="0" anchor="t">
            <a:normAutofit/>
          </a:bodyPr>
          <a:lstStyle/>
          <a:p>
            <a:pPr algn="ctr">
              <a:defRPr sz="1200">
                <a:solidFill>
                  <a:srgbClr val="5B6770"/>
                </a:solidFill>
                <a:latin typeface="Aptos"/>
                <a:ea typeface="Aptos"/>
                <a:cs typeface="Aptos"/>
              </a:defRPr>
            </a:pPr>
            <a:r>
              <a:rPr lang="en-US" sz="1600" dirty="0">
                <a:solidFill>
                  <a:srgbClr val="5B6770"/>
                </a:solidFill>
                <a:latin typeface="Aptos"/>
                <a:ea typeface="Aptos"/>
                <a:cs typeface="Aptos"/>
              </a:rPr>
              <a:t>RF </a:t>
            </a:r>
            <a:r>
              <a:rPr sz="1600" dirty="0">
                <a:solidFill>
                  <a:srgbClr val="5B6770"/>
                </a:solidFill>
                <a:latin typeface="Aptos"/>
                <a:ea typeface="Aptos"/>
                <a:cs typeface="Aptos"/>
              </a:rPr>
              <a:t>2.6</a:t>
            </a:r>
            <a:r>
              <a:rPr lang="en-US" sz="1600" dirty="0">
                <a:solidFill>
                  <a:srgbClr val="5B6770"/>
                </a:solidFill>
                <a:latin typeface="Aptos"/>
                <a:ea typeface="Aptos"/>
                <a:cs typeface="Aptos"/>
              </a:rPr>
              <a:t>% </a:t>
            </a:r>
            <a:r>
              <a:rPr sz="1600" dirty="0">
                <a:solidFill>
                  <a:srgbClr val="5B6770"/>
                </a:solidFill>
                <a:latin typeface="Aptos"/>
                <a:ea typeface="Aptos"/>
                <a:cs typeface="Aptos"/>
              </a:rPr>
              <a:t>lowe</a:t>
            </a:r>
            <a:r>
              <a:rPr lang="en-US" sz="1600" dirty="0">
                <a:solidFill>
                  <a:srgbClr val="5B6770"/>
                </a:solidFill>
                <a:latin typeface="Aptos"/>
                <a:ea typeface="Aptos"/>
                <a:cs typeface="Aptos"/>
              </a:rPr>
              <a:t>r</a:t>
            </a:r>
            <a:endParaRPr sz="1600" dirty="0">
              <a:solidFill>
                <a:srgbClr val="5B6770"/>
              </a:solidFill>
              <a:latin typeface="Aptos"/>
              <a:ea typeface="Aptos"/>
              <a:cs typeface="Aptos"/>
            </a:endParaRPr>
          </a:p>
        </p:txBody>
      </p:sp>
      <p:sp>
        <p:nvSpPr>
          <p:cNvPr id="18" name="metric-right-MdAPE">
            <a:extLst>
              <a:ext uri="{FF2B5EF4-FFF2-40B4-BE49-F238E27FC236}">
                <a16:creationId xmlns:a16="http://schemas.microsoft.com/office/drawing/2014/main" id="{D86F67D8-F943-4B1B-ADB6-43C0E281778B}"/>
              </a:ext>
            </a:extLst>
          </p:cNvPr>
          <p:cNvSpPr>
            <a:spLocks noGrp="1"/>
          </p:cNvSpPr>
          <p:nvPr/>
        </p:nvSpPr>
        <p:spPr>
          <a:xfrm>
            <a:off x="8724900" y="4267200"/>
            <a:ext cx="2000250" cy="476250"/>
          </a:xfrm>
          <a:prstGeom prst="rect">
            <a:avLst/>
          </a:prstGeom>
          <a:noFill/>
          <a:ln w="0">
            <a:noFill/>
            <a:prstDash val="solid"/>
          </a:ln>
        </p:spPr>
        <p:txBody>
          <a:bodyPr lIns="0" tIns="0" rIns="0" bIns="0" anchor="ctr">
            <a:normAutofit/>
          </a:bodyPr>
          <a:lstStyle/>
          <a:p>
            <a:pPr algn="ctr">
              <a:defRPr sz="2550" b="1">
                <a:solidFill>
                  <a:srgbClr val="E97132"/>
                </a:solidFill>
                <a:latin typeface="Aptos"/>
                <a:ea typeface="Aptos"/>
                <a:cs typeface="Aptos"/>
              </a:defRPr>
            </a:pPr>
            <a:r>
              <a:rPr sz="2550" b="1">
                <a:solidFill>
                  <a:srgbClr val="E97132"/>
                </a:solidFill>
                <a:latin typeface="Aptos"/>
                <a:ea typeface="Aptos"/>
                <a:cs typeface="Aptos"/>
              </a:rPr>
              <a:t>9.1%</a:t>
            </a:r>
          </a:p>
        </p:txBody>
      </p:sp>
      <p:sp>
        <p:nvSpPr>
          <p:cNvPr id="19" name="tradeoff-decision-bar">
            <a:extLst>
              <a:ext uri="{FF2B5EF4-FFF2-40B4-BE49-F238E27FC236}">
                <a16:creationId xmlns:a16="http://schemas.microsoft.com/office/drawing/2014/main" id="{BD929151-3885-4F59-B535-3258C614D116}"/>
              </a:ext>
            </a:extLst>
          </p:cNvPr>
          <p:cNvSpPr>
            <a:spLocks noGrp="1"/>
          </p:cNvSpPr>
          <p:nvPr/>
        </p:nvSpPr>
        <p:spPr>
          <a:xfrm>
            <a:off x="914400" y="5276850"/>
            <a:ext cx="76200" cy="723900"/>
          </a:xfrm>
          <a:prstGeom prst="rect">
            <a:avLst/>
          </a:prstGeom>
          <a:solidFill>
            <a:srgbClr val="156082"/>
          </a:solidFill>
          <a:ln w="0">
            <a:noFill/>
            <a:prstDash val="solid"/>
          </a:ln>
        </p:spPr>
        <p:txBody>
          <a:bodyPr/>
          <a:lstStyle/>
          <a:p>
            <a:endParaRPr lang="en-US"/>
          </a:p>
        </p:txBody>
      </p:sp>
      <p:sp>
        <p:nvSpPr>
          <p:cNvPr id="20" name="tradeoff-decision">
            <a:extLst>
              <a:ext uri="{FF2B5EF4-FFF2-40B4-BE49-F238E27FC236}">
                <a16:creationId xmlns:a16="http://schemas.microsoft.com/office/drawing/2014/main" id="{263774D6-5866-4083-806B-85D3D95B0F7B}"/>
              </a:ext>
            </a:extLst>
          </p:cNvPr>
          <p:cNvSpPr>
            <a:spLocks noGrp="1"/>
          </p:cNvSpPr>
          <p:nvPr/>
        </p:nvSpPr>
        <p:spPr>
          <a:xfrm>
            <a:off x="1143000" y="5219700"/>
            <a:ext cx="10134600" cy="838200"/>
          </a:xfrm>
          <a:prstGeom prst="rect">
            <a:avLst/>
          </a:prstGeom>
          <a:noFill/>
          <a:ln w="0">
            <a:noFill/>
            <a:prstDash val="solid"/>
          </a:ln>
        </p:spPr>
        <p:txBody>
          <a:bodyPr lIns="0" tIns="0" rIns="0" bIns="0" anchor="ctr">
            <a:normAutofit/>
          </a:bodyPr>
          <a:lstStyle/>
          <a:p>
            <a:pPr>
              <a:defRPr sz="1500" b="1">
                <a:solidFill>
                  <a:srgbClr val="0E2841"/>
                </a:solidFill>
                <a:latin typeface="Aptos"/>
                <a:ea typeface="Aptos"/>
                <a:cs typeface="Aptos"/>
              </a:defRPr>
            </a:pPr>
            <a:r>
              <a:rPr sz="1500" b="1">
                <a:solidFill>
                  <a:srgbClr val="0E2841"/>
                </a:solidFill>
                <a:latin typeface="Aptos"/>
                <a:ea typeface="Aptos"/>
                <a:cs typeface="Aptos"/>
              </a:rPr>
              <a:t>Decision: use XGBoost as the primary statewide candidate for explained variation and large-miss control; keep Random Forest as the benchmark (or ensemble candidate) for typical percentage accuracy.</a:t>
            </a:r>
          </a:p>
        </p:txBody>
      </p:sp>
    </p:spTree>
    <p:extLst>
      <p:ext uri="{BB962C8B-B14F-4D97-AF65-F5344CB8AC3E}">
        <p14:creationId xmlns:p14="http://schemas.microsoft.com/office/powerpoint/2010/main" val="1169435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05404-E522-B43E-E67E-BEF84A02FDA1}"/>
              </a:ext>
            </a:extLst>
          </p:cNvPr>
          <p:cNvSpPr>
            <a:spLocks noGrp="1"/>
          </p:cNvSpPr>
          <p:nvPr>
            <p:ph type="title"/>
          </p:nvPr>
        </p:nvSpPr>
        <p:spPr/>
        <p:txBody>
          <a:bodyPr/>
          <a:lstStyle/>
          <a:p>
            <a:r>
              <a:rPr lang="en-US"/>
              <a:t>Best Model </a:t>
            </a:r>
          </a:p>
        </p:txBody>
      </p:sp>
      <p:sp>
        <p:nvSpPr>
          <p:cNvPr id="3" name="Content Placeholder 2">
            <a:extLst>
              <a:ext uri="{FF2B5EF4-FFF2-40B4-BE49-F238E27FC236}">
                <a16:creationId xmlns:a16="http://schemas.microsoft.com/office/drawing/2014/main" id="{61D91C95-2ACD-FDEF-3FBD-24DFA042D16F}"/>
              </a:ext>
            </a:extLst>
          </p:cNvPr>
          <p:cNvSpPr>
            <a:spLocks noGrp="1"/>
          </p:cNvSpPr>
          <p:nvPr>
            <p:ph idx="1"/>
          </p:nvPr>
        </p:nvSpPr>
        <p:spPr/>
        <p:txBody>
          <a:bodyPr vert="horz" lIns="91440" tIns="45720" rIns="91440" bIns="45720" rtlCol="0" anchor="t">
            <a:normAutofit/>
          </a:bodyPr>
          <a:lstStyle/>
          <a:p>
            <a:r>
              <a:rPr lang="en-US"/>
              <a:t>List each member's best-performing model</a:t>
            </a:r>
          </a:p>
        </p:txBody>
      </p:sp>
    </p:spTree>
    <p:extLst>
      <p:ext uri="{BB962C8B-B14F-4D97-AF65-F5344CB8AC3E}">
        <p14:creationId xmlns:p14="http://schemas.microsoft.com/office/powerpoint/2010/main" val="2154110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719C1-6FCD-E5BB-A052-0583517B8806}"/>
              </a:ext>
            </a:extLst>
          </p:cNvPr>
          <p:cNvSpPr>
            <a:spLocks noGrp="1"/>
          </p:cNvSpPr>
          <p:nvPr>
            <p:ph type="title"/>
          </p:nvPr>
        </p:nvSpPr>
        <p:spPr/>
        <p:txBody>
          <a:bodyPr/>
          <a:lstStyle/>
          <a:p>
            <a:r>
              <a:rPr lang="en-US"/>
              <a:t>Performance By Price Band</a:t>
            </a:r>
          </a:p>
        </p:txBody>
      </p:sp>
      <p:sp>
        <p:nvSpPr>
          <p:cNvPr id="3" name="Content Placeholder 2">
            <a:extLst>
              <a:ext uri="{FF2B5EF4-FFF2-40B4-BE49-F238E27FC236}">
                <a16:creationId xmlns:a16="http://schemas.microsoft.com/office/drawing/2014/main" id="{EEBBF558-8B8E-CEE5-FC59-242E273586F7}"/>
              </a:ext>
            </a:extLst>
          </p:cNvPr>
          <p:cNvSpPr>
            <a:spLocks noGrp="1"/>
          </p:cNvSpPr>
          <p:nvPr>
            <p:ph idx="1"/>
          </p:nvPr>
        </p:nvSpPr>
        <p:spPr/>
        <p:txBody>
          <a:bodyPr vert="horz" lIns="91440" tIns="45720" rIns="91440" bIns="45720" rtlCol="0" anchor="t">
            <a:normAutofit/>
          </a:bodyPr>
          <a:lstStyle/>
          <a:p>
            <a:r>
              <a:rPr lang="en-US"/>
              <a:t>[Can plot a distribution of the group's results]</a:t>
            </a:r>
          </a:p>
          <a:p>
            <a:r>
              <a:rPr lang="en-US"/>
              <a:t>Riva's </a:t>
            </a:r>
            <a:r>
              <a:rPr lang="en-US" err="1"/>
              <a:t>XGBoost</a:t>
            </a:r>
            <a:r>
              <a:rPr lang="en-US"/>
              <a:t> model</a:t>
            </a:r>
          </a:p>
          <a:p>
            <a:endParaRPr lang="en-US"/>
          </a:p>
        </p:txBody>
      </p:sp>
    </p:spTree>
    <p:extLst>
      <p:ext uri="{BB962C8B-B14F-4D97-AF65-F5344CB8AC3E}">
        <p14:creationId xmlns:p14="http://schemas.microsoft.com/office/powerpoint/2010/main" val="226973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8141B-7128-2D33-376E-816E252BB5EE}"/>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1DE15088-D0AD-9D31-AC4F-783ECE5AFCE6}"/>
              </a:ext>
            </a:extLst>
          </p:cNvPr>
          <p:cNvSpPr>
            <a:spLocks noGrp="1"/>
          </p:cNvSpPr>
          <p:nvPr>
            <p:ph idx="1"/>
          </p:nvPr>
        </p:nvSpPr>
        <p:spPr/>
        <p:txBody>
          <a:bodyPr vert="horz" lIns="91440" tIns="45720" rIns="91440" bIns="45720" rtlCol="0" anchor="t">
            <a:normAutofit/>
          </a:bodyPr>
          <a:lstStyle/>
          <a:p>
            <a:r>
              <a:rPr lang="en-US"/>
              <a:t>[Can plot a distribution of the group's results]</a:t>
            </a:r>
          </a:p>
          <a:p>
            <a:endParaRPr lang="en-US"/>
          </a:p>
        </p:txBody>
      </p:sp>
    </p:spTree>
    <p:extLst>
      <p:ext uri="{BB962C8B-B14F-4D97-AF65-F5344CB8AC3E}">
        <p14:creationId xmlns:p14="http://schemas.microsoft.com/office/powerpoint/2010/main" val="1975664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t>1 | Build a trustworthy baseline</a:t>
            </a:r>
          </a:p>
        </p:txBody>
      </p:sp>
      <p:sp>
        <p:nvSpPr>
          <p:cNvPr id="3" name="timeline-subtitle">
            <a:extLst>
              <a:ext uri="{FF2B5EF4-FFF2-40B4-BE49-F238E27FC236}">
                <a16:creationId xmlns:a16="http://schemas.microsoft.com/office/drawing/2014/main" id="{EB01C09E-4401-4408-8B8E-30EB2BB9E229}"/>
              </a:ext>
            </a:extLst>
          </p:cNvPr>
          <p:cNvSpPr>
            <a:spLocks noGrp="1"/>
          </p:cNvSpPr>
          <p:nvPr/>
        </p:nvSpPr>
        <p:spPr>
          <a:xfrm>
            <a:off x="914400" y="1771650"/>
            <a:ext cx="10363200" cy="419100"/>
          </a:xfrm>
          <a:prstGeom prst="rect">
            <a:avLst/>
          </a:prstGeom>
          <a:noFill/>
          <a:ln w="0">
            <a:noFill/>
            <a:prstDash val="solid"/>
          </a:ln>
        </p:spPr>
        <p:txBody>
          <a:bodyPr lIns="0" tIns="0" rIns="0" bIns="0" anchor="t">
            <a:normAutofit/>
          </a:bodyPr>
          <a:lstStyle/>
          <a:p>
            <a:pPr>
              <a:defRPr sz="1725">
                <a:solidFill>
                  <a:srgbClr val="5B6770"/>
                </a:solidFill>
                <a:latin typeface="Aptos"/>
                <a:ea typeface="Aptos"/>
                <a:cs typeface="Aptos"/>
              </a:defRPr>
            </a:pPr>
            <a:r>
              <a:rPr sz="1725">
                <a:solidFill>
                  <a:srgbClr val="5B6770"/>
                </a:solidFill>
                <a:latin typeface="Aptos"/>
                <a:ea typeface="Aptos"/>
                <a:cs typeface="Aptos"/>
              </a:rPr>
              <a:t>We fixed the evaluation rules before optimizing the algorithm.</a:t>
            </a:r>
          </a:p>
        </p:txBody>
      </p:sp>
      <p:sp>
        <p:nvSpPr>
          <p:cNvPr id="4" name="timeline-line">
            <a:extLst>
              <a:ext uri="{FF2B5EF4-FFF2-40B4-BE49-F238E27FC236}">
                <a16:creationId xmlns:a16="http://schemas.microsoft.com/office/drawing/2014/main" id="{03B6E387-CD66-44C9-A8BF-1F54D49F91D8}"/>
              </a:ext>
            </a:extLst>
          </p:cNvPr>
          <p:cNvSpPr>
            <a:spLocks noGrp="1"/>
          </p:cNvSpPr>
          <p:nvPr/>
        </p:nvSpPr>
        <p:spPr>
          <a:xfrm>
            <a:off x="1581150" y="2924175"/>
            <a:ext cx="9029700" cy="38100"/>
          </a:xfrm>
          <a:prstGeom prst="rect">
            <a:avLst/>
          </a:prstGeom>
          <a:solidFill>
            <a:srgbClr val="D9E1E5"/>
          </a:solidFill>
          <a:ln w="0">
            <a:noFill/>
            <a:prstDash val="solid"/>
          </a:ln>
        </p:spPr>
        <p:txBody>
          <a:bodyPr/>
          <a:lstStyle/>
          <a:p>
            <a:endParaRPr lang="en-US"/>
          </a:p>
        </p:txBody>
      </p:sp>
      <p:sp>
        <p:nvSpPr>
          <p:cNvPr id="5" name="marker-1">
            <a:extLst>
              <a:ext uri="{FF2B5EF4-FFF2-40B4-BE49-F238E27FC236}">
                <a16:creationId xmlns:a16="http://schemas.microsoft.com/office/drawing/2014/main" id="{B035EC9C-BFCE-4B0C-9C9C-8CBBF20527A2}"/>
              </a:ext>
            </a:extLst>
          </p:cNvPr>
          <p:cNvSpPr>
            <a:spLocks noGrp="1"/>
          </p:cNvSpPr>
          <p:nvPr/>
        </p:nvSpPr>
        <p:spPr>
          <a:xfrm>
            <a:off x="2343150" y="2752725"/>
            <a:ext cx="381000" cy="381000"/>
          </a:xfrm>
          <a:prstGeom prst="ellipse">
            <a:avLst/>
          </a:prstGeom>
          <a:solidFill>
            <a:srgbClr val="15608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6" name="marker-2">
            <a:extLst>
              <a:ext uri="{FF2B5EF4-FFF2-40B4-BE49-F238E27FC236}">
                <a16:creationId xmlns:a16="http://schemas.microsoft.com/office/drawing/2014/main" id="{0B657C36-DA04-4F36-98B3-4D76A2CDB003}"/>
              </a:ext>
            </a:extLst>
          </p:cNvPr>
          <p:cNvSpPr>
            <a:spLocks noGrp="1"/>
          </p:cNvSpPr>
          <p:nvPr/>
        </p:nvSpPr>
        <p:spPr>
          <a:xfrm>
            <a:off x="5762625" y="2752725"/>
            <a:ext cx="381000" cy="381000"/>
          </a:xfrm>
          <a:prstGeom prst="ellipse">
            <a:avLst/>
          </a:prstGeom>
          <a:solidFill>
            <a:srgbClr val="15608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7" name="marker-3">
            <a:extLst>
              <a:ext uri="{FF2B5EF4-FFF2-40B4-BE49-F238E27FC236}">
                <a16:creationId xmlns:a16="http://schemas.microsoft.com/office/drawing/2014/main" id="{623FB250-307F-42D4-A128-8F124DB338A3}"/>
              </a:ext>
            </a:extLst>
          </p:cNvPr>
          <p:cNvSpPr>
            <a:spLocks noGrp="1"/>
          </p:cNvSpPr>
          <p:nvPr/>
        </p:nvSpPr>
        <p:spPr>
          <a:xfrm>
            <a:off x="9182100" y="2752725"/>
            <a:ext cx="381000" cy="381000"/>
          </a:xfrm>
          <a:prstGeom prst="ellipse">
            <a:avLst/>
          </a:prstGeom>
          <a:solidFill>
            <a:srgbClr val="E9713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8" name="W3 | Clean + split-header">
            <a:extLst>
              <a:ext uri="{FF2B5EF4-FFF2-40B4-BE49-F238E27FC236}">
                <a16:creationId xmlns:a16="http://schemas.microsoft.com/office/drawing/2014/main" id="{8F14196D-247E-4010-A67D-118BD0F0D4A6}"/>
              </a:ext>
            </a:extLst>
          </p:cNvPr>
          <p:cNvSpPr>
            <a:spLocks noGrp="1"/>
          </p:cNvSpPr>
          <p:nvPr/>
        </p:nvSpPr>
        <p:spPr>
          <a:xfrm>
            <a:off x="990600"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dirty="0">
                <a:solidFill>
                  <a:srgbClr val="0E2841"/>
                </a:solidFill>
                <a:latin typeface="Aptos"/>
                <a:ea typeface="Aptos"/>
                <a:cs typeface="Aptos"/>
              </a:rPr>
              <a:t>W3 | Clean + split</a:t>
            </a:r>
          </a:p>
        </p:txBody>
      </p:sp>
      <p:sp>
        <p:nvSpPr>
          <p:cNvPr id="9" name="W3 | Clean + split-body">
            <a:extLst>
              <a:ext uri="{FF2B5EF4-FFF2-40B4-BE49-F238E27FC236}">
                <a16:creationId xmlns:a16="http://schemas.microsoft.com/office/drawing/2014/main" id="{99DEE709-F934-4C46-A71C-8D26D5697E55}"/>
              </a:ext>
            </a:extLst>
          </p:cNvPr>
          <p:cNvSpPr>
            <a:spLocks noGrp="1"/>
          </p:cNvSpPr>
          <p:nvPr/>
        </p:nvSpPr>
        <p:spPr>
          <a:xfrm>
            <a:off x="990600"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CA single-family sales only; invalid values became missing</a:t>
            </a:r>
            <a:r>
              <a:rPr lang="en-US" sz="1425" dirty="0">
                <a:solidFill>
                  <a:srgbClr val="263238"/>
                </a:solidFill>
                <a:latin typeface="Aptos"/>
                <a:ea typeface="Aptos"/>
                <a:cs typeface="Aptos"/>
              </a:rPr>
              <a:t>/got flagged</a:t>
            </a:r>
            <a:r>
              <a:rPr sz="1425" dirty="0">
                <a:solidFill>
                  <a:srgbClr val="263238"/>
                </a:solidFill>
                <a:latin typeface="Aptos"/>
                <a:ea typeface="Aptos"/>
                <a:cs typeface="Aptos"/>
              </a:rPr>
              <a:t>; pricing leakage and IDs were excluded; the latest full month stayed untouched.</a:t>
            </a:r>
          </a:p>
        </p:txBody>
      </p:sp>
      <p:sp>
        <p:nvSpPr>
          <p:cNvPr id="10" name="W3 | Clean + split-metric">
            <a:extLst>
              <a:ext uri="{FF2B5EF4-FFF2-40B4-BE49-F238E27FC236}">
                <a16:creationId xmlns:a16="http://schemas.microsoft.com/office/drawing/2014/main" id="{E7A9C96B-5B81-4435-9663-D3EA1B8CABC6}"/>
              </a:ext>
            </a:extLst>
          </p:cNvPr>
          <p:cNvSpPr>
            <a:spLocks noGrp="1"/>
          </p:cNvSpPr>
          <p:nvPr/>
        </p:nvSpPr>
        <p:spPr>
          <a:xfrm>
            <a:off x="990600" y="4543425"/>
            <a:ext cx="3048000" cy="628650"/>
          </a:xfrm>
          <a:prstGeom prst="rect">
            <a:avLst/>
          </a:prstGeom>
          <a:noFill/>
          <a:ln w="0">
            <a:noFill/>
            <a:prstDash val="solid"/>
          </a:ln>
        </p:spPr>
        <p:txBody>
          <a:bodyPr lIns="0" tIns="0" rIns="0" bIns="0" anchor="ctr">
            <a:normAutofit/>
          </a:bodyPr>
          <a:lstStyle/>
          <a:p>
            <a:pPr algn="ctr">
              <a:defRPr sz="1800" b="1">
                <a:solidFill>
                  <a:srgbClr val="156082"/>
                </a:solidFill>
                <a:latin typeface="Aptos"/>
                <a:ea typeface="Aptos"/>
                <a:cs typeface="Aptos"/>
              </a:defRPr>
            </a:pPr>
            <a:r>
              <a:rPr sz="1800" b="1">
                <a:solidFill>
                  <a:srgbClr val="156082"/>
                </a:solidFill>
                <a:latin typeface="Aptos"/>
                <a:ea typeface="Aptos"/>
                <a:cs typeface="Aptos"/>
              </a:rPr>
              <a:t>Chronological holdout</a:t>
            </a:r>
          </a:p>
        </p:txBody>
      </p:sp>
      <p:sp>
        <p:nvSpPr>
          <p:cNvPr id="11" name="W3 | Encode-header">
            <a:extLst>
              <a:ext uri="{FF2B5EF4-FFF2-40B4-BE49-F238E27FC236}">
                <a16:creationId xmlns:a16="http://schemas.microsoft.com/office/drawing/2014/main" id="{755822FE-E353-4D63-9A5B-F0B277B24F3B}"/>
              </a:ext>
            </a:extLst>
          </p:cNvPr>
          <p:cNvSpPr>
            <a:spLocks noGrp="1"/>
          </p:cNvSpPr>
          <p:nvPr/>
        </p:nvSpPr>
        <p:spPr>
          <a:xfrm>
            <a:off x="4410075"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W3 | Encode</a:t>
            </a:r>
          </a:p>
        </p:txBody>
      </p:sp>
      <p:sp>
        <p:nvSpPr>
          <p:cNvPr id="12" name="W3 | Encode-body">
            <a:extLst>
              <a:ext uri="{FF2B5EF4-FFF2-40B4-BE49-F238E27FC236}">
                <a16:creationId xmlns:a16="http://schemas.microsoft.com/office/drawing/2014/main" id="{1032CA47-399D-4060-845E-D8B847C9923A}"/>
              </a:ext>
            </a:extLst>
          </p:cNvPr>
          <p:cNvSpPr>
            <a:spLocks noGrp="1"/>
          </p:cNvSpPr>
          <p:nvPr/>
        </p:nvSpPr>
        <p:spPr>
          <a:xfrm>
            <a:off x="4410075"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W4-5 work used KNN-imputed, one-hot </a:t>
            </a:r>
            <a:r>
              <a:rPr lang="en-US" sz="1425" dirty="0">
                <a:solidFill>
                  <a:srgbClr val="263238"/>
                </a:solidFill>
                <a:latin typeface="Aptos"/>
                <a:ea typeface="Aptos"/>
                <a:cs typeface="Aptos"/>
              </a:rPr>
              <a:t>encoded W</a:t>
            </a:r>
            <a:r>
              <a:rPr sz="1425" dirty="0">
                <a:solidFill>
                  <a:srgbClr val="263238"/>
                </a:solidFill>
                <a:latin typeface="Aptos"/>
                <a:ea typeface="Aptos"/>
                <a:cs typeface="Aptos"/>
              </a:rPr>
              <a:t>3 matrix. Missingness and rare categories remained explicit.</a:t>
            </a:r>
          </a:p>
        </p:txBody>
      </p:sp>
      <p:sp>
        <p:nvSpPr>
          <p:cNvPr id="13" name="W3 | Encode-metric">
            <a:extLst>
              <a:ext uri="{FF2B5EF4-FFF2-40B4-BE49-F238E27FC236}">
                <a16:creationId xmlns:a16="http://schemas.microsoft.com/office/drawing/2014/main" id="{38DFB0B3-4148-4639-B958-9690DFAE7811}"/>
              </a:ext>
            </a:extLst>
          </p:cNvPr>
          <p:cNvSpPr>
            <a:spLocks noGrp="1"/>
          </p:cNvSpPr>
          <p:nvPr/>
        </p:nvSpPr>
        <p:spPr>
          <a:xfrm>
            <a:off x="4410075" y="4543425"/>
            <a:ext cx="3048000" cy="628650"/>
          </a:xfrm>
          <a:prstGeom prst="rect">
            <a:avLst/>
          </a:prstGeom>
          <a:noFill/>
          <a:ln w="0">
            <a:noFill/>
            <a:prstDash val="solid"/>
          </a:ln>
        </p:spPr>
        <p:txBody>
          <a:bodyPr lIns="0" tIns="0" rIns="0" bIns="0" anchor="ctr">
            <a:normAutofit/>
          </a:bodyPr>
          <a:lstStyle/>
          <a:p>
            <a:pPr algn="ctr">
              <a:defRPr sz="1800" b="1">
                <a:solidFill>
                  <a:srgbClr val="156082"/>
                </a:solidFill>
                <a:latin typeface="Aptos"/>
                <a:ea typeface="Aptos"/>
                <a:cs typeface="Aptos"/>
              </a:defRPr>
            </a:pPr>
            <a:r>
              <a:rPr sz="1800" b="1">
                <a:solidFill>
                  <a:srgbClr val="156082"/>
                </a:solidFill>
                <a:latin typeface="Aptos"/>
                <a:ea typeface="Aptos"/>
                <a:cs typeface="Aptos"/>
              </a:rPr>
              <a:t>967 encoded features</a:t>
            </a:r>
          </a:p>
        </p:txBody>
      </p:sp>
      <p:sp>
        <p:nvSpPr>
          <p:cNvPr id="14" name="W4 | Baseline-header">
            <a:extLst>
              <a:ext uri="{FF2B5EF4-FFF2-40B4-BE49-F238E27FC236}">
                <a16:creationId xmlns:a16="http://schemas.microsoft.com/office/drawing/2014/main" id="{F1C5B280-CA19-4FA8-A270-6A5AE9F93A97}"/>
              </a:ext>
            </a:extLst>
          </p:cNvPr>
          <p:cNvSpPr>
            <a:spLocks noGrp="1"/>
          </p:cNvSpPr>
          <p:nvPr/>
        </p:nvSpPr>
        <p:spPr>
          <a:xfrm>
            <a:off x="7829550"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W4 | Baseline</a:t>
            </a:r>
          </a:p>
        </p:txBody>
      </p:sp>
      <p:sp>
        <p:nvSpPr>
          <p:cNvPr id="15" name="W4 | Baseline-body">
            <a:extLst>
              <a:ext uri="{FF2B5EF4-FFF2-40B4-BE49-F238E27FC236}">
                <a16:creationId xmlns:a16="http://schemas.microsoft.com/office/drawing/2014/main" id="{5ED84A43-3429-4A24-824A-103F23A2E5FF}"/>
              </a:ext>
            </a:extLst>
          </p:cNvPr>
          <p:cNvSpPr>
            <a:spLocks noGrp="1"/>
          </p:cNvSpPr>
          <p:nvPr/>
        </p:nvSpPr>
        <p:spPr>
          <a:xfrm>
            <a:off x="7829550"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Linear regression was transparent, but </a:t>
            </a:r>
            <a:r>
              <a:rPr lang="en-US" sz="1425" dirty="0">
                <a:solidFill>
                  <a:srgbClr val="263238"/>
                </a:solidFill>
                <a:latin typeface="Aptos"/>
                <a:ea typeface="Aptos"/>
                <a:cs typeface="Aptos"/>
              </a:rPr>
              <a:t>upper</a:t>
            </a:r>
            <a:r>
              <a:rPr sz="1425" dirty="0">
                <a:solidFill>
                  <a:srgbClr val="263238"/>
                </a:solidFill>
                <a:latin typeface="Aptos"/>
                <a:ea typeface="Aptos"/>
                <a:cs typeface="Aptos"/>
              </a:rPr>
              <a:t> outliers and nonlinear location effects limited generalization.</a:t>
            </a:r>
          </a:p>
        </p:txBody>
      </p:sp>
      <p:sp>
        <p:nvSpPr>
          <p:cNvPr id="16" name="W4 | Baseline-metric">
            <a:extLst>
              <a:ext uri="{FF2B5EF4-FFF2-40B4-BE49-F238E27FC236}">
                <a16:creationId xmlns:a16="http://schemas.microsoft.com/office/drawing/2014/main" id="{23087A4C-F071-43AA-8B11-5B2CAC6B12AB}"/>
              </a:ext>
            </a:extLst>
          </p:cNvPr>
          <p:cNvSpPr>
            <a:spLocks noGrp="1"/>
          </p:cNvSpPr>
          <p:nvPr/>
        </p:nvSpPr>
        <p:spPr>
          <a:xfrm>
            <a:off x="7829550" y="4543425"/>
            <a:ext cx="3048000" cy="628650"/>
          </a:xfrm>
          <a:prstGeom prst="rect">
            <a:avLst/>
          </a:prstGeom>
          <a:noFill/>
          <a:ln w="0">
            <a:noFill/>
            <a:prstDash val="solid"/>
          </a:ln>
        </p:spPr>
        <p:txBody>
          <a:bodyPr lIns="0" tIns="0" rIns="0" bIns="0" anchor="ctr">
            <a:normAutofit/>
          </a:bodyPr>
          <a:lstStyle/>
          <a:p>
            <a:pPr algn="ctr">
              <a:defRPr sz="1800" b="1">
                <a:solidFill>
                  <a:srgbClr val="E97132"/>
                </a:solidFill>
                <a:latin typeface="Aptos"/>
                <a:ea typeface="Aptos"/>
                <a:cs typeface="Aptos"/>
              </a:defRPr>
            </a:pPr>
            <a:r>
              <a:rPr sz="1800" b="1" dirty="0">
                <a:solidFill>
                  <a:srgbClr val="E97132"/>
                </a:solidFill>
                <a:latin typeface="Aptos"/>
                <a:ea typeface="Aptos"/>
                <a:cs typeface="Aptos"/>
              </a:rPr>
              <a:t>R2 </a:t>
            </a:r>
            <a:r>
              <a:rPr lang="en-US" sz="1800" b="1" dirty="0">
                <a:solidFill>
                  <a:srgbClr val="E97132"/>
                </a:solidFill>
                <a:latin typeface="Aptos"/>
                <a:ea typeface="Aptos"/>
                <a:cs typeface="Aptos"/>
              </a:rPr>
              <a:t>0</a:t>
            </a:r>
            <a:r>
              <a:rPr sz="1800" b="1" dirty="0">
                <a:solidFill>
                  <a:srgbClr val="E97132"/>
                </a:solidFill>
                <a:latin typeface="Aptos"/>
                <a:ea typeface="Aptos"/>
                <a:cs typeface="Aptos"/>
              </a:rPr>
              <a:t>.471 | MAPE 37.8% | </a:t>
            </a:r>
            <a:r>
              <a:rPr sz="1800" b="1" dirty="0" err="1">
                <a:solidFill>
                  <a:srgbClr val="E97132"/>
                </a:solidFill>
                <a:latin typeface="Aptos"/>
                <a:ea typeface="Aptos"/>
                <a:cs typeface="Aptos"/>
              </a:rPr>
              <a:t>MdAPE</a:t>
            </a:r>
            <a:r>
              <a:rPr sz="1800" b="1" dirty="0">
                <a:solidFill>
                  <a:srgbClr val="E97132"/>
                </a:solidFill>
                <a:latin typeface="Aptos"/>
                <a:ea typeface="Aptos"/>
                <a:cs typeface="Aptos"/>
              </a:rPr>
              <a:t> 22.4%</a:t>
            </a:r>
          </a:p>
        </p:txBody>
      </p:sp>
      <p:sp>
        <p:nvSpPr>
          <p:cNvPr id="17" name="timeline-1-decision">
            <a:extLst>
              <a:ext uri="{FF2B5EF4-FFF2-40B4-BE49-F238E27FC236}">
                <a16:creationId xmlns:a16="http://schemas.microsoft.com/office/drawing/2014/main" id="{FF786FC3-B3EF-4930-BDA9-0189C5E7EF8C}"/>
              </a:ext>
            </a:extLst>
          </p:cNvPr>
          <p:cNvSpPr>
            <a:spLocks noGrp="1"/>
          </p:cNvSpPr>
          <p:nvPr/>
        </p:nvSpPr>
        <p:spPr>
          <a:xfrm>
            <a:off x="1066800" y="5391150"/>
            <a:ext cx="10058400" cy="514350"/>
          </a:xfrm>
          <a:prstGeom prst="rect">
            <a:avLst/>
          </a:prstGeom>
          <a:noFill/>
          <a:ln w="0">
            <a:noFill/>
            <a:prstDash val="solid"/>
          </a:ln>
        </p:spPr>
        <p:txBody>
          <a:bodyPr lIns="0" tIns="0" rIns="0" bIns="0" anchor="ctr">
            <a:normAutofit/>
          </a:bodyPr>
          <a:lstStyle/>
          <a:p>
            <a:pPr algn="ctr">
              <a:defRPr sz="1575" b="1">
                <a:solidFill>
                  <a:srgbClr val="0E2841"/>
                </a:solidFill>
                <a:latin typeface="Aptos"/>
                <a:ea typeface="Aptos"/>
                <a:cs typeface="Aptos"/>
              </a:defRPr>
            </a:pPr>
            <a:r>
              <a:rPr sz="1575" b="1" dirty="0">
                <a:solidFill>
                  <a:srgbClr val="0E2841"/>
                </a:solidFill>
                <a:latin typeface="Aptos"/>
                <a:ea typeface="Aptos"/>
                <a:cs typeface="Aptos"/>
              </a:rPr>
              <a:t>Decision: keep Linear Regression as an interpretable benchmark, then move to tree models.</a:t>
            </a:r>
          </a:p>
        </p:txBody>
      </p:sp>
      <p:sp>
        <p:nvSpPr>
          <p:cNvPr id="18" name="Footer Placeholder 17">
            <a:extLst>
              <a:ext uri="{FF2B5EF4-FFF2-40B4-BE49-F238E27FC236}">
                <a16:creationId xmlns:a16="http://schemas.microsoft.com/office/drawing/2014/main" id="{7EBAF1A4-3162-5137-CCEA-F216661F98B8}"/>
              </a:ext>
            </a:extLst>
          </p:cNvPr>
          <p:cNvSpPr>
            <a:spLocks noGrp="1"/>
          </p:cNvSpPr>
          <p:nvPr>
            <p:ph type="ftr" idx="11"/>
          </p:nvPr>
        </p:nvSpPr>
        <p:spPr>
          <a:xfrm>
            <a:off x="4038600" y="6162675"/>
            <a:ext cx="4114800" cy="365125"/>
          </a:xfrm>
        </p:spPr>
        <p:txBody>
          <a:bodyPr/>
          <a:lstStyle/>
          <a:p>
            <a:r>
              <a:rPr lang="en-US" dirty="0"/>
              <a:t>Iteration Timeline</a:t>
            </a:r>
          </a:p>
        </p:txBody>
      </p:sp>
    </p:spTree>
    <p:extLst>
      <p:ext uri="{BB962C8B-B14F-4D97-AF65-F5344CB8AC3E}">
        <p14:creationId xmlns:p14="http://schemas.microsoft.com/office/powerpoint/2010/main" val="3210609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rPr dirty="0"/>
              <a:t>2 | </a:t>
            </a:r>
            <a:r>
              <a:rPr lang="en-US" dirty="0"/>
              <a:t>Explore</a:t>
            </a:r>
            <a:r>
              <a:rPr dirty="0"/>
              <a:t> nonlinear models</a:t>
            </a:r>
          </a:p>
        </p:txBody>
      </p:sp>
      <p:sp>
        <p:nvSpPr>
          <p:cNvPr id="3" name="timeline-subtitle">
            <a:extLst>
              <a:ext uri="{FF2B5EF4-FFF2-40B4-BE49-F238E27FC236}">
                <a16:creationId xmlns:a16="http://schemas.microsoft.com/office/drawing/2014/main" id="{871C7AE4-642C-47D1-A852-BF22DBEE3A75}"/>
              </a:ext>
            </a:extLst>
          </p:cNvPr>
          <p:cNvSpPr>
            <a:spLocks noGrp="1"/>
          </p:cNvSpPr>
          <p:nvPr/>
        </p:nvSpPr>
        <p:spPr>
          <a:xfrm>
            <a:off x="914400" y="1771650"/>
            <a:ext cx="10363200" cy="419100"/>
          </a:xfrm>
          <a:prstGeom prst="rect">
            <a:avLst/>
          </a:prstGeom>
          <a:noFill/>
          <a:ln w="0">
            <a:noFill/>
            <a:prstDash val="solid"/>
          </a:ln>
        </p:spPr>
        <p:txBody>
          <a:bodyPr lIns="0" tIns="0" rIns="0" bIns="0" anchor="t">
            <a:normAutofit/>
          </a:bodyPr>
          <a:lstStyle/>
          <a:p>
            <a:pPr>
              <a:defRPr sz="1725">
                <a:solidFill>
                  <a:srgbClr val="5B6770"/>
                </a:solidFill>
                <a:latin typeface="Aptos"/>
                <a:ea typeface="Aptos"/>
                <a:cs typeface="Aptos"/>
              </a:defRPr>
            </a:pPr>
            <a:r>
              <a:rPr sz="1725" dirty="0">
                <a:solidFill>
                  <a:srgbClr val="5B6770"/>
                </a:solidFill>
                <a:latin typeface="Aptos"/>
                <a:ea typeface="Aptos"/>
                <a:cs typeface="Aptos"/>
              </a:rPr>
              <a:t>Each iteration answered a specific failure in the </a:t>
            </a:r>
            <a:r>
              <a:rPr lang="en-US" sz="1725" dirty="0">
                <a:solidFill>
                  <a:srgbClr val="5B6770"/>
                </a:solidFill>
                <a:latin typeface="Aptos"/>
                <a:ea typeface="Aptos"/>
                <a:cs typeface="Aptos"/>
              </a:rPr>
              <a:t>previous</a:t>
            </a:r>
            <a:r>
              <a:rPr sz="1725" dirty="0">
                <a:solidFill>
                  <a:srgbClr val="5B6770"/>
                </a:solidFill>
                <a:latin typeface="Aptos"/>
                <a:ea typeface="Aptos"/>
                <a:cs typeface="Aptos"/>
              </a:rPr>
              <a:t> model.</a:t>
            </a:r>
          </a:p>
        </p:txBody>
      </p:sp>
      <p:sp>
        <p:nvSpPr>
          <p:cNvPr id="4" name="timeline-line">
            <a:extLst>
              <a:ext uri="{FF2B5EF4-FFF2-40B4-BE49-F238E27FC236}">
                <a16:creationId xmlns:a16="http://schemas.microsoft.com/office/drawing/2014/main" id="{7CE3164A-9E29-4C1A-8561-22355FB1325D}"/>
              </a:ext>
            </a:extLst>
          </p:cNvPr>
          <p:cNvSpPr>
            <a:spLocks noGrp="1"/>
          </p:cNvSpPr>
          <p:nvPr/>
        </p:nvSpPr>
        <p:spPr>
          <a:xfrm>
            <a:off x="1581150" y="2924175"/>
            <a:ext cx="9029700" cy="38100"/>
          </a:xfrm>
          <a:prstGeom prst="rect">
            <a:avLst/>
          </a:prstGeom>
          <a:solidFill>
            <a:srgbClr val="D9E1E5"/>
          </a:solidFill>
          <a:ln w="0">
            <a:noFill/>
            <a:prstDash val="solid"/>
          </a:ln>
        </p:spPr>
        <p:txBody>
          <a:bodyPr/>
          <a:lstStyle/>
          <a:p>
            <a:endParaRPr lang="en-US"/>
          </a:p>
        </p:txBody>
      </p:sp>
      <p:sp>
        <p:nvSpPr>
          <p:cNvPr id="5" name="marker-1">
            <a:extLst>
              <a:ext uri="{FF2B5EF4-FFF2-40B4-BE49-F238E27FC236}">
                <a16:creationId xmlns:a16="http://schemas.microsoft.com/office/drawing/2014/main" id="{518EE2C1-61FD-4B33-859D-9EB24C0FE6D2}"/>
              </a:ext>
            </a:extLst>
          </p:cNvPr>
          <p:cNvSpPr>
            <a:spLocks noGrp="1"/>
          </p:cNvSpPr>
          <p:nvPr/>
        </p:nvSpPr>
        <p:spPr>
          <a:xfrm>
            <a:off x="2343150" y="2752725"/>
            <a:ext cx="381000" cy="381000"/>
          </a:xfrm>
          <a:prstGeom prst="ellipse">
            <a:avLst/>
          </a:prstGeom>
          <a:solidFill>
            <a:srgbClr val="E9713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6" name="marker-2">
            <a:extLst>
              <a:ext uri="{FF2B5EF4-FFF2-40B4-BE49-F238E27FC236}">
                <a16:creationId xmlns:a16="http://schemas.microsoft.com/office/drawing/2014/main" id="{9EE8BDCA-A227-40D0-8AB9-7604DAE40455}"/>
              </a:ext>
            </a:extLst>
          </p:cNvPr>
          <p:cNvSpPr>
            <a:spLocks noGrp="1"/>
          </p:cNvSpPr>
          <p:nvPr/>
        </p:nvSpPr>
        <p:spPr>
          <a:xfrm>
            <a:off x="5762625" y="2752725"/>
            <a:ext cx="381000" cy="381000"/>
          </a:xfrm>
          <a:prstGeom prst="ellipse">
            <a:avLst/>
          </a:prstGeom>
          <a:solidFill>
            <a:srgbClr val="E9713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7" name="marker-3">
            <a:extLst>
              <a:ext uri="{FF2B5EF4-FFF2-40B4-BE49-F238E27FC236}">
                <a16:creationId xmlns:a16="http://schemas.microsoft.com/office/drawing/2014/main" id="{8D6609E7-DBC8-48FE-8295-49C7E1F9ACDD}"/>
              </a:ext>
            </a:extLst>
          </p:cNvPr>
          <p:cNvSpPr>
            <a:spLocks noGrp="1"/>
          </p:cNvSpPr>
          <p:nvPr/>
        </p:nvSpPr>
        <p:spPr>
          <a:xfrm>
            <a:off x="9182100" y="2752725"/>
            <a:ext cx="381000" cy="381000"/>
          </a:xfrm>
          <a:prstGeom prst="ellipse">
            <a:avLst/>
          </a:prstGeom>
          <a:solidFill>
            <a:srgbClr val="15608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8" name="W5 | Try trees-header">
            <a:extLst>
              <a:ext uri="{FF2B5EF4-FFF2-40B4-BE49-F238E27FC236}">
                <a16:creationId xmlns:a16="http://schemas.microsoft.com/office/drawing/2014/main" id="{F1DEE039-F534-42AC-AA1D-1EB2DAD6C32E}"/>
              </a:ext>
            </a:extLst>
          </p:cNvPr>
          <p:cNvSpPr>
            <a:spLocks noGrp="1"/>
          </p:cNvSpPr>
          <p:nvPr/>
        </p:nvSpPr>
        <p:spPr>
          <a:xfrm>
            <a:off x="990600"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W5 | Try trees</a:t>
            </a:r>
          </a:p>
        </p:txBody>
      </p:sp>
      <p:sp>
        <p:nvSpPr>
          <p:cNvPr id="9" name="W5 | Try trees-body">
            <a:extLst>
              <a:ext uri="{FF2B5EF4-FFF2-40B4-BE49-F238E27FC236}">
                <a16:creationId xmlns:a16="http://schemas.microsoft.com/office/drawing/2014/main" id="{26C28435-ABDD-47D9-A069-00164B23F635}"/>
              </a:ext>
            </a:extLst>
          </p:cNvPr>
          <p:cNvSpPr>
            <a:spLocks noGrp="1"/>
          </p:cNvSpPr>
          <p:nvPr/>
        </p:nvSpPr>
        <p:spPr>
          <a:xfrm>
            <a:off x="990600"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Decision Tree and Random Forest tested on the same </a:t>
            </a:r>
            <a:r>
              <a:rPr sz="1425" b="1" dirty="0">
                <a:solidFill>
                  <a:schemeClr val="tx2">
                    <a:lumMod val="75000"/>
                    <a:lumOff val="25000"/>
                  </a:schemeClr>
                </a:solidFill>
                <a:latin typeface="Aptos"/>
                <a:ea typeface="Aptos"/>
                <a:cs typeface="Aptos"/>
              </a:rPr>
              <a:t>May</a:t>
            </a:r>
            <a:r>
              <a:rPr sz="1425" dirty="0">
                <a:solidFill>
                  <a:srgbClr val="263238"/>
                </a:solidFill>
                <a:latin typeface="Aptos"/>
                <a:ea typeface="Aptos"/>
                <a:cs typeface="Aptos"/>
              </a:rPr>
              <a:t> holdout. Averaging many trees reduced the single-tree variance problem.</a:t>
            </a:r>
          </a:p>
        </p:txBody>
      </p:sp>
      <p:sp>
        <p:nvSpPr>
          <p:cNvPr id="10" name="W5 | Try trees-metric">
            <a:extLst>
              <a:ext uri="{FF2B5EF4-FFF2-40B4-BE49-F238E27FC236}">
                <a16:creationId xmlns:a16="http://schemas.microsoft.com/office/drawing/2014/main" id="{72E9529F-2E16-41C4-BAD8-112FDBBA8ED1}"/>
              </a:ext>
            </a:extLst>
          </p:cNvPr>
          <p:cNvSpPr>
            <a:spLocks noGrp="1"/>
          </p:cNvSpPr>
          <p:nvPr/>
        </p:nvSpPr>
        <p:spPr>
          <a:xfrm>
            <a:off x="990600" y="4543425"/>
            <a:ext cx="3048000" cy="628650"/>
          </a:xfrm>
          <a:prstGeom prst="rect">
            <a:avLst/>
          </a:prstGeom>
          <a:noFill/>
          <a:ln w="0">
            <a:noFill/>
            <a:prstDash val="solid"/>
          </a:ln>
        </p:spPr>
        <p:txBody>
          <a:bodyPr lIns="0" tIns="0" rIns="0" bIns="0" anchor="ctr">
            <a:normAutofit/>
          </a:bodyPr>
          <a:lstStyle/>
          <a:p>
            <a:pPr algn="ctr">
              <a:defRPr sz="1800" b="1">
                <a:solidFill>
                  <a:srgbClr val="E97132"/>
                </a:solidFill>
                <a:latin typeface="Aptos"/>
                <a:ea typeface="Aptos"/>
                <a:cs typeface="Aptos"/>
              </a:defRPr>
            </a:pPr>
            <a:r>
              <a:rPr sz="1800" b="1" dirty="0">
                <a:solidFill>
                  <a:srgbClr val="E97132"/>
                </a:solidFill>
                <a:latin typeface="Aptos"/>
                <a:ea typeface="Aptos"/>
                <a:cs typeface="Aptos"/>
              </a:rPr>
              <a:t>RF: R2 </a:t>
            </a:r>
            <a:r>
              <a:rPr lang="en-US" sz="1800" b="1" dirty="0">
                <a:solidFill>
                  <a:srgbClr val="E97132"/>
                </a:solidFill>
                <a:latin typeface="Aptos"/>
                <a:ea typeface="Aptos"/>
                <a:cs typeface="Aptos"/>
              </a:rPr>
              <a:t>0</a:t>
            </a:r>
            <a:r>
              <a:rPr sz="1800" b="1" dirty="0">
                <a:solidFill>
                  <a:srgbClr val="E97132"/>
                </a:solidFill>
                <a:latin typeface="Aptos"/>
                <a:ea typeface="Aptos"/>
                <a:cs typeface="Aptos"/>
              </a:rPr>
              <a:t>.514 | </a:t>
            </a:r>
            <a:r>
              <a:rPr sz="1800" b="1" dirty="0" err="1">
                <a:solidFill>
                  <a:srgbClr val="E97132"/>
                </a:solidFill>
                <a:latin typeface="Aptos"/>
                <a:ea typeface="Aptos"/>
                <a:cs typeface="Aptos"/>
              </a:rPr>
              <a:t>MdAPE</a:t>
            </a:r>
            <a:r>
              <a:rPr sz="1800" b="1" dirty="0">
                <a:solidFill>
                  <a:srgbClr val="E97132"/>
                </a:solidFill>
                <a:latin typeface="Aptos"/>
                <a:ea typeface="Aptos"/>
                <a:cs typeface="Aptos"/>
              </a:rPr>
              <a:t> 9.0%</a:t>
            </a:r>
          </a:p>
        </p:txBody>
      </p:sp>
      <p:sp>
        <p:nvSpPr>
          <p:cNvPr id="11" name="W5 | Keep RF-header">
            <a:extLst>
              <a:ext uri="{FF2B5EF4-FFF2-40B4-BE49-F238E27FC236}">
                <a16:creationId xmlns:a16="http://schemas.microsoft.com/office/drawing/2014/main" id="{1A3B9374-28C0-42D9-AFFE-65F361F95E34}"/>
              </a:ext>
            </a:extLst>
          </p:cNvPr>
          <p:cNvSpPr>
            <a:spLocks noGrp="1"/>
          </p:cNvSpPr>
          <p:nvPr/>
        </p:nvSpPr>
        <p:spPr>
          <a:xfrm>
            <a:off x="4410075"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W5 | Keep RF</a:t>
            </a:r>
          </a:p>
        </p:txBody>
      </p:sp>
      <p:sp>
        <p:nvSpPr>
          <p:cNvPr id="12" name="W5 | Keep RF-body">
            <a:extLst>
              <a:ext uri="{FF2B5EF4-FFF2-40B4-BE49-F238E27FC236}">
                <a16:creationId xmlns:a16="http://schemas.microsoft.com/office/drawing/2014/main" id="{8ED3E1BC-AEBF-47CB-A0CD-2243D87AE303}"/>
              </a:ext>
            </a:extLst>
          </p:cNvPr>
          <p:cNvSpPr>
            <a:spLocks noGrp="1"/>
          </p:cNvSpPr>
          <p:nvPr/>
        </p:nvSpPr>
        <p:spPr>
          <a:xfrm>
            <a:off x="4410075"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Random Forest beat the baseline on overall fit and cut typical percentage error by 13.</a:t>
            </a:r>
            <a:r>
              <a:rPr lang="en-US" sz="1425" dirty="0">
                <a:solidFill>
                  <a:srgbClr val="263238"/>
                </a:solidFill>
                <a:latin typeface="Aptos"/>
                <a:ea typeface="Aptos"/>
                <a:cs typeface="Aptos"/>
              </a:rPr>
              <a:t>4%</a:t>
            </a:r>
            <a:r>
              <a:rPr sz="1425" dirty="0">
                <a:solidFill>
                  <a:srgbClr val="263238"/>
                </a:solidFill>
                <a:latin typeface="Aptos"/>
                <a:ea typeface="Aptos"/>
                <a:cs typeface="Aptos"/>
              </a:rPr>
              <a:t>.</a:t>
            </a:r>
          </a:p>
        </p:txBody>
      </p:sp>
      <p:sp>
        <p:nvSpPr>
          <p:cNvPr id="13" name="W5 | Keep RF-metric">
            <a:extLst>
              <a:ext uri="{FF2B5EF4-FFF2-40B4-BE49-F238E27FC236}">
                <a16:creationId xmlns:a16="http://schemas.microsoft.com/office/drawing/2014/main" id="{C555D7D5-5042-45FA-8BD5-666DB34B0C24}"/>
              </a:ext>
            </a:extLst>
          </p:cNvPr>
          <p:cNvSpPr>
            <a:spLocks noGrp="1"/>
          </p:cNvSpPr>
          <p:nvPr/>
        </p:nvSpPr>
        <p:spPr>
          <a:xfrm>
            <a:off x="4410075" y="4543425"/>
            <a:ext cx="3048000" cy="628650"/>
          </a:xfrm>
          <a:prstGeom prst="rect">
            <a:avLst/>
          </a:prstGeom>
          <a:noFill/>
          <a:ln w="0">
            <a:noFill/>
            <a:prstDash val="solid"/>
          </a:ln>
        </p:spPr>
        <p:txBody>
          <a:bodyPr lIns="0" tIns="0" rIns="0" bIns="0" anchor="ctr">
            <a:normAutofit/>
          </a:bodyPr>
          <a:lstStyle/>
          <a:p>
            <a:pPr algn="ctr">
              <a:defRPr sz="1800" b="1">
                <a:solidFill>
                  <a:srgbClr val="E97132"/>
                </a:solidFill>
                <a:latin typeface="Aptos"/>
                <a:ea typeface="Aptos"/>
                <a:cs typeface="Aptos"/>
              </a:defRPr>
            </a:pPr>
            <a:r>
              <a:rPr sz="1800" b="1">
                <a:solidFill>
                  <a:srgbClr val="E97132"/>
                </a:solidFill>
                <a:latin typeface="Aptos"/>
                <a:ea typeface="Aptos"/>
                <a:cs typeface="Aptos"/>
              </a:rPr>
              <a:t>MAPE 18.2%</a:t>
            </a:r>
          </a:p>
        </p:txBody>
      </p:sp>
      <p:sp>
        <p:nvSpPr>
          <p:cNvPr id="14" name="W6 | Engineer-header">
            <a:extLst>
              <a:ext uri="{FF2B5EF4-FFF2-40B4-BE49-F238E27FC236}">
                <a16:creationId xmlns:a16="http://schemas.microsoft.com/office/drawing/2014/main" id="{57ED217C-4815-4094-89C0-6BE95074EA6B}"/>
              </a:ext>
            </a:extLst>
          </p:cNvPr>
          <p:cNvSpPr>
            <a:spLocks noGrp="1"/>
          </p:cNvSpPr>
          <p:nvPr/>
        </p:nvSpPr>
        <p:spPr>
          <a:xfrm>
            <a:off x="7829550"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dirty="0">
                <a:solidFill>
                  <a:srgbClr val="0E2841"/>
                </a:solidFill>
                <a:latin typeface="Aptos"/>
                <a:ea typeface="Aptos"/>
                <a:cs typeface="Aptos"/>
              </a:rPr>
              <a:t>W6 | </a:t>
            </a:r>
            <a:r>
              <a:rPr lang="en-US" sz="1725" b="1" dirty="0">
                <a:solidFill>
                  <a:srgbClr val="0E2841"/>
                </a:solidFill>
                <a:latin typeface="Aptos"/>
                <a:ea typeface="Aptos"/>
                <a:cs typeface="Aptos"/>
              </a:rPr>
              <a:t>Feature </a:t>
            </a:r>
            <a:r>
              <a:rPr sz="1725" b="1" dirty="0">
                <a:solidFill>
                  <a:srgbClr val="0E2841"/>
                </a:solidFill>
                <a:latin typeface="Aptos"/>
                <a:ea typeface="Aptos"/>
                <a:cs typeface="Aptos"/>
              </a:rPr>
              <a:t>Engineer</a:t>
            </a:r>
            <a:r>
              <a:rPr lang="en-US" sz="1725" b="1" dirty="0">
                <a:solidFill>
                  <a:srgbClr val="0E2841"/>
                </a:solidFill>
                <a:latin typeface="Aptos"/>
                <a:ea typeface="Aptos"/>
                <a:cs typeface="Aptos"/>
              </a:rPr>
              <a:t>ing</a:t>
            </a:r>
            <a:endParaRPr sz="1725" b="1" dirty="0">
              <a:solidFill>
                <a:srgbClr val="0E2841"/>
              </a:solidFill>
              <a:latin typeface="Aptos"/>
              <a:ea typeface="Aptos"/>
              <a:cs typeface="Aptos"/>
            </a:endParaRPr>
          </a:p>
        </p:txBody>
      </p:sp>
      <p:sp>
        <p:nvSpPr>
          <p:cNvPr id="15" name="W6 | Engineer-body">
            <a:extLst>
              <a:ext uri="{FF2B5EF4-FFF2-40B4-BE49-F238E27FC236}">
                <a16:creationId xmlns:a16="http://schemas.microsoft.com/office/drawing/2014/main" id="{70DC492D-66A7-45EE-8D81-771FD875C72C}"/>
              </a:ext>
            </a:extLst>
          </p:cNvPr>
          <p:cNvSpPr>
            <a:spLocks noGrp="1"/>
          </p:cNvSpPr>
          <p:nvPr/>
        </p:nvSpPr>
        <p:spPr>
          <a:xfrm>
            <a:off x="7829550"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Added bed/bath </a:t>
            </a:r>
            <a:r>
              <a:rPr lang="en-US" sz="1425" dirty="0">
                <a:solidFill>
                  <a:srgbClr val="263238"/>
                </a:solidFill>
                <a:latin typeface="Aptos"/>
                <a:ea typeface="Aptos"/>
                <a:cs typeface="Aptos"/>
              </a:rPr>
              <a:t>ratios</a:t>
            </a:r>
            <a:r>
              <a:rPr sz="1425" dirty="0">
                <a:solidFill>
                  <a:srgbClr val="263238"/>
                </a:solidFill>
                <a:latin typeface="Aptos"/>
                <a:ea typeface="Aptos"/>
                <a:cs typeface="Aptos"/>
              </a:rPr>
              <a:t>, property age, seasonal cycles, log size, and unified-school-district location; transformations moved inside time-based </a:t>
            </a:r>
            <a:r>
              <a:rPr lang="en-US" sz="1425" dirty="0">
                <a:solidFill>
                  <a:srgbClr val="263238"/>
                </a:solidFill>
                <a:latin typeface="Aptos"/>
                <a:ea typeface="Aptos"/>
                <a:cs typeface="Aptos"/>
              </a:rPr>
              <a:t>cross validation</a:t>
            </a:r>
            <a:r>
              <a:rPr sz="1425" dirty="0">
                <a:solidFill>
                  <a:srgbClr val="263238"/>
                </a:solidFill>
                <a:latin typeface="Aptos"/>
                <a:ea typeface="Aptos"/>
                <a:cs typeface="Aptos"/>
              </a:rPr>
              <a:t>.</a:t>
            </a:r>
          </a:p>
        </p:txBody>
      </p:sp>
      <p:sp>
        <p:nvSpPr>
          <p:cNvPr id="16" name="W6 | Engineer-metric">
            <a:extLst>
              <a:ext uri="{FF2B5EF4-FFF2-40B4-BE49-F238E27FC236}">
                <a16:creationId xmlns:a16="http://schemas.microsoft.com/office/drawing/2014/main" id="{443154F9-63CF-4436-8AA8-B2E0489A87A5}"/>
              </a:ext>
            </a:extLst>
          </p:cNvPr>
          <p:cNvSpPr>
            <a:spLocks noGrp="1"/>
          </p:cNvSpPr>
          <p:nvPr/>
        </p:nvSpPr>
        <p:spPr>
          <a:xfrm>
            <a:off x="7829550" y="4543425"/>
            <a:ext cx="3048000" cy="628650"/>
          </a:xfrm>
          <a:prstGeom prst="rect">
            <a:avLst/>
          </a:prstGeom>
          <a:noFill/>
          <a:ln w="0">
            <a:noFill/>
            <a:prstDash val="solid"/>
          </a:ln>
        </p:spPr>
        <p:txBody>
          <a:bodyPr lIns="0" tIns="0" rIns="0" bIns="0" anchor="ctr">
            <a:normAutofit/>
          </a:bodyPr>
          <a:lstStyle/>
          <a:p>
            <a:pPr algn="ctr">
              <a:defRPr sz="1800" b="1">
                <a:solidFill>
                  <a:srgbClr val="156082"/>
                </a:solidFill>
                <a:latin typeface="Aptos"/>
                <a:ea typeface="Aptos"/>
                <a:cs typeface="Aptos"/>
              </a:defRPr>
            </a:pPr>
            <a:r>
              <a:rPr sz="1800" b="1">
                <a:solidFill>
                  <a:srgbClr val="156082"/>
                </a:solidFill>
                <a:latin typeface="Aptos"/>
                <a:ea typeface="Aptos"/>
                <a:cs typeface="Aptos"/>
              </a:rPr>
              <a:t>1,193 encoded features</a:t>
            </a:r>
          </a:p>
        </p:txBody>
      </p:sp>
      <p:sp>
        <p:nvSpPr>
          <p:cNvPr id="17" name="timeline-2-decision">
            <a:extLst>
              <a:ext uri="{FF2B5EF4-FFF2-40B4-BE49-F238E27FC236}">
                <a16:creationId xmlns:a16="http://schemas.microsoft.com/office/drawing/2014/main" id="{14143127-D2E2-4395-BE35-119A57D1BD4B}"/>
              </a:ext>
            </a:extLst>
          </p:cNvPr>
          <p:cNvSpPr>
            <a:spLocks noGrp="1"/>
          </p:cNvSpPr>
          <p:nvPr/>
        </p:nvSpPr>
        <p:spPr>
          <a:xfrm>
            <a:off x="1066800" y="5314950"/>
            <a:ext cx="10058400" cy="647700"/>
          </a:xfrm>
          <a:prstGeom prst="rect">
            <a:avLst/>
          </a:prstGeom>
          <a:noFill/>
          <a:ln w="0">
            <a:noFill/>
            <a:prstDash val="solid"/>
          </a:ln>
        </p:spPr>
        <p:txBody>
          <a:bodyPr lIns="0" tIns="0" rIns="0" bIns="0" anchor="ctr">
            <a:normAutofit/>
          </a:bodyPr>
          <a:lstStyle/>
          <a:p>
            <a:pPr algn="ctr">
              <a:defRPr sz="1500" b="1">
                <a:solidFill>
                  <a:srgbClr val="0E2841"/>
                </a:solidFill>
                <a:latin typeface="Aptos"/>
                <a:ea typeface="Aptos"/>
                <a:cs typeface="Aptos"/>
              </a:defRPr>
            </a:pPr>
            <a:r>
              <a:rPr sz="1500" b="1" dirty="0">
                <a:solidFill>
                  <a:srgbClr val="0E2841"/>
                </a:solidFill>
                <a:latin typeface="Aptos"/>
                <a:ea typeface="Aptos"/>
                <a:cs typeface="Aptos"/>
              </a:rPr>
              <a:t>Result: RF moved to R2 </a:t>
            </a:r>
            <a:r>
              <a:rPr lang="en-US" sz="1500" b="1" dirty="0">
                <a:solidFill>
                  <a:srgbClr val="0E2841"/>
                </a:solidFill>
                <a:latin typeface="Aptos"/>
                <a:ea typeface="Aptos"/>
                <a:cs typeface="Aptos"/>
              </a:rPr>
              <a:t>0</a:t>
            </a:r>
            <a:r>
              <a:rPr sz="1500" b="1" dirty="0">
                <a:solidFill>
                  <a:srgbClr val="0E2841"/>
                </a:solidFill>
                <a:latin typeface="Aptos"/>
                <a:ea typeface="Aptos"/>
                <a:cs typeface="Aptos"/>
              </a:rPr>
              <a:t>.522 / MAPE 17.9% / </a:t>
            </a:r>
            <a:r>
              <a:rPr sz="1500" b="1" dirty="0" err="1">
                <a:solidFill>
                  <a:srgbClr val="0E2841"/>
                </a:solidFill>
                <a:latin typeface="Aptos"/>
                <a:ea typeface="Aptos"/>
                <a:cs typeface="Aptos"/>
              </a:rPr>
              <a:t>MdAPE</a:t>
            </a:r>
            <a:r>
              <a:rPr sz="1500" b="1" dirty="0">
                <a:solidFill>
                  <a:srgbClr val="0E2841"/>
                </a:solidFill>
                <a:latin typeface="Aptos"/>
                <a:ea typeface="Aptos"/>
                <a:cs typeface="Aptos"/>
              </a:rPr>
              <a:t> 9.0%. Linear improved most (</a:t>
            </a:r>
            <a:r>
              <a:rPr sz="1500" b="1" dirty="0" err="1">
                <a:solidFill>
                  <a:srgbClr val="0E2841"/>
                </a:solidFill>
                <a:latin typeface="Aptos"/>
                <a:ea typeface="Aptos"/>
                <a:cs typeface="Aptos"/>
              </a:rPr>
              <a:t>MdAPE</a:t>
            </a:r>
            <a:r>
              <a:rPr sz="1500" b="1" dirty="0">
                <a:solidFill>
                  <a:srgbClr val="0E2841"/>
                </a:solidFill>
                <a:latin typeface="Aptos"/>
                <a:ea typeface="Aptos"/>
                <a:cs typeface="Aptos"/>
              </a:rPr>
              <a:t> 22.4% -&gt; 17.7%), so we kept the engineered </a:t>
            </a:r>
            <a:r>
              <a:rPr lang="en-US" sz="1500" b="1" dirty="0">
                <a:solidFill>
                  <a:srgbClr val="0E2841"/>
                </a:solidFill>
                <a:latin typeface="Aptos"/>
                <a:ea typeface="Aptos"/>
                <a:cs typeface="Aptos"/>
              </a:rPr>
              <a:t>feature </a:t>
            </a:r>
            <a:r>
              <a:rPr sz="1500" b="1" dirty="0">
                <a:solidFill>
                  <a:srgbClr val="0E2841"/>
                </a:solidFill>
                <a:latin typeface="Aptos"/>
                <a:ea typeface="Aptos"/>
                <a:cs typeface="Aptos"/>
              </a:rPr>
              <a:t>set.</a:t>
            </a:r>
          </a:p>
        </p:txBody>
      </p:sp>
      <p:sp>
        <p:nvSpPr>
          <p:cNvPr id="18" name="Footer Placeholder 17">
            <a:extLst>
              <a:ext uri="{FF2B5EF4-FFF2-40B4-BE49-F238E27FC236}">
                <a16:creationId xmlns:a16="http://schemas.microsoft.com/office/drawing/2014/main" id="{E61490D6-F6AA-1994-5351-5F9DF93A6990}"/>
              </a:ext>
            </a:extLst>
          </p:cNvPr>
          <p:cNvSpPr>
            <a:spLocks noGrp="1"/>
          </p:cNvSpPr>
          <p:nvPr>
            <p:ph type="ftr" idx="11"/>
          </p:nvPr>
        </p:nvSpPr>
        <p:spPr>
          <a:xfrm>
            <a:off x="4038600" y="6127750"/>
            <a:ext cx="4114800" cy="365125"/>
          </a:xfrm>
        </p:spPr>
        <p:txBody>
          <a:bodyPr/>
          <a:lstStyle/>
          <a:p>
            <a:r>
              <a:rPr lang="en-US" dirty="0"/>
              <a:t>Iteration Timeline</a:t>
            </a:r>
          </a:p>
        </p:txBody>
      </p:sp>
    </p:spTree>
    <p:extLst>
      <p:ext uri="{BB962C8B-B14F-4D97-AF65-F5344CB8AC3E}">
        <p14:creationId xmlns:p14="http://schemas.microsoft.com/office/powerpoint/2010/main" val="1837491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E8F6-23A5-4EC0-8864-9DEB027E9A37}"/>
              </a:ext>
            </a:extLst>
          </p:cNvPr>
          <p:cNvSpPr>
            <a:spLocks noGrp="1"/>
          </p:cNvSpPr>
          <p:nvPr>
            <p:ph type="title"/>
          </p:nvPr>
        </p:nvSpPr>
        <p:spPr/>
        <p:txBody>
          <a:bodyPr/>
          <a:lstStyle/>
          <a:p>
            <a:r>
              <a:t>3 | Tune and choose</a:t>
            </a:r>
          </a:p>
        </p:txBody>
      </p:sp>
      <p:sp>
        <p:nvSpPr>
          <p:cNvPr id="3" name="timeline-subtitle">
            <a:extLst>
              <a:ext uri="{FF2B5EF4-FFF2-40B4-BE49-F238E27FC236}">
                <a16:creationId xmlns:a16="http://schemas.microsoft.com/office/drawing/2014/main" id="{180D907D-C83E-4DCD-9731-21FF6127CEAB}"/>
              </a:ext>
            </a:extLst>
          </p:cNvPr>
          <p:cNvSpPr>
            <a:spLocks noGrp="1"/>
          </p:cNvSpPr>
          <p:nvPr/>
        </p:nvSpPr>
        <p:spPr>
          <a:xfrm>
            <a:off x="914400" y="1771650"/>
            <a:ext cx="10363200" cy="419100"/>
          </a:xfrm>
          <a:prstGeom prst="rect">
            <a:avLst/>
          </a:prstGeom>
          <a:noFill/>
          <a:ln w="0">
            <a:noFill/>
            <a:prstDash val="solid"/>
          </a:ln>
        </p:spPr>
        <p:txBody>
          <a:bodyPr lIns="0" tIns="0" rIns="0" bIns="0" anchor="t">
            <a:normAutofit/>
          </a:bodyPr>
          <a:lstStyle/>
          <a:p>
            <a:pPr>
              <a:defRPr sz="1725">
                <a:solidFill>
                  <a:srgbClr val="5B6770"/>
                </a:solidFill>
                <a:latin typeface="Aptos"/>
                <a:ea typeface="Aptos"/>
                <a:cs typeface="Aptos"/>
              </a:defRPr>
            </a:pPr>
            <a:r>
              <a:rPr sz="1725" dirty="0">
                <a:solidFill>
                  <a:srgbClr val="5B6770"/>
                </a:solidFill>
                <a:latin typeface="Aptos"/>
                <a:ea typeface="Aptos"/>
                <a:cs typeface="Aptos"/>
              </a:rPr>
              <a:t>The final run rebuilt the pipeline from raw data and moved the untouched holdout</a:t>
            </a:r>
            <a:r>
              <a:rPr lang="en-US" sz="1725" dirty="0">
                <a:solidFill>
                  <a:srgbClr val="5B6770"/>
                </a:solidFill>
                <a:latin typeface="Aptos"/>
                <a:ea typeface="Aptos"/>
                <a:cs typeface="Aptos"/>
              </a:rPr>
              <a:t> one month forward</a:t>
            </a:r>
            <a:r>
              <a:rPr sz="1725" dirty="0">
                <a:solidFill>
                  <a:srgbClr val="5B6770"/>
                </a:solidFill>
                <a:latin typeface="Aptos"/>
                <a:ea typeface="Aptos"/>
                <a:cs typeface="Aptos"/>
              </a:rPr>
              <a:t> to </a:t>
            </a:r>
            <a:r>
              <a:rPr b="1" dirty="0">
                <a:solidFill>
                  <a:schemeClr val="tx2">
                    <a:lumMod val="75000"/>
                    <a:lumOff val="25000"/>
                  </a:schemeClr>
                </a:solidFill>
                <a:latin typeface="Aptos"/>
              </a:rPr>
              <a:t>June</a:t>
            </a:r>
            <a:r>
              <a:rPr sz="1725" dirty="0">
                <a:solidFill>
                  <a:srgbClr val="5B6770"/>
                </a:solidFill>
                <a:latin typeface="Aptos"/>
                <a:ea typeface="Aptos"/>
                <a:cs typeface="Aptos"/>
              </a:rPr>
              <a:t>.</a:t>
            </a:r>
          </a:p>
        </p:txBody>
      </p:sp>
      <p:sp>
        <p:nvSpPr>
          <p:cNvPr id="4" name="timeline-line">
            <a:extLst>
              <a:ext uri="{FF2B5EF4-FFF2-40B4-BE49-F238E27FC236}">
                <a16:creationId xmlns:a16="http://schemas.microsoft.com/office/drawing/2014/main" id="{4144E661-463A-4F9E-88BC-B2EAFFF1309D}"/>
              </a:ext>
            </a:extLst>
          </p:cNvPr>
          <p:cNvSpPr>
            <a:spLocks noGrp="1"/>
          </p:cNvSpPr>
          <p:nvPr/>
        </p:nvSpPr>
        <p:spPr>
          <a:xfrm>
            <a:off x="1581150" y="2924175"/>
            <a:ext cx="9029700" cy="38100"/>
          </a:xfrm>
          <a:prstGeom prst="rect">
            <a:avLst/>
          </a:prstGeom>
          <a:solidFill>
            <a:srgbClr val="D9E1E5"/>
          </a:solidFill>
          <a:ln w="0">
            <a:noFill/>
            <a:prstDash val="solid"/>
          </a:ln>
        </p:spPr>
        <p:txBody>
          <a:bodyPr/>
          <a:lstStyle/>
          <a:p>
            <a:endParaRPr lang="en-US"/>
          </a:p>
        </p:txBody>
      </p:sp>
      <p:sp>
        <p:nvSpPr>
          <p:cNvPr id="5" name="marker-1">
            <a:extLst>
              <a:ext uri="{FF2B5EF4-FFF2-40B4-BE49-F238E27FC236}">
                <a16:creationId xmlns:a16="http://schemas.microsoft.com/office/drawing/2014/main" id="{F1ACAA86-B237-4E61-855A-141592D4B857}"/>
              </a:ext>
            </a:extLst>
          </p:cNvPr>
          <p:cNvSpPr>
            <a:spLocks noGrp="1"/>
          </p:cNvSpPr>
          <p:nvPr/>
        </p:nvSpPr>
        <p:spPr>
          <a:xfrm>
            <a:off x="2343150" y="2752725"/>
            <a:ext cx="381000" cy="381000"/>
          </a:xfrm>
          <a:prstGeom prst="ellipse">
            <a:avLst/>
          </a:prstGeom>
          <a:solidFill>
            <a:srgbClr val="15608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6" name="marker-2">
            <a:extLst>
              <a:ext uri="{FF2B5EF4-FFF2-40B4-BE49-F238E27FC236}">
                <a16:creationId xmlns:a16="http://schemas.microsoft.com/office/drawing/2014/main" id="{E3FC79B7-8DF6-4876-B90A-D22EE79055C8}"/>
              </a:ext>
            </a:extLst>
          </p:cNvPr>
          <p:cNvSpPr>
            <a:spLocks noGrp="1"/>
          </p:cNvSpPr>
          <p:nvPr/>
        </p:nvSpPr>
        <p:spPr>
          <a:xfrm>
            <a:off x="5762625" y="2752725"/>
            <a:ext cx="381000" cy="381000"/>
          </a:xfrm>
          <a:prstGeom prst="ellipse">
            <a:avLst/>
          </a:prstGeom>
          <a:solidFill>
            <a:srgbClr val="156082"/>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7" name="marker-3">
            <a:extLst>
              <a:ext uri="{FF2B5EF4-FFF2-40B4-BE49-F238E27FC236}">
                <a16:creationId xmlns:a16="http://schemas.microsoft.com/office/drawing/2014/main" id="{28D3650C-F3CE-40BA-9571-D3195626D36C}"/>
              </a:ext>
            </a:extLst>
          </p:cNvPr>
          <p:cNvSpPr>
            <a:spLocks noGrp="1"/>
          </p:cNvSpPr>
          <p:nvPr/>
        </p:nvSpPr>
        <p:spPr>
          <a:xfrm>
            <a:off x="9182100" y="2752725"/>
            <a:ext cx="381000" cy="381000"/>
          </a:xfrm>
          <a:prstGeom prst="ellipse">
            <a:avLst/>
          </a:prstGeom>
          <a:solidFill>
            <a:srgbClr val="196B24"/>
          </a:solidFill>
          <a:ln w="28575">
            <a:solidFill>
              <a:srgbClr val="FFFFFF"/>
            </a:solidFill>
            <a:prstDash val="solid"/>
          </a:ln>
        </p:spPr>
        <p:txBody>
          <a:bodyPr lIns="0" tIns="0" rIns="0" bIns="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8" name="W7 | Rebuild-header">
            <a:extLst>
              <a:ext uri="{FF2B5EF4-FFF2-40B4-BE49-F238E27FC236}">
                <a16:creationId xmlns:a16="http://schemas.microsoft.com/office/drawing/2014/main" id="{E19494BB-4ACC-4062-92A3-A6B36F25E6D8}"/>
              </a:ext>
            </a:extLst>
          </p:cNvPr>
          <p:cNvSpPr>
            <a:spLocks noGrp="1"/>
          </p:cNvSpPr>
          <p:nvPr/>
        </p:nvSpPr>
        <p:spPr>
          <a:xfrm>
            <a:off x="990600"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W7 | Rebuild</a:t>
            </a:r>
          </a:p>
        </p:txBody>
      </p:sp>
      <p:sp>
        <p:nvSpPr>
          <p:cNvPr id="9" name="W7 | Rebuild-body">
            <a:extLst>
              <a:ext uri="{FF2B5EF4-FFF2-40B4-BE49-F238E27FC236}">
                <a16:creationId xmlns:a16="http://schemas.microsoft.com/office/drawing/2014/main" id="{CB6DE74D-5C0C-45CD-9B9A-F6F28840CC2E}"/>
              </a:ext>
            </a:extLst>
          </p:cNvPr>
          <p:cNvSpPr>
            <a:spLocks noGrp="1"/>
          </p:cNvSpPr>
          <p:nvPr/>
        </p:nvSpPr>
        <p:spPr>
          <a:xfrm>
            <a:off x="990600"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Fold-fitted median imputation + missing indicators; Unknown/rare one-hot encoding; 154 train-only target outliers removed; </a:t>
            </a:r>
            <a:r>
              <a:rPr lang="en-US" sz="1425" dirty="0">
                <a:solidFill>
                  <a:srgbClr val="263238"/>
                </a:solidFill>
                <a:latin typeface="Aptos"/>
                <a:ea typeface="Aptos"/>
                <a:cs typeface="Aptos"/>
              </a:rPr>
              <a:t>all</a:t>
            </a:r>
            <a:r>
              <a:rPr sz="1425" dirty="0">
                <a:solidFill>
                  <a:srgbClr val="263238"/>
                </a:solidFill>
                <a:latin typeface="Aptos"/>
                <a:ea typeface="Aptos"/>
                <a:cs typeface="Aptos"/>
              </a:rPr>
              <a:t> June test rows</a:t>
            </a:r>
            <a:r>
              <a:rPr lang="en-US" sz="1425" dirty="0">
                <a:solidFill>
                  <a:srgbClr val="263238"/>
                </a:solidFill>
                <a:latin typeface="Aptos"/>
                <a:ea typeface="Aptos"/>
                <a:cs typeface="Aptos"/>
              </a:rPr>
              <a:t> kept</a:t>
            </a:r>
            <a:r>
              <a:rPr sz="1425" dirty="0">
                <a:solidFill>
                  <a:srgbClr val="263238"/>
                </a:solidFill>
                <a:latin typeface="Aptos"/>
                <a:ea typeface="Aptos"/>
                <a:cs typeface="Aptos"/>
              </a:rPr>
              <a:t>.</a:t>
            </a:r>
          </a:p>
        </p:txBody>
      </p:sp>
      <p:sp>
        <p:nvSpPr>
          <p:cNvPr id="10" name="W7 | Rebuild-metric">
            <a:extLst>
              <a:ext uri="{FF2B5EF4-FFF2-40B4-BE49-F238E27FC236}">
                <a16:creationId xmlns:a16="http://schemas.microsoft.com/office/drawing/2014/main" id="{F90A59D2-0241-4AA1-A5B4-1554C3C1A5C7}"/>
              </a:ext>
            </a:extLst>
          </p:cNvPr>
          <p:cNvSpPr>
            <a:spLocks noGrp="1"/>
          </p:cNvSpPr>
          <p:nvPr/>
        </p:nvSpPr>
        <p:spPr>
          <a:xfrm>
            <a:off x="990600" y="4543425"/>
            <a:ext cx="3048000" cy="628650"/>
          </a:xfrm>
          <a:prstGeom prst="rect">
            <a:avLst/>
          </a:prstGeom>
          <a:noFill/>
          <a:ln w="0">
            <a:noFill/>
            <a:prstDash val="solid"/>
          </a:ln>
        </p:spPr>
        <p:txBody>
          <a:bodyPr lIns="0" tIns="0" rIns="0" bIns="0" anchor="ctr">
            <a:normAutofit/>
          </a:bodyPr>
          <a:lstStyle/>
          <a:p>
            <a:pPr algn="ctr">
              <a:defRPr sz="1800" b="1">
                <a:solidFill>
                  <a:srgbClr val="156082"/>
                </a:solidFill>
                <a:latin typeface="Aptos"/>
                <a:ea typeface="Aptos"/>
                <a:cs typeface="Aptos"/>
              </a:defRPr>
            </a:pPr>
            <a:r>
              <a:rPr sz="1800" b="1">
                <a:solidFill>
                  <a:srgbClr val="156082"/>
                </a:solidFill>
                <a:latin typeface="Aptos"/>
                <a:ea typeface="Aptos"/>
                <a:cs typeface="Aptos"/>
              </a:rPr>
              <a:t>Train 130,060 | Test 12,857</a:t>
            </a:r>
          </a:p>
        </p:txBody>
      </p:sp>
      <p:sp>
        <p:nvSpPr>
          <p:cNvPr id="11" name="W7 | Tune-header">
            <a:extLst>
              <a:ext uri="{FF2B5EF4-FFF2-40B4-BE49-F238E27FC236}">
                <a16:creationId xmlns:a16="http://schemas.microsoft.com/office/drawing/2014/main" id="{11DF1277-B119-414D-9468-3A73CC96E371}"/>
              </a:ext>
            </a:extLst>
          </p:cNvPr>
          <p:cNvSpPr>
            <a:spLocks noGrp="1"/>
          </p:cNvSpPr>
          <p:nvPr/>
        </p:nvSpPr>
        <p:spPr>
          <a:xfrm>
            <a:off x="4410075"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W7 | Tune</a:t>
            </a:r>
          </a:p>
        </p:txBody>
      </p:sp>
      <p:sp>
        <p:nvSpPr>
          <p:cNvPr id="12" name="W7 | Tune-body">
            <a:extLst>
              <a:ext uri="{FF2B5EF4-FFF2-40B4-BE49-F238E27FC236}">
                <a16:creationId xmlns:a16="http://schemas.microsoft.com/office/drawing/2014/main" id="{962CA934-CC50-441E-B558-B0810098CCD2}"/>
              </a:ext>
            </a:extLst>
          </p:cNvPr>
          <p:cNvSpPr>
            <a:spLocks noGrp="1"/>
          </p:cNvSpPr>
          <p:nvPr/>
        </p:nvSpPr>
        <p:spPr>
          <a:xfrm>
            <a:off x="4410075" y="3314700"/>
            <a:ext cx="3048000" cy="1181100"/>
          </a:xfrm>
          <a:prstGeom prst="rect">
            <a:avLst/>
          </a:prstGeom>
          <a:noFill/>
          <a:ln w="0">
            <a:noFill/>
            <a:prstDash val="solid"/>
          </a:ln>
        </p:spPr>
        <p:txBody>
          <a:bodyPr lIns="0" tIns="0" rIns="0" bIns="0" anchor="t">
            <a:normAutofit fontScale="98624"/>
          </a:bodyPr>
          <a:lstStyle/>
          <a:p>
            <a:pPr algn="ctr">
              <a:defRPr sz="1425">
                <a:solidFill>
                  <a:srgbClr val="263238"/>
                </a:solidFill>
                <a:latin typeface="Aptos"/>
                <a:ea typeface="Aptos"/>
                <a:cs typeface="Aptos"/>
              </a:defRPr>
            </a:pPr>
            <a:r>
              <a:rPr sz="1425">
                <a:solidFill>
                  <a:srgbClr val="263238"/>
                </a:solidFill>
                <a:latin typeface="Aptos"/>
                <a:ea typeface="Aptos"/>
                <a:cs typeface="Aptos"/>
              </a:rPr>
              <a:t>Three rolling validation months compared XGBoost and LightGBM depths, learning rates, and tree counts. 300 trees underfit; 700-tree variants added no useful MdAPE gain.</a:t>
            </a:r>
          </a:p>
        </p:txBody>
      </p:sp>
      <p:sp>
        <p:nvSpPr>
          <p:cNvPr id="13" name="W7 | Tune-metric">
            <a:extLst>
              <a:ext uri="{FF2B5EF4-FFF2-40B4-BE49-F238E27FC236}">
                <a16:creationId xmlns:a16="http://schemas.microsoft.com/office/drawing/2014/main" id="{2A4AB348-BA48-4F28-BE97-CA1F4C4FB6D4}"/>
              </a:ext>
            </a:extLst>
          </p:cNvPr>
          <p:cNvSpPr>
            <a:spLocks noGrp="1"/>
          </p:cNvSpPr>
          <p:nvPr/>
        </p:nvSpPr>
        <p:spPr>
          <a:xfrm>
            <a:off x="4410075" y="4543425"/>
            <a:ext cx="3048000" cy="628650"/>
          </a:xfrm>
          <a:prstGeom prst="rect">
            <a:avLst/>
          </a:prstGeom>
          <a:noFill/>
          <a:ln w="0">
            <a:noFill/>
            <a:prstDash val="solid"/>
          </a:ln>
        </p:spPr>
        <p:txBody>
          <a:bodyPr lIns="0" tIns="0" rIns="0" bIns="0" anchor="ctr">
            <a:normAutofit/>
          </a:bodyPr>
          <a:lstStyle/>
          <a:p>
            <a:pPr algn="ctr">
              <a:defRPr sz="1800" b="1">
                <a:solidFill>
                  <a:srgbClr val="156082"/>
                </a:solidFill>
                <a:latin typeface="Aptos"/>
                <a:ea typeface="Aptos"/>
                <a:cs typeface="Aptos"/>
              </a:defRPr>
            </a:pPr>
            <a:r>
              <a:rPr sz="1800" b="1" dirty="0">
                <a:solidFill>
                  <a:srgbClr val="156082"/>
                </a:solidFill>
                <a:latin typeface="Aptos"/>
                <a:ea typeface="Aptos"/>
                <a:cs typeface="Aptos"/>
              </a:rPr>
              <a:t>Selected: depth 8 / </a:t>
            </a:r>
            <a:r>
              <a:rPr lang="en-US" sz="1800" b="1" dirty="0" err="1">
                <a:solidFill>
                  <a:srgbClr val="156082"/>
                </a:solidFill>
                <a:latin typeface="Aptos"/>
                <a:ea typeface="Aptos"/>
                <a:cs typeface="Aptos"/>
              </a:rPr>
              <a:t>lr</a:t>
            </a:r>
            <a:r>
              <a:rPr lang="en-US" sz="1800" b="1" dirty="0">
                <a:solidFill>
                  <a:srgbClr val="156082"/>
                </a:solidFill>
                <a:latin typeface="Aptos"/>
                <a:ea typeface="Aptos"/>
                <a:cs typeface="Aptos"/>
              </a:rPr>
              <a:t> </a:t>
            </a:r>
            <a:r>
              <a:rPr sz="1800" b="1" dirty="0">
                <a:solidFill>
                  <a:srgbClr val="156082"/>
                </a:solidFill>
                <a:latin typeface="Aptos"/>
                <a:ea typeface="Aptos"/>
                <a:cs typeface="Aptos"/>
              </a:rPr>
              <a:t>0.05 / 500</a:t>
            </a:r>
            <a:r>
              <a:rPr lang="en-US" sz="1800" b="1" dirty="0">
                <a:solidFill>
                  <a:srgbClr val="156082"/>
                </a:solidFill>
                <a:latin typeface="Aptos"/>
                <a:ea typeface="Aptos"/>
                <a:cs typeface="Aptos"/>
              </a:rPr>
              <a:t> trees</a:t>
            </a:r>
            <a:endParaRPr sz="1800" b="1" dirty="0">
              <a:solidFill>
                <a:srgbClr val="156082"/>
              </a:solidFill>
              <a:latin typeface="Aptos"/>
              <a:ea typeface="Aptos"/>
              <a:cs typeface="Aptos"/>
            </a:endParaRPr>
          </a:p>
        </p:txBody>
      </p:sp>
      <p:sp>
        <p:nvSpPr>
          <p:cNvPr id="14" name="W8 | Standardize-header">
            <a:extLst>
              <a:ext uri="{FF2B5EF4-FFF2-40B4-BE49-F238E27FC236}">
                <a16:creationId xmlns:a16="http://schemas.microsoft.com/office/drawing/2014/main" id="{C49DB8B8-453D-479C-8846-B3EEF0EDC1C5}"/>
              </a:ext>
            </a:extLst>
          </p:cNvPr>
          <p:cNvSpPr>
            <a:spLocks noGrp="1"/>
          </p:cNvSpPr>
          <p:nvPr/>
        </p:nvSpPr>
        <p:spPr>
          <a:xfrm>
            <a:off x="7829550" y="2266950"/>
            <a:ext cx="3048000" cy="419100"/>
          </a:xfrm>
          <a:prstGeom prst="rect">
            <a:avLst/>
          </a:prstGeom>
          <a:noFill/>
          <a:ln w="0">
            <a:noFill/>
            <a:prstDash val="solid"/>
          </a:ln>
        </p:spPr>
        <p:txBody>
          <a:bodyPr lIns="0" tIns="0" rIns="0" bIns="0" anchor="t">
            <a:normAutofit/>
          </a:bodyPr>
          <a:lstStyle/>
          <a:p>
            <a:pPr algn="ctr">
              <a:defRPr sz="1725" b="1">
                <a:solidFill>
                  <a:srgbClr val="0E2841"/>
                </a:solidFill>
                <a:latin typeface="Aptos"/>
                <a:ea typeface="Aptos"/>
                <a:cs typeface="Aptos"/>
              </a:defRPr>
            </a:pPr>
            <a:r>
              <a:rPr sz="1725" b="1">
                <a:solidFill>
                  <a:srgbClr val="0E2841"/>
                </a:solidFill>
                <a:latin typeface="Aptos"/>
                <a:ea typeface="Aptos"/>
                <a:cs typeface="Aptos"/>
              </a:rPr>
              <a:t>W8 | Standardize</a:t>
            </a:r>
          </a:p>
        </p:txBody>
      </p:sp>
      <p:sp>
        <p:nvSpPr>
          <p:cNvPr id="15" name="W8 | Standardize-body">
            <a:extLst>
              <a:ext uri="{FF2B5EF4-FFF2-40B4-BE49-F238E27FC236}">
                <a16:creationId xmlns:a16="http://schemas.microsoft.com/office/drawing/2014/main" id="{63394B3C-0E35-4C59-B7D8-6FE8D0764420}"/>
              </a:ext>
            </a:extLst>
          </p:cNvPr>
          <p:cNvSpPr>
            <a:spLocks noGrp="1"/>
          </p:cNvSpPr>
          <p:nvPr/>
        </p:nvSpPr>
        <p:spPr>
          <a:xfrm>
            <a:off x="7829550" y="3314700"/>
            <a:ext cx="3048000" cy="1181100"/>
          </a:xfrm>
          <a:prstGeom prst="rect">
            <a:avLst/>
          </a:prstGeom>
          <a:noFill/>
          <a:ln w="0">
            <a:noFill/>
            <a:prstDash val="solid"/>
          </a:ln>
        </p:spPr>
        <p:txBody>
          <a:bodyPr lIns="0" tIns="0" rIns="0" bIns="0" anchor="t">
            <a:normAutofit/>
          </a:bodyPr>
          <a:lstStyle/>
          <a:p>
            <a:pPr algn="ctr">
              <a:defRPr sz="1425">
                <a:solidFill>
                  <a:srgbClr val="263238"/>
                </a:solidFill>
                <a:latin typeface="Aptos"/>
                <a:ea typeface="Aptos"/>
                <a:cs typeface="Aptos"/>
              </a:defRPr>
            </a:pPr>
            <a:r>
              <a:rPr sz="1425" dirty="0">
                <a:solidFill>
                  <a:srgbClr val="263238"/>
                </a:solidFill>
                <a:latin typeface="Aptos"/>
                <a:ea typeface="Aptos"/>
                <a:cs typeface="Aptos"/>
              </a:rPr>
              <a:t>All five model families were retrained on the same June holdout. </a:t>
            </a:r>
            <a:r>
              <a:rPr sz="1425" b="1" dirty="0" err="1">
                <a:solidFill>
                  <a:srgbClr val="263238"/>
                </a:solidFill>
                <a:latin typeface="Aptos"/>
                <a:ea typeface="Aptos"/>
                <a:cs typeface="Aptos"/>
              </a:rPr>
              <a:t>XGBoost</a:t>
            </a:r>
            <a:r>
              <a:rPr sz="1425" b="1" dirty="0">
                <a:solidFill>
                  <a:srgbClr val="263238"/>
                </a:solidFill>
                <a:latin typeface="Aptos"/>
                <a:ea typeface="Aptos"/>
                <a:cs typeface="Aptos"/>
              </a:rPr>
              <a:t> led R2 and RMSE; RF retained the best MAPE and </a:t>
            </a:r>
            <a:r>
              <a:rPr sz="1425" b="1" dirty="0" err="1">
                <a:solidFill>
                  <a:srgbClr val="263238"/>
                </a:solidFill>
                <a:latin typeface="Aptos"/>
                <a:ea typeface="Aptos"/>
                <a:cs typeface="Aptos"/>
              </a:rPr>
              <a:t>MdAPE</a:t>
            </a:r>
            <a:r>
              <a:rPr sz="1425" b="1" dirty="0">
                <a:solidFill>
                  <a:srgbClr val="263238"/>
                </a:solidFill>
                <a:latin typeface="Aptos"/>
                <a:ea typeface="Aptos"/>
                <a:cs typeface="Aptos"/>
              </a:rPr>
              <a:t>.</a:t>
            </a:r>
          </a:p>
        </p:txBody>
      </p:sp>
      <p:sp>
        <p:nvSpPr>
          <p:cNvPr id="16" name="W8 | Standardize-metric">
            <a:extLst>
              <a:ext uri="{FF2B5EF4-FFF2-40B4-BE49-F238E27FC236}">
                <a16:creationId xmlns:a16="http://schemas.microsoft.com/office/drawing/2014/main" id="{5C34D5F6-B4AA-4801-B1BC-DED9FA480F10}"/>
              </a:ext>
            </a:extLst>
          </p:cNvPr>
          <p:cNvSpPr>
            <a:spLocks noGrp="1"/>
          </p:cNvSpPr>
          <p:nvPr/>
        </p:nvSpPr>
        <p:spPr>
          <a:xfrm>
            <a:off x="7829550" y="4543425"/>
            <a:ext cx="3048000" cy="628650"/>
          </a:xfrm>
          <a:prstGeom prst="rect">
            <a:avLst/>
          </a:prstGeom>
          <a:noFill/>
          <a:ln w="0">
            <a:noFill/>
            <a:prstDash val="solid"/>
          </a:ln>
        </p:spPr>
        <p:txBody>
          <a:bodyPr lIns="0" tIns="0" rIns="0" bIns="0" anchor="ctr">
            <a:normAutofit/>
          </a:bodyPr>
          <a:lstStyle/>
          <a:p>
            <a:pPr algn="ctr">
              <a:defRPr sz="1800" b="1">
                <a:solidFill>
                  <a:srgbClr val="196B24"/>
                </a:solidFill>
                <a:latin typeface="Aptos"/>
                <a:ea typeface="Aptos"/>
                <a:cs typeface="Aptos"/>
              </a:defRPr>
            </a:pPr>
            <a:r>
              <a:rPr sz="1800" b="1" dirty="0">
                <a:solidFill>
                  <a:srgbClr val="196B24"/>
                </a:solidFill>
                <a:latin typeface="Aptos"/>
                <a:ea typeface="Aptos"/>
                <a:cs typeface="Aptos"/>
              </a:rPr>
              <a:t>XGB: R2 </a:t>
            </a:r>
            <a:r>
              <a:rPr lang="en-US" sz="1800" b="1" dirty="0">
                <a:solidFill>
                  <a:srgbClr val="196B24"/>
                </a:solidFill>
                <a:latin typeface="Aptos"/>
                <a:ea typeface="Aptos"/>
                <a:cs typeface="Aptos"/>
              </a:rPr>
              <a:t>0</a:t>
            </a:r>
            <a:r>
              <a:rPr sz="1800" b="1" dirty="0">
                <a:solidFill>
                  <a:srgbClr val="196B24"/>
                </a:solidFill>
                <a:latin typeface="Aptos"/>
                <a:ea typeface="Aptos"/>
                <a:cs typeface="Aptos"/>
              </a:rPr>
              <a:t>.812 | </a:t>
            </a:r>
            <a:r>
              <a:rPr sz="1800" b="1" dirty="0" err="1">
                <a:solidFill>
                  <a:srgbClr val="196B24"/>
                </a:solidFill>
                <a:latin typeface="Aptos"/>
                <a:ea typeface="Aptos"/>
                <a:cs typeface="Aptos"/>
              </a:rPr>
              <a:t>MdAPE</a:t>
            </a:r>
            <a:r>
              <a:rPr sz="1800" b="1" dirty="0">
                <a:solidFill>
                  <a:srgbClr val="196B24"/>
                </a:solidFill>
                <a:latin typeface="Aptos"/>
                <a:ea typeface="Aptos"/>
                <a:cs typeface="Aptos"/>
              </a:rPr>
              <a:t> 11.8%</a:t>
            </a:r>
          </a:p>
        </p:txBody>
      </p:sp>
      <p:sp>
        <p:nvSpPr>
          <p:cNvPr id="17" name="timeline-3-decision">
            <a:extLst>
              <a:ext uri="{FF2B5EF4-FFF2-40B4-BE49-F238E27FC236}">
                <a16:creationId xmlns:a16="http://schemas.microsoft.com/office/drawing/2014/main" id="{17788B70-91C0-4668-B23C-7AD0A217CE61}"/>
              </a:ext>
            </a:extLst>
          </p:cNvPr>
          <p:cNvSpPr>
            <a:spLocks noGrp="1"/>
          </p:cNvSpPr>
          <p:nvPr/>
        </p:nvSpPr>
        <p:spPr>
          <a:xfrm>
            <a:off x="1066800" y="5314950"/>
            <a:ext cx="10058400" cy="647700"/>
          </a:xfrm>
          <a:prstGeom prst="rect">
            <a:avLst/>
          </a:prstGeom>
          <a:noFill/>
          <a:ln w="0">
            <a:noFill/>
            <a:prstDash val="solid"/>
          </a:ln>
        </p:spPr>
        <p:txBody>
          <a:bodyPr lIns="0" tIns="0" rIns="0" bIns="0" anchor="ctr">
            <a:normAutofit/>
          </a:bodyPr>
          <a:lstStyle/>
          <a:p>
            <a:pPr algn="ctr">
              <a:defRPr sz="1500" b="1">
                <a:solidFill>
                  <a:srgbClr val="0E2841"/>
                </a:solidFill>
                <a:latin typeface="Aptos"/>
                <a:ea typeface="Aptos"/>
                <a:cs typeface="Aptos"/>
              </a:defRPr>
            </a:pPr>
            <a:r>
              <a:rPr sz="1500" b="1" dirty="0">
                <a:solidFill>
                  <a:srgbClr val="0E2841"/>
                </a:solidFill>
                <a:latin typeface="Aptos"/>
                <a:ea typeface="Aptos"/>
                <a:cs typeface="Aptos"/>
              </a:rPr>
              <a:t>Decision: select </a:t>
            </a:r>
            <a:r>
              <a:rPr sz="1500" b="1" dirty="0" err="1">
                <a:solidFill>
                  <a:srgbClr val="0E2841"/>
                </a:solidFill>
                <a:latin typeface="Aptos"/>
                <a:ea typeface="Aptos"/>
                <a:cs typeface="Aptos"/>
              </a:rPr>
              <a:t>XGBoost</a:t>
            </a:r>
            <a:r>
              <a:rPr sz="1500" b="1" dirty="0">
                <a:solidFill>
                  <a:srgbClr val="0E2841"/>
                </a:solidFill>
                <a:latin typeface="Aptos"/>
                <a:ea typeface="Aptos"/>
                <a:cs typeface="Aptos"/>
              </a:rPr>
              <a:t> for statewide fit and large-miss control; keep Random Forest as the relative-error benchmark. Earlier May metrics show lineage, not a direct June </a:t>
            </a:r>
            <a:r>
              <a:rPr lang="en-US" sz="1500" b="1" dirty="0">
                <a:solidFill>
                  <a:srgbClr val="0E2841"/>
                </a:solidFill>
                <a:latin typeface="Aptos"/>
                <a:ea typeface="Aptos"/>
                <a:cs typeface="Aptos"/>
              </a:rPr>
              <a:t>ranking</a:t>
            </a:r>
            <a:r>
              <a:rPr sz="1500" b="1" dirty="0">
                <a:solidFill>
                  <a:srgbClr val="0E2841"/>
                </a:solidFill>
                <a:latin typeface="Aptos"/>
                <a:ea typeface="Aptos"/>
                <a:cs typeface="Aptos"/>
              </a:rPr>
              <a:t>.</a:t>
            </a:r>
          </a:p>
        </p:txBody>
      </p:sp>
      <p:sp>
        <p:nvSpPr>
          <p:cNvPr id="18" name="Footer Placeholder 17">
            <a:extLst>
              <a:ext uri="{FF2B5EF4-FFF2-40B4-BE49-F238E27FC236}">
                <a16:creationId xmlns:a16="http://schemas.microsoft.com/office/drawing/2014/main" id="{E2785208-9DE2-8D82-2576-32833DFCDD1B}"/>
              </a:ext>
            </a:extLst>
          </p:cNvPr>
          <p:cNvSpPr>
            <a:spLocks noGrp="1"/>
          </p:cNvSpPr>
          <p:nvPr>
            <p:ph type="ftr" idx="11"/>
          </p:nvPr>
        </p:nvSpPr>
        <p:spPr>
          <a:xfrm>
            <a:off x="4086225" y="6127750"/>
            <a:ext cx="4114800" cy="365125"/>
          </a:xfrm>
        </p:spPr>
        <p:txBody>
          <a:bodyPr/>
          <a:lstStyle/>
          <a:p>
            <a:r>
              <a:rPr lang="en-US" dirty="0"/>
              <a:t>Iteration Timeline</a:t>
            </a:r>
          </a:p>
        </p:txBody>
      </p:sp>
    </p:spTree>
    <p:extLst>
      <p:ext uri="{BB962C8B-B14F-4D97-AF65-F5344CB8AC3E}">
        <p14:creationId xmlns:p14="http://schemas.microsoft.com/office/powerpoint/2010/main" val="250875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48940-5BE7-7C81-EB0E-2903CC1E59B6}"/>
              </a:ext>
            </a:extLst>
          </p:cNvPr>
          <p:cNvSpPr>
            <a:spLocks noGrp="1"/>
          </p:cNvSpPr>
          <p:nvPr>
            <p:ph type="title"/>
          </p:nvPr>
        </p:nvSpPr>
        <p:spPr/>
        <p:txBody>
          <a:bodyPr/>
          <a:lstStyle/>
          <a:p>
            <a:r>
              <a:rPr lang="en-US"/>
              <a:t>Conclusions</a:t>
            </a:r>
          </a:p>
        </p:txBody>
      </p:sp>
      <p:sp>
        <p:nvSpPr>
          <p:cNvPr id="3" name="Content Placeholder 2">
            <a:extLst>
              <a:ext uri="{FF2B5EF4-FFF2-40B4-BE49-F238E27FC236}">
                <a16:creationId xmlns:a16="http://schemas.microsoft.com/office/drawing/2014/main" id="{80A8BB03-24B2-CA7B-2C4A-2F95FFCCD5E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86439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Archway</Template>
  <Application>Microsoft Office PowerPoint</Application>
  <PresentationFormat>Widescreen</PresentationFormat>
  <Slides>20</Slides>
  <Notes>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ds 55 presentation</vt:lpstr>
      <vt:lpstr>Timeline / Content</vt:lpstr>
      <vt:lpstr>Objective</vt:lpstr>
      <vt:lpstr>Dataset</vt:lpstr>
      <vt:lpstr>Initial Data Exploration</vt:lpstr>
      <vt:lpstr>Dataset Challenges</vt:lpstr>
      <vt:lpstr>Preprocessing Pipeline</vt:lpstr>
      <vt:lpstr>Feature Engineering</vt:lpstr>
      <vt:lpstr>Models Used:</vt:lpstr>
      <vt:lpstr>Model Comparison </vt:lpstr>
      <vt:lpstr>How XGBoost learns</vt:lpstr>
      <vt:lpstr>One holdout, five models</vt:lpstr>
      <vt:lpstr>XGBoost leads overall fit</vt:lpstr>
      <vt:lpstr>Best Model </vt:lpstr>
      <vt:lpstr>Performance By Price Band</vt:lpstr>
      <vt:lpstr>Evaluation </vt:lpstr>
      <vt:lpstr>1 | Build a trustworthy baseline</vt:lpstr>
      <vt:lpstr>2 | Explore nonlinear models</vt:lpstr>
      <vt:lpstr>3 | Tune and choose</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Luoxu</dc:creator>
  <cp:revision>38</cp:revision>
  <dcterms:created xsi:type="dcterms:W3CDTF">2026-08-12T21:50:16Z</dcterms:created>
  <dcterms:modified xsi:type="dcterms:W3CDTF">2026-08-28T14:25:35Z</dcterms:modified>
</cp:coreProperties>
</file>