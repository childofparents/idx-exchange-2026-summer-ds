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63746"/>
  </p:normalViewPr>
  <p:slideViewPr>
    <p:cSldViewPr snapToGrid="0">
      <p:cViewPr>
        <p:scale>
          <a:sx n="124" d="100"/>
          <a:sy n="124" d="100"/>
        </p:scale>
        <p:origin x="200" y="-832"/>
      </p:cViewPr>
      <p:guideLst/>
    </p:cSldViewPr>
  </p:slideViewPr>
  <p:notesTextViewPr>
    <p:cViewPr>
      <p:scale>
        <a:sx n="140" d="100"/>
        <a:sy n="14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Stakeholder framing: </a:t>
            </a:r>
            <a:r>
              <a:rPr dirty="0" err="1"/>
              <a:t>XGBoost</a:t>
            </a:r>
            <a:r>
              <a:rPr dirty="0"/>
              <a:t> is not one giant rule. It is a sequence of modest tree-based corrections.</a:t>
            </a:r>
            <a:endParaRPr lang="en-US" dirty="0"/>
          </a:p>
          <a:p>
            <a:endParaRPr dirty="0"/>
          </a:p>
          <a:p>
            <a:r>
              <a:rPr dirty="0"/>
              <a:t>Emphasize that </a:t>
            </a:r>
            <a:r>
              <a:rPr lang="en-US" dirty="0"/>
              <a:t>this</a:t>
            </a:r>
            <a:r>
              <a:rPr dirty="0"/>
              <a:t> model can combine location and physical</a:t>
            </a:r>
            <a:r>
              <a:rPr lang="en-US" dirty="0"/>
              <a:t> </a:t>
            </a:r>
            <a:r>
              <a:rPr dirty="0"/>
              <a:t>property </a:t>
            </a:r>
            <a:r>
              <a:rPr lang="en-US" dirty="0"/>
              <a:t>characteristics</a:t>
            </a:r>
            <a:r>
              <a:rPr dirty="0"/>
              <a:t> without assuming one statewide linear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Lead with </a:t>
            </a:r>
            <a:r>
              <a:rPr dirty="0" err="1"/>
              <a:t>MdAPE</a:t>
            </a:r>
            <a:r>
              <a:rPr dirty="0"/>
              <a:t> as the </a:t>
            </a:r>
            <a:r>
              <a:rPr lang="en-US" dirty="0"/>
              <a:t>typical accuracy</a:t>
            </a:r>
            <a:r>
              <a:rPr dirty="0"/>
              <a:t> metric, then use R2 for statewide fit.</a:t>
            </a:r>
          </a:p>
          <a:p>
            <a:r>
              <a:rPr dirty="0"/>
              <a:t>All five rows were rerun on the same chronological June 2026 holdout, so this is the apples-to-apples table.</a:t>
            </a:r>
          </a:p>
          <a:p>
            <a:r>
              <a:rPr dirty="0"/>
              <a:t>MAPE - </a:t>
            </a:r>
            <a:r>
              <a:rPr dirty="0" err="1"/>
              <a:t>MdAPE</a:t>
            </a:r>
            <a:r>
              <a:rPr dirty="0"/>
              <a:t> is reported in percentage points: (MAPE - </a:t>
            </a:r>
            <a:r>
              <a:rPr dirty="0" err="1"/>
              <a:t>MdAPE</a:t>
            </a:r>
            <a:r>
              <a:rPr dirty="0"/>
              <a:t>) x 100.</a:t>
            </a:r>
          </a:p>
          <a:p>
            <a:endParaRPr dirty="0"/>
          </a:p>
          <a:p>
            <a:r>
              <a:rPr lang="en-US" dirty="0"/>
              <a:t>Related work:</a:t>
            </a:r>
          </a:p>
          <a:p>
            <a:r>
              <a:rPr lang="en-US" dirty="0"/>
              <a:t>- </a:t>
            </a:r>
            <a:r>
              <a:rPr dirty="0"/>
              <a:t>W8 </a:t>
            </a:r>
            <a:r>
              <a:rPr dirty="0" err="1"/>
              <a:t>metrics_summary.csv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model wins the other</a:t>
            </a:r>
            <a:r>
              <a:rPr dirty="0"/>
              <a:t>. </a:t>
            </a:r>
            <a:r>
              <a:rPr dirty="0" err="1"/>
              <a:t>XGBoost</a:t>
            </a:r>
            <a:r>
              <a:rPr dirty="0"/>
              <a:t> wins the statewide fit/tail-dollar-error </a:t>
            </a:r>
            <a:r>
              <a:rPr lang="en-US" dirty="0"/>
              <a:t>lens</a:t>
            </a:r>
            <a:r>
              <a:rPr dirty="0"/>
              <a:t>; Random Forest wins the representative-home percentage-error lens.</a:t>
            </a:r>
          </a:p>
          <a:p>
            <a:r>
              <a:rPr dirty="0"/>
              <a:t>This deliberate trade-off is why </a:t>
            </a:r>
            <a:r>
              <a:rPr lang="en-US" dirty="0"/>
              <a:t>I </a:t>
            </a:r>
            <a:r>
              <a:rPr dirty="0"/>
              <a:t>retai</a:t>
            </a:r>
            <a:r>
              <a:rPr lang="en-US" dirty="0"/>
              <a:t>n</a:t>
            </a:r>
            <a:r>
              <a:rPr dirty="0"/>
              <a:t> Random Forest as a benchmark even though </a:t>
            </a:r>
            <a:r>
              <a:rPr dirty="0" err="1"/>
              <a:t>XGBoost</a:t>
            </a:r>
            <a:r>
              <a:rPr dirty="0"/>
              <a:t> is the selected </a:t>
            </a:r>
            <a:r>
              <a:rPr lang="en-US" dirty="0"/>
              <a:t>primary</a:t>
            </a:r>
            <a:r>
              <a:rPr dirty="0"/>
              <a:t> model.</a:t>
            </a:r>
          </a:p>
          <a:p>
            <a:endParaRPr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Related work:</a:t>
            </a:r>
          </a:p>
          <a:p>
            <a:endParaRPr dirty="0"/>
          </a:p>
          <a:p>
            <a:r>
              <a:rPr dirty="0"/>
              <a:t>- </a:t>
            </a:r>
            <a:r>
              <a:rPr lang="en-US" dirty="0"/>
              <a:t>W8 </a:t>
            </a:r>
            <a:r>
              <a:rPr dirty="0" err="1"/>
              <a:t>metrics_summary.csv</a:t>
            </a:r>
            <a:endParaRPr dirty="0"/>
          </a:p>
          <a:p>
            <a:r>
              <a:rPr dirty="0"/>
              <a:t>- </a:t>
            </a:r>
            <a:r>
              <a:rPr lang="en-US" dirty="0"/>
              <a:t>W7 </a:t>
            </a:r>
            <a:r>
              <a:rPr dirty="0"/>
              <a:t>Week7_Advanced_Models_Weekly_Report.md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earliest priority was leakage control and a time-respecting holdout, not model sophistication.</a:t>
            </a:r>
          </a:p>
          <a:p>
            <a:r>
              <a:rPr dirty="0"/>
              <a:t>The W4 result established the benchmark: 47.1% of price variance explained and 22.4% typical percentage error.</a:t>
            </a:r>
          </a:p>
          <a:p>
            <a:r>
              <a:rPr dirty="0"/>
              <a:t>W4-5 </a:t>
            </a:r>
            <a:r>
              <a:rPr lang="en-US" dirty="0"/>
              <a:t>pipelines</a:t>
            </a:r>
            <a:r>
              <a:rPr dirty="0"/>
              <a:t> use Kelvin</a:t>
            </a:r>
            <a:r>
              <a:rPr lang="en-US" dirty="0"/>
              <a:t>’s</a:t>
            </a:r>
            <a:r>
              <a:rPr dirty="0"/>
              <a:t> Week 3</a:t>
            </a:r>
            <a:r>
              <a:rPr lang="en-US" dirty="0"/>
              <a:t> preprocessed dataset</a:t>
            </a:r>
            <a:r>
              <a:rPr dirty="0"/>
              <a:t>; the final Week 7 workflow later rebuilds preprocessing from raw data.</a:t>
            </a:r>
          </a:p>
          <a:p>
            <a:endParaRPr dirty="0"/>
          </a:p>
          <a:p>
            <a:r>
              <a:rPr lang="en-US" dirty="0"/>
              <a:t>Related work:</a:t>
            </a:r>
          </a:p>
          <a:p>
            <a:r>
              <a:rPr dirty="0"/>
              <a:t>- </a:t>
            </a:r>
            <a:r>
              <a:rPr lang="en-US" dirty="0"/>
              <a:t>W3 </a:t>
            </a:r>
            <a:r>
              <a:rPr dirty="0"/>
              <a:t>02_preprocessing.</a:t>
            </a:r>
            <a:r>
              <a:rPr lang="en-US" dirty="0"/>
              <a:t>ipynb</a:t>
            </a:r>
            <a:endParaRPr dirty="0"/>
          </a:p>
          <a:p>
            <a:r>
              <a:rPr dirty="0"/>
              <a:t>-</a:t>
            </a:r>
            <a:r>
              <a:rPr lang="en-US" dirty="0"/>
              <a:t> </a:t>
            </a:r>
            <a:r>
              <a:rPr dirty="0"/>
              <a:t>W4 </a:t>
            </a:r>
            <a:r>
              <a:rPr dirty="0" err="1"/>
              <a:t>baseline_model_results.csv</a:t>
            </a:r>
            <a:endParaRPr dirty="0"/>
          </a:p>
          <a:p>
            <a:r>
              <a:rPr dirty="0"/>
              <a:t>- W4 Week4_Baseline_Model_Summary_Report.txt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dirty="0"/>
              <a:t>Week 5 isolated model behavior: same preprocessing, different algorithms. Random Forest was the decisive improvement.</a:t>
            </a:r>
          </a:p>
          <a:p>
            <a:r>
              <a:rPr lang="en-US" dirty="0"/>
              <a:t>In </a:t>
            </a:r>
            <a:r>
              <a:rPr dirty="0"/>
              <a:t>Week 6 added nine readable engineered inputs; one-hot expansion increased the processed matrix from 967 to 1,193 features.</a:t>
            </a:r>
          </a:p>
          <a:p>
            <a:r>
              <a:rPr dirty="0"/>
              <a:t>The feature set </a:t>
            </a:r>
            <a:r>
              <a:rPr lang="en-US" dirty="0"/>
              <a:t>strongly</a:t>
            </a:r>
            <a:r>
              <a:rPr dirty="0"/>
              <a:t> helped Linear Regression and modestly improved Random Forest, so it was retained for </a:t>
            </a:r>
            <a:r>
              <a:rPr lang="en-US" dirty="0"/>
              <a:t>boosting methods in later weeks</a:t>
            </a:r>
            <a:r>
              <a:rPr dirty="0"/>
              <a:t>.</a:t>
            </a:r>
          </a:p>
          <a:p>
            <a:endParaRPr dirty="0"/>
          </a:p>
          <a:p>
            <a:r>
              <a:rPr lang="en-US" dirty="0"/>
              <a:t>Related work:</a:t>
            </a:r>
          </a:p>
          <a:p>
            <a:r>
              <a:rPr dirty="0"/>
              <a:t>- W5 </a:t>
            </a:r>
            <a:r>
              <a:rPr dirty="0" err="1"/>
              <a:t>model_comparison_results.csv</a:t>
            </a:r>
            <a:endParaRPr dirty="0"/>
          </a:p>
          <a:p>
            <a:r>
              <a:rPr dirty="0"/>
              <a:t>- </a:t>
            </a:r>
            <a:r>
              <a:rPr lang="en-US" dirty="0"/>
              <a:t>W5 </a:t>
            </a:r>
            <a:r>
              <a:rPr dirty="0"/>
              <a:t>Week5_Additional_Models_Summary_Report.txt</a:t>
            </a:r>
          </a:p>
          <a:p>
            <a:r>
              <a:rPr dirty="0"/>
              <a:t>- </a:t>
            </a:r>
            <a:r>
              <a:rPr lang="en-US" dirty="0"/>
              <a:t>W6 </a:t>
            </a:r>
            <a:r>
              <a:rPr dirty="0"/>
              <a:t>week5_vs_week6_performance_change.csv</a:t>
            </a:r>
          </a:p>
          <a:p>
            <a:r>
              <a:rPr dirty="0"/>
              <a:t>- W6 Week6_Feature_Engineering_Summary_Report.txt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final workflow </a:t>
            </a:r>
            <a:r>
              <a:rPr lang="en-US" dirty="0"/>
              <a:t>rebuilt</a:t>
            </a:r>
            <a:r>
              <a:rPr dirty="0"/>
              <a:t> preprocessing and features directly from the</a:t>
            </a:r>
            <a:r>
              <a:rPr lang="en-US" dirty="0"/>
              <a:t> latest</a:t>
            </a:r>
            <a:r>
              <a:rPr dirty="0"/>
              <a:t> monthly raw files.</a:t>
            </a:r>
          </a:p>
          <a:p>
            <a:r>
              <a:rPr dirty="0"/>
              <a:t>The selected </a:t>
            </a:r>
            <a:r>
              <a:rPr dirty="0" err="1"/>
              <a:t>XGBoost</a:t>
            </a:r>
            <a:r>
              <a:rPr dirty="0"/>
              <a:t> configuration had mean validation R2 0.803 and mean </a:t>
            </a:r>
            <a:r>
              <a:rPr dirty="0" err="1"/>
              <a:t>MdAPE</a:t>
            </a:r>
            <a:r>
              <a:rPr dirty="0"/>
              <a:t> 11.82%; the 500-tree model beat the smaller candidate, while the 700-tree low-learning-rate alternative did not improve typical error enough.</a:t>
            </a:r>
          </a:p>
          <a:p>
            <a:r>
              <a:rPr dirty="0"/>
              <a:t>Do not compare W6 May holdout </a:t>
            </a:r>
            <a:r>
              <a:rPr lang="en-US" dirty="0"/>
              <a:t>results</a:t>
            </a:r>
            <a:r>
              <a:rPr dirty="0"/>
              <a:t> directly with W7/W8 June </a:t>
            </a:r>
            <a:r>
              <a:rPr lang="en-US" dirty="0"/>
              <a:t>results</a:t>
            </a:r>
            <a:r>
              <a:rPr dirty="0"/>
              <a:t>. The same-month five-model table is the ranking evidence.</a:t>
            </a:r>
          </a:p>
          <a:p>
            <a:endParaRPr dirty="0"/>
          </a:p>
          <a:p>
            <a:r>
              <a:rPr lang="en-US" dirty="0"/>
              <a:t>Related work:</a:t>
            </a:r>
            <a:endParaRPr dirty="0"/>
          </a:p>
          <a:p>
            <a:r>
              <a:rPr dirty="0"/>
              <a:t>- W7 </a:t>
            </a:r>
            <a:r>
              <a:rPr dirty="0" err="1"/>
              <a:t>advanced_model_validation_results.csv</a:t>
            </a:r>
            <a:endParaRPr dirty="0"/>
          </a:p>
          <a:p>
            <a:r>
              <a:rPr dirty="0"/>
              <a:t>- W7 </a:t>
            </a:r>
            <a:r>
              <a:rPr dirty="0" err="1"/>
              <a:t>training_window_validation.csv</a:t>
            </a:r>
            <a:endParaRPr dirty="0"/>
          </a:p>
          <a:p>
            <a:r>
              <a:rPr dirty="0"/>
              <a:t>- W7 </a:t>
            </a:r>
            <a:r>
              <a:rPr dirty="0" err="1"/>
              <a:t>advanced_model_test_metrics.csv</a:t>
            </a:r>
            <a:endParaRPr dirty="0"/>
          </a:p>
          <a:p>
            <a:r>
              <a:rPr dirty="0"/>
              <a:t>- W8 </a:t>
            </a:r>
            <a:r>
              <a:rPr dirty="0" err="1"/>
              <a:t>metrics_summary.csv</a:t>
            </a:r>
            <a:endParaRPr dirty="0"/>
          </a:p>
          <a:p>
            <a:r>
              <a:rPr dirty="0"/>
              <a:t>- W10 </a:t>
            </a:r>
            <a:r>
              <a:rPr dirty="0" err="1"/>
              <a:t>README.md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40400-FA27-10F9-0157-51F2DBD04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92B8E4-990C-37AB-CAB8-35098CD885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DE94F-CC1B-01AD-6133-F08937EA09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3528A12-A6F0-4263-A4BE-7FFCD90AFFF6}" type="datetimeFigureOut">
              <a:t>8/26/26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00527-E789-73A0-D0E6-004810224A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6300F-F759-5467-2D67-98AF4390A9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12652C-D68B-4B23-ABDD-97B35151354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394B6-E792-A25A-DE36-9018D608D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1A4B6-C602-2D7C-0AA8-0242989C3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E2898-B3B8-7714-773E-467A97A753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3528A12-A6F0-4263-A4BE-7FFCD90AFFF6}" type="datetimeFigureOut">
              <a:t>8/26/26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E47E8-4A0E-22F3-5D70-3E00A50D590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9CB46-487F-8209-35FD-791D66F09F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12652C-D68B-4B23-ABDD-97B35151354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D45F5-D133-C892-9CBD-C618C13D5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38226-32C5-6493-8FA5-26360AB4C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E00EA-8371-79A7-8B83-E553C9AC756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3528A12-A6F0-4263-A4BE-7FFCD90AFFF6}" type="datetimeFigureOut">
              <a:t>8/26/26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ECF06-D8FB-7756-CB88-ACDE264CDA8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61D1D-F611-8E26-3088-77C83EEDCC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12652C-D68B-4B23-ABDD-97B35151354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814FD-DBF9-BA53-0236-5FAD16530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03ECA-CD2D-309F-B65E-B39504047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1EDCCC-1200-7E11-DDE4-4CDF5CB0CA7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39E2B-AAC5-6800-37AD-0964BB762DC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3528A12-A6F0-4263-A4BE-7FFCD90AFFF6}" type="datetimeFigureOut">
              <a:t>8/26/26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6C09A-19CB-4954-F9F9-C147B2D8AE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FBDFE-3647-15F5-EF33-A3C0289960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12652C-D68B-4B23-ABDD-97B35151354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122AA-F45E-CCB1-A8DE-0C1A44586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183CF-DC5C-CE89-BF3C-CC0106D50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98DD7D-E805-2DC8-99CA-DCE3EC6E5A6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DBD321-2380-BC3C-D08A-64AC152E796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DD4D93-6DB3-B101-45CA-97D1BD0D9CA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3A541A-B98F-E786-65BE-A777787C98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3528A12-A6F0-4263-A4BE-7FFCD90AFFF6}" type="datetimeFigureOut">
              <a:t>8/26/26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8C36FF-F574-A8DF-057F-AE9C0CFB300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58A449-D62C-E958-2B6E-EA6B0E55A3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12652C-D68B-4B23-ABDD-97B35151354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E978A-ED30-1791-E1AE-C88A0DF80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157787-D8DF-DB38-3F7E-BEA8CAFE3E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3528A12-A6F0-4263-A4BE-7FFCD90AFFF6}" type="datetimeFigureOut">
              <a:t>8/26/26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EE9B44-4435-41D5-1E25-D572575013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CA0370-9410-7431-88AA-5D58ACFE49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12652C-D68B-4B23-ABDD-97B35151354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D000B0-5BED-3104-4D8E-F2172E6286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3528A12-A6F0-4263-A4BE-7FFCD90AFFF6}" type="datetimeFigureOut">
              <a:t>8/26/26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D43EC9-122D-CEAA-8004-2AC2D9F17CD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0DD43-A4DA-FAB7-6986-518AF4C58C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12652C-D68B-4B23-ABDD-97B35151354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4442E-968E-E20F-E5A0-A9903E48F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15626-F582-0666-CB7A-E891951D5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697805-A158-C360-48F7-506CA615601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6FB70-C504-F632-63F4-649146AB70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3528A12-A6F0-4263-A4BE-7FFCD90AFFF6}" type="datetimeFigureOut">
              <a:t>8/26/26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9AF95-7032-AD0D-823D-2E981E328C5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30126-3210-E805-1585-15470C0AAF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12652C-D68B-4B23-ABDD-97B35151354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776F8-9C37-D771-3404-A75C6707F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3B4950-C2AA-FB72-140A-618F0BABAE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B7444A-CE2B-FE73-ABC3-3886DDDFFF4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5D0BD-3AA3-CBCF-95A2-0F0F937A84C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3528A12-A6F0-4263-A4BE-7FFCD90AFFF6}" type="datetimeFigureOut">
              <a:t>8/26/26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3C1DB-DF4F-E849-0300-619DABD7E8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5A7FA-9B3B-C124-D599-7179337DFA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12652C-D68B-4B23-ABDD-97B35151354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4BACC-1F0B-E62A-B692-AFC7778FF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CCDA3-F2DF-DC0E-DA38-AEEC84783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9BABB-BF70-6FBD-EC7F-2210451F961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3528A12-A6F0-4263-A4BE-7FFCD90AFFF6}" type="datetimeFigureOut">
              <a:t>8/26/26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41534-45B2-D02C-4FE3-20E795D1B18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B0A88-9DBC-5494-1A2F-4AA39126B5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12652C-D68B-4B23-ABDD-97B35151354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8DA66C-FDC0-91E4-31AB-67DD07B22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93D014-9F9F-00CF-415A-6C4C60333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6413B-DE5F-4E0C-0191-3BE92F722E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3528A12-A6F0-4263-A4BE-7FFCD90AFFF6}" type="datetimeFigureOut">
              <a:t>8/26/26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EC796-CCD4-3161-9121-E37F07C40D5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E653C-EC89-BD6A-C2AE-8AC157C884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12652C-D68B-4B23-ABDD-97B35151354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2F89EF-94CF-100E-9DD8-F28E003CD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7CF3A-5BB6-5688-A28E-8292569DC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4F5B-3D72-72AB-58EE-1019463662E2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528A12-A6F0-4263-A4BE-7FFCD90AFFF6}" type="datetimeFigureOut">
              <a:t>8/26/26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40A6A-6B97-611A-BA73-AA0326FDAA9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3DE1-08D8-865B-E648-92BF179F5B5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12652C-D68B-4B23-ABDD-97B35151354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6830E-78BD-0330-7010-58F9BC3FD5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ds 55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03CEB4-902F-962D-B0B4-6536E4AEEF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rPr dirty="0"/>
              <a:t>Team members: </a:t>
            </a:r>
          </a:p>
        </p:txBody>
      </p:sp>
    </p:spTree>
    <p:extLst>
      <p:ext uri="{BB962C8B-B14F-4D97-AF65-F5344CB8AC3E}">
        <p14:creationId xmlns:p14="http://schemas.microsoft.com/office/powerpoint/2010/main" val="2402960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2FF93-94F2-0208-75E3-263BBFD7C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/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C4EB0-4223-25A5-918B-6BE697C76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dirty="0"/>
              <a:t>Problem to Present – Objective - Maria</a:t>
            </a:r>
          </a:p>
          <a:p>
            <a:pPr marL="514350" indent="-514350">
              <a:buAutoNum type="arabicPeriod"/>
            </a:pPr>
            <a:r>
              <a:rPr dirty="0"/>
              <a:t>Models to Explore - Lydia</a:t>
            </a:r>
          </a:p>
          <a:p>
            <a:pPr marL="514350" indent="-514350">
              <a:buAutoNum type="arabicPeriod"/>
            </a:pPr>
            <a:r>
              <a:rPr dirty="0"/>
              <a:t>Performance Comparison by Model</a:t>
            </a:r>
          </a:p>
          <a:p>
            <a:pPr marL="971550" lvl="1">
              <a:buFont typeface="Courier New"/>
              <a:buChar char="o"/>
            </a:pPr>
            <a:r>
              <a:rPr dirty="0"/>
              <a:t>Linear - Jorge</a:t>
            </a:r>
          </a:p>
          <a:p>
            <a:pPr marL="971550" lvl="1">
              <a:buFont typeface="Courier New"/>
              <a:buChar char="o"/>
            </a:pPr>
            <a:r>
              <a:rPr dirty="0"/>
              <a:t>Random Forest / Decision Tree - Maverick</a:t>
            </a:r>
          </a:p>
          <a:p>
            <a:pPr marL="971550" lvl="1">
              <a:buFont typeface="Courier New"/>
              <a:buChar char="o"/>
            </a:pPr>
            <a:r>
              <a:rPr dirty="0"/>
              <a:t>Light GBM - </a:t>
            </a:r>
            <a:r>
              <a:rPr dirty="0" err="1"/>
              <a:t>Luoxu</a:t>
            </a:r>
            <a:endParaRPr dirty="0"/>
          </a:p>
          <a:p>
            <a:pPr marL="971550" lvl="1">
              <a:buFont typeface="Courier New"/>
              <a:buChar char="o"/>
            </a:pPr>
            <a:r>
              <a:rPr dirty="0" err="1"/>
              <a:t>XGBoost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Riva</a:t>
            </a:r>
            <a:endParaRPr lang="en-US" dirty="0"/>
          </a:p>
          <a:p>
            <a:pPr marL="285750" indent="0">
              <a:buNone/>
            </a:pPr>
            <a:r>
              <a:rPr lang="en-US" dirty="0"/>
              <a:t>4. </a:t>
            </a:r>
            <a:r>
              <a:rPr lang="en-US" b="1" dirty="0"/>
              <a:t>Performance by Price Band - Sammy</a:t>
            </a:r>
            <a:endParaRPr lang="en-US" dirty="0"/>
          </a:p>
          <a:p>
            <a:pPr marL="285750" indent="0">
              <a:buNone/>
            </a:pPr>
            <a:r>
              <a:rPr b="1" dirty="0"/>
              <a:t>5. Stability over time - </a:t>
            </a:r>
            <a:r>
              <a:rPr b="1" dirty="0" err="1"/>
              <a:t>Luoxu</a:t>
            </a:r>
            <a:endParaRPr b="1" dirty="0"/>
          </a:p>
          <a:p>
            <a:pPr marL="285750" indent="0">
              <a:buNone/>
            </a:pPr>
            <a:r>
              <a:rPr b="1" dirty="0"/>
              <a:t>6. Iteration Timeline – Riva</a:t>
            </a:r>
          </a:p>
          <a:p>
            <a:pPr marL="285750" indent="0">
              <a:buNone/>
            </a:pPr>
            <a:r>
              <a:rPr b="1" dirty="0"/>
              <a:t>7. What work - Kelvin</a:t>
            </a:r>
          </a:p>
          <a:p>
            <a:pPr marL="285750" indent="0">
              <a:buNone/>
            </a:pPr>
            <a:r>
              <a:rPr b="1" dirty="0"/>
              <a:t>8. what didn't work - Kelvin</a:t>
            </a:r>
          </a:p>
          <a:p>
            <a:pPr marL="742950" lvl="1" indent="0">
              <a:buNone/>
            </a:pPr>
            <a:endParaRPr b="1" dirty="0"/>
          </a:p>
          <a:p>
            <a:pPr marL="742950" lvl="1" indent="0">
              <a:buNone/>
            </a:pPr>
            <a:endParaRPr b="1" dirty="0"/>
          </a:p>
          <a:p>
            <a:pPr marL="971550" lvl="1">
              <a:buFont typeface="Courier New"/>
              <a:buChar char="o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2227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D4EBB-B75C-AC13-7A41-3CB07E739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3EF6A-09FA-9397-02B3-458A2828F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 fontScale="92500" lnSpcReduction="20000"/>
          </a:bodyPr>
          <a:lstStyle/>
          <a:p>
            <a:pPr marL="0" indent="0">
              <a:buNone/>
            </a:pPr>
            <a:r>
              <a:t>Our objective was to develop a machine learning (ML) model to accurately predict the closing price of single-family residential properties using the California Regional Multiple Listing Service (CRMLS) data. 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b="1"/>
              <a:t>Input: </a:t>
            </a:r>
            <a:r>
              <a:t>Property and listing characteristics</a:t>
            </a:r>
          </a:p>
          <a:p>
            <a:pPr marL="0" indent="0">
              <a:buNone/>
            </a:pPr>
            <a:r>
              <a:rPr b="1"/>
              <a:t>Model: </a:t>
            </a:r>
            <a:r>
              <a:t>Various ML regression and tree models</a:t>
            </a:r>
          </a:p>
          <a:p>
            <a:pPr marL="0" indent="0">
              <a:buNone/>
            </a:pPr>
            <a:r>
              <a:rPr b="1"/>
              <a:t>Output:</a:t>
            </a:r>
            <a:r>
              <a:t> Predicted Close Price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We wanted to answer the question of how accurately we can predict final sale price with the information we have?</a:t>
            </a:r>
          </a:p>
        </p:txBody>
      </p:sp>
    </p:spTree>
    <p:extLst>
      <p:ext uri="{BB962C8B-B14F-4D97-AF65-F5344CB8AC3E}">
        <p14:creationId xmlns:p14="http://schemas.microsoft.com/office/powerpoint/2010/main" val="2716764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31134-4154-DB82-BD5A-5CB706987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BE458-F67D-2293-9E5B-68F8922F8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 lnSpcReduction="10000"/>
          </a:bodyPr>
          <a:lstStyle/>
          <a:p>
            <a:pPr marL="0" indent="0">
              <a:buNone/>
            </a:pPr>
            <a:r>
              <a:rPr b="1"/>
              <a:t>Dataset Source:</a:t>
            </a:r>
            <a:r>
              <a:t> California Regional Multiple Listing Services (CRMLS)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b="1"/>
              <a:t>Original time period:</a:t>
            </a:r>
            <a:r>
              <a:t> May 2025 – May 2026</a:t>
            </a:r>
          </a:p>
          <a:p>
            <a:pPr marL="0" indent="0">
              <a:buNone/>
            </a:pPr>
            <a:r>
              <a:rPr b="1"/>
              <a:t>Final time period:</a:t>
            </a:r>
            <a:r>
              <a:t> June 2025 – June 2026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b="1"/>
              <a:t>Scope:</a:t>
            </a:r>
            <a:r>
              <a:t> Residential Properties, Single Family residences, California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b="1"/>
              <a:t>Target Variable:</a:t>
            </a:r>
            <a:r>
              <a:t> ClosePrice</a:t>
            </a:r>
          </a:p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1029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4D5C-D81C-AB7D-6DFE-4D35CEDC3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Data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C638D-A490-793F-81C5-4EDFE36ED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t>We conducted EDA Analysis to measure how we could go about using the data. Some of our key findings included:</a:t>
            </a:r>
          </a:p>
          <a:p>
            <a:pPr lvl="1">
              <a:buFont typeface="Courier New"/>
              <a:buChar char="o"/>
            </a:pPr>
            <a:r>
              <a:t>Strongly right-skewed ClosePrice</a:t>
            </a:r>
          </a:p>
          <a:p>
            <a:pPr lvl="1">
              <a:buFont typeface="Courier New"/>
              <a:buChar char="o"/>
            </a:pPr>
            <a:r>
              <a:t>LotSize &amp; LivingArea were also strongly right-skewed</a:t>
            </a:r>
          </a:p>
          <a:p>
            <a:pPr lvl="1">
              <a:buFont typeface="Courier New"/>
              <a:buChar char="o"/>
            </a:pPr>
            <a:r>
              <a:t>Some features had extreme outliers</a:t>
            </a:r>
          </a:p>
          <a:p>
            <a:pPr lvl="1">
              <a:buFont typeface="Courier New"/>
              <a:buChar char="o"/>
            </a:pPr>
            <a:r>
              <a:t>Missing variables throughout the data</a:t>
            </a:r>
          </a:p>
        </p:txBody>
      </p:sp>
    </p:spTree>
    <p:extLst>
      <p:ext uri="{BB962C8B-B14F-4D97-AF65-F5344CB8AC3E}">
        <p14:creationId xmlns:p14="http://schemas.microsoft.com/office/powerpoint/2010/main" val="3586085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CD9D-B105-B12D-129E-AEC377BF1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0588F-FF8C-7690-0F1A-D66FB9B4A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rPr b="1"/>
              <a:t>Missing Data:</a:t>
            </a:r>
            <a:r>
              <a:t> Incomplete property characteristics across various listings. Each listing had at least one missing value.</a:t>
            </a:r>
          </a:p>
          <a:p>
            <a:r>
              <a:rPr b="1"/>
              <a:t>Extreme Values:</a:t>
            </a:r>
            <a:r>
              <a:t> Usually high or low property measurements </a:t>
            </a:r>
          </a:p>
          <a:p>
            <a:r>
              <a:rPr b="1"/>
              <a:t>Skewed Distributions:</a:t>
            </a:r>
            <a:r>
              <a:t> Such as ClosePrice, LivingArea, LotSize, and other numerical values.</a:t>
            </a:r>
          </a:p>
          <a:p>
            <a:r>
              <a:rPr b="1"/>
              <a:t>High Volume Data:</a:t>
            </a:r>
            <a:r>
              <a:t> Large number of both numerical and categorical variables</a:t>
            </a:r>
          </a:p>
        </p:txBody>
      </p:sp>
    </p:spTree>
    <p:extLst>
      <p:ext uri="{BB962C8B-B14F-4D97-AF65-F5344CB8AC3E}">
        <p14:creationId xmlns:p14="http://schemas.microsoft.com/office/powerpoint/2010/main" val="1649266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9801F-D14B-3C28-6593-200D0E91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Pipeline</a:t>
            </a:r>
          </a:p>
        </p:txBody>
      </p:sp>
    </p:spTree>
    <p:extLst>
      <p:ext uri="{BB962C8B-B14F-4D97-AF65-F5344CB8AC3E}">
        <p14:creationId xmlns:p14="http://schemas.microsoft.com/office/powerpoint/2010/main" val="806500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AD64-A66A-3087-F85A-45D6093FC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730694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95149-C69E-BC65-B271-09AC8D5AA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Used:</a:t>
            </a:r>
          </a:p>
        </p:txBody>
      </p:sp>
    </p:spTree>
    <p:extLst>
      <p:ext uri="{BB962C8B-B14F-4D97-AF65-F5344CB8AC3E}">
        <p14:creationId xmlns:p14="http://schemas.microsoft.com/office/powerpoint/2010/main" val="3729126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E8F6-23A5-4EC0-8864-9DEB027E9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Comparison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11363-78FE-829A-B32C-B73003653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60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E8F6-23A5-4EC0-8864-9DEB027E9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XGBoost learns</a:t>
            </a:r>
          </a:p>
        </p:txBody>
      </p:sp>
      <p:sp>
        <p:nvSpPr>
          <p:cNvPr id="3" name="xgb-plain-language">
            <a:extLst>
              <a:ext uri="{FF2B5EF4-FFF2-40B4-BE49-F238E27FC236}">
                <a16:creationId xmlns:a16="http://schemas.microsoft.com/office/drawing/2014/main" id="{DADCD4E2-7B15-4FAD-9368-FFBC434CB4F4}"/>
              </a:ext>
            </a:extLst>
          </p:cNvPr>
          <p:cNvSpPr>
            <a:spLocks noGrp="1"/>
          </p:cNvSpPr>
          <p:nvPr/>
        </p:nvSpPr>
        <p:spPr>
          <a:xfrm>
            <a:off x="914400" y="1771650"/>
            <a:ext cx="103632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80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800" dirty="0" err="1">
                <a:solidFill>
                  <a:srgbClr val="263238"/>
                </a:solidFill>
                <a:latin typeface="Aptos"/>
                <a:ea typeface="Aptos"/>
                <a:cs typeface="Aptos"/>
              </a:rPr>
              <a:t>XGBoost</a:t>
            </a:r>
            <a:r>
              <a:rPr sz="180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 builds a sequence of small decision trees. Each new tree focuses on the homes the current model </a:t>
            </a:r>
            <a:r>
              <a:rPr lang="en-US" sz="180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valuates</a:t>
            </a:r>
            <a:r>
              <a:rPr sz="180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 poorly, then adds a controlled correction.</a:t>
            </a:r>
          </a:p>
        </p:txBody>
      </p:sp>
      <p:sp>
        <p:nvSpPr>
          <p:cNvPr id="4" name="xgb-process-line">
            <a:extLst>
              <a:ext uri="{FF2B5EF4-FFF2-40B4-BE49-F238E27FC236}">
                <a16:creationId xmlns:a16="http://schemas.microsoft.com/office/drawing/2014/main" id="{D675033E-9E28-4930-B6E6-0430D15AAF4C}"/>
              </a:ext>
            </a:extLst>
          </p:cNvPr>
          <p:cNvSpPr>
            <a:spLocks noGrp="1"/>
          </p:cNvSpPr>
          <p:nvPr/>
        </p:nvSpPr>
        <p:spPr>
          <a:xfrm>
            <a:off x="1524000" y="3562350"/>
            <a:ext cx="9144000" cy="38100"/>
          </a:xfrm>
          <a:prstGeom prst="rect">
            <a:avLst/>
          </a:prstGeom>
          <a:solidFill>
            <a:srgbClr val="D9E1E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tep-1-box">
            <a:extLst>
              <a:ext uri="{FF2B5EF4-FFF2-40B4-BE49-F238E27FC236}">
                <a16:creationId xmlns:a16="http://schemas.microsoft.com/office/drawing/2014/main" id="{878E664F-AE33-45C2-97F8-CEF8B8A58B7C}"/>
              </a:ext>
            </a:extLst>
          </p:cNvPr>
          <p:cNvSpPr>
            <a:spLocks noGrp="1"/>
          </p:cNvSpPr>
          <p:nvPr/>
        </p:nvSpPr>
        <p:spPr>
          <a:xfrm>
            <a:off x="1066800" y="3009900"/>
            <a:ext cx="2238375" cy="1200150"/>
          </a:xfrm>
          <a:prstGeom prst="roundRect">
            <a:avLst>
              <a:gd name="adj" fmla="val 9524"/>
            </a:avLst>
          </a:prstGeom>
          <a:solidFill>
            <a:srgbClr val="F4F7F8"/>
          </a:solidFill>
          <a:ln w="9525">
            <a:solidFill>
              <a:srgbClr val="5B6770"/>
            </a:solidFill>
            <a:prstDash val="solid"/>
          </a:ln>
        </p:spPr>
        <p:txBody>
          <a:bodyPr lIns="133350" tIns="133350" rIns="133350" bIns="114300" anchor="t">
            <a:normAutofit lnSpcReduction="10000"/>
          </a:bodyPr>
          <a:lstStyle/>
          <a:p>
            <a:pPr>
              <a:lnSpc>
                <a:spcPct val="108000"/>
              </a:lnSpc>
              <a:buNone/>
              <a:defRPr sz="135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1  </a:t>
            </a:r>
            <a:r>
              <a:rPr lang="en-US" sz="1400" b="1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Intrinsic</a:t>
            </a:r>
            <a:r>
              <a:rPr sz="1400" b="1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400" b="1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features</a:t>
            </a:r>
            <a:endParaRPr sz="1400" b="1" dirty="0">
              <a:solidFill>
                <a:srgbClr val="263238"/>
              </a:solidFill>
              <a:latin typeface="Aptos"/>
              <a:ea typeface="Aptos"/>
              <a:cs typeface="Aptos"/>
            </a:endParaRPr>
          </a:p>
          <a:p>
            <a:pPr>
              <a:lnSpc>
                <a:spcPct val="108000"/>
              </a:lnSpc>
              <a:buNone/>
              <a:defRPr sz="135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40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Location, size</a:t>
            </a:r>
            <a:r>
              <a:rPr lang="en-US" sz="140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 (</a:t>
            </a:r>
            <a:r>
              <a:rPr lang="en-US" sz="1400" dirty="0" err="1">
                <a:solidFill>
                  <a:srgbClr val="263238"/>
                </a:solidFill>
                <a:latin typeface="Aptos"/>
                <a:ea typeface="Aptos"/>
                <a:cs typeface="Aptos"/>
              </a:rPr>
              <a:t>sqft</a:t>
            </a:r>
            <a:r>
              <a:rPr lang="en-US" sz="140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)</a:t>
            </a:r>
            <a:r>
              <a:rPr sz="140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, </a:t>
            </a:r>
            <a:r>
              <a:rPr lang="en-US" sz="140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bedrooms, bathrooms, lot size, </a:t>
            </a:r>
            <a:r>
              <a:rPr sz="140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age, amenities</a:t>
            </a:r>
          </a:p>
        </p:txBody>
      </p:sp>
      <p:sp>
        <p:nvSpPr>
          <p:cNvPr id="6" name="step-2-box">
            <a:extLst>
              <a:ext uri="{FF2B5EF4-FFF2-40B4-BE49-F238E27FC236}">
                <a16:creationId xmlns:a16="http://schemas.microsoft.com/office/drawing/2014/main" id="{6FF1182D-BEE7-4537-BD65-5E8895F55FD1}"/>
              </a:ext>
            </a:extLst>
          </p:cNvPr>
          <p:cNvSpPr>
            <a:spLocks noGrp="1"/>
          </p:cNvSpPr>
          <p:nvPr/>
        </p:nvSpPr>
        <p:spPr>
          <a:xfrm>
            <a:off x="3667125" y="3009900"/>
            <a:ext cx="2238375" cy="1200150"/>
          </a:xfrm>
          <a:prstGeom prst="roundRect">
            <a:avLst>
              <a:gd name="adj" fmla="val 9524"/>
            </a:avLst>
          </a:prstGeom>
          <a:solidFill>
            <a:srgbClr val="EAF3F6"/>
          </a:solidFill>
          <a:ln w="9525">
            <a:solidFill>
              <a:srgbClr val="156082"/>
            </a:solidFill>
            <a:prstDash val="solid"/>
          </a:ln>
        </p:spPr>
        <p:txBody>
          <a:bodyPr lIns="133350" tIns="133350" rIns="133350" bIns="114300" anchor="t">
            <a:normAutofit/>
          </a:bodyPr>
          <a:lstStyle/>
          <a:p>
            <a:pPr>
              <a:lnSpc>
                <a:spcPct val="108000"/>
              </a:lnSpc>
              <a:buNone/>
              <a:defRPr sz="135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2  First tree</a:t>
            </a:r>
          </a:p>
          <a:p>
            <a:pPr>
              <a:lnSpc>
                <a:spcPct val="108000"/>
              </a:lnSpc>
              <a:buNone/>
              <a:defRPr sz="135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40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Makes a rough price estimate</a:t>
            </a:r>
          </a:p>
        </p:txBody>
      </p:sp>
      <p:sp>
        <p:nvSpPr>
          <p:cNvPr id="7" name="step-3-box">
            <a:extLst>
              <a:ext uri="{FF2B5EF4-FFF2-40B4-BE49-F238E27FC236}">
                <a16:creationId xmlns:a16="http://schemas.microsoft.com/office/drawing/2014/main" id="{849ECA8F-38D9-4EE6-9D18-3C856E29BB71}"/>
              </a:ext>
            </a:extLst>
          </p:cNvPr>
          <p:cNvSpPr>
            <a:spLocks noGrp="1"/>
          </p:cNvSpPr>
          <p:nvPr/>
        </p:nvSpPr>
        <p:spPr>
          <a:xfrm>
            <a:off x="6267450" y="3009900"/>
            <a:ext cx="2238375" cy="1200150"/>
          </a:xfrm>
          <a:prstGeom prst="roundRect">
            <a:avLst>
              <a:gd name="adj" fmla="val 9524"/>
            </a:avLst>
          </a:prstGeom>
          <a:solidFill>
            <a:srgbClr val="FDF0E8"/>
          </a:solidFill>
          <a:ln w="9525">
            <a:solidFill>
              <a:srgbClr val="E97132"/>
            </a:solidFill>
            <a:prstDash val="solid"/>
          </a:ln>
        </p:spPr>
        <p:txBody>
          <a:bodyPr lIns="133350" tIns="133350" rIns="133350" bIns="114300" anchor="t">
            <a:normAutofit/>
          </a:bodyPr>
          <a:lstStyle/>
          <a:p>
            <a:pPr>
              <a:lnSpc>
                <a:spcPct val="108000"/>
              </a:lnSpc>
              <a:buNone/>
              <a:defRPr sz="135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3  Next trees</a:t>
            </a:r>
          </a:p>
          <a:p>
            <a:pPr>
              <a:lnSpc>
                <a:spcPct val="108000"/>
              </a:lnSpc>
              <a:buNone/>
              <a:defRPr sz="135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400">
                <a:solidFill>
                  <a:srgbClr val="263238"/>
                </a:solidFill>
                <a:latin typeface="Aptos"/>
                <a:ea typeface="Aptos"/>
                <a:cs typeface="Aptos"/>
              </a:rPr>
              <a:t>Target the largest remaining misses</a:t>
            </a:r>
          </a:p>
        </p:txBody>
      </p:sp>
      <p:sp>
        <p:nvSpPr>
          <p:cNvPr id="8" name="step-4-box">
            <a:extLst>
              <a:ext uri="{FF2B5EF4-FFF2-40B4-BE49-F238E27FC236}">
                <a16:creationId xmlns:a16="http://schemas.microsoft.com/office/drawing/2014/main" id="{F7CCDD02-4A20-406D-98BE-4A410131CB05}"/>
              </a:ext>
            </a:extLst>
          </p:cNvPr>
          <p:cNvSpPr>
            <a:spLocks noGrp="1"/>
          </p:cNvSpPr>
          <p:nvPr/>
        </p:nvSpPr>
        <p:spPr>
          <a:xfrm>
            <a:off x="8867775" y="3009900"/>
            <a:ext cx="2238375" cy="1200150"/>
          </a:xfrm>
          <a:prstGeom prst="roundRect">
            <a:avLst>
              <a:gd name="adj" fmla="val 9524"/>
            </a:avLst>
          </a:prstGeom>
          <a:solidFill>
            <a:srgbClr val="EAF4EC"/>
          </a:solidFill>
          <a:ln w="9525">
            <a:solidFill>
              <a:srgbClr val="196B24"/>
            </a:solidFill>
            <a:prstDash val="solid"/>
          </a:ln>
        </p:spPr>
        <p:txBody>
          <a:bodyPr lIns="133350" tIns="133350" rIns="133350" bIns="114300" anchor="t">
            <a:normAutofit/>
          </a:bodyPr>
          <a:lstStyle/>
          <a:p>
            <a:pPr>
              <a:lnSpc>
                <a:spcPct val="108000"/>
              </a:lnSpc>
              <a:buNone/>
              <a:defRPr sz="135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4  Final price</a:t>
            </a:r>
          </a:p>
          <a:p>
            <a:pPr>
              <a:lnSpc>
                <a:spcPct val="108000"/>
              </a:lnSpc>
              <a:buNone/>
              <a:defRPr sz="135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400">
                <a:solidFill>
                  <a:srgbClr val="263238"/>
                </a:solidFill>
                <a:latin typeface="Aptos"/>
                <a:ea typeface="Aptos"/>
                <a:cs typeface="Aptos"/>
              </a:rPr>
              <a:t>Adds all small corrections together</a:t>
            </a:r>
          </a:p>
        </p:txBody>
      </p:sp>
      <p:sp>
        <p:nvSpPr>
          <p:cNvPr id="9" name="xgb-why">
            <a:extLst>
              <a:ext uri="{FF2B5EF4-FFF2-40B4-BE49-F238E27FC236}">
                <a16:creationId xmlns:a16="http://schemas.microsoft.com/office/drawing/2014/main" id="{E1A299B5-727D-4E03-A150-F3247413BDA7}"/>
              </a:ext>
            </a:extLst>
          </p:cNvPr>
          <p:cNvSpPr>
            <a:spLocks noGrp="1"/>
          </p:cNvSpPr>
          <p:nvPr/>
        </p:nvSpPr>
        <p:spPr>
          <a:xfrm>
            <a:off x="1066800" y="4648200"/>
            <a:ext cx="10058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156082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156082"/>
                </a:solidFill>
                <a:latin typeface="Aptos"/>
                <a:ea typeface="Aptos"/>
                <a:cs typeface="Aptos"/>
              </a:rPr>
              <a:t>Why it fit California housing: it can learn nonlinear </a:t>
            </a:r>
            <a:r>
              <a:rPr sz="1600" b="1" u="sng" dirty="0">
                <a:solidFill>
                  <a:srgbClr val="156082"/>
                </a:solidFill>
                <a:latin typeface="Aptos"/>
                <a:ea typeface="Aptos"/>
                <a:cs typeface="Aptos"/>
              </a:rPr>
              <a:t>size x location x condition</a:t>
            </a:r>
            <a:r>
              <a:rPr sz="1600" b="1" dirty="0">
                <a:solidFill>
                  <a:srgbClr val="156082"/>
                </a:solidFill>
                <a:latin typeface="Aptos"/>
                <a:ea typeface="Aptos"/>
                <a:cs typeface="Aptos"/>
              </a:rPr>
              <a:t> interactions, while sampling and L2 regularization keep the corrections from chasing every unusual sale</a:t>
            </a:r>
            <a:r>
              <a:rPr lang="en-US" sz="1600" b="1" dirty="0">
                <a:solidFill>
                  <a:srgbClr val="156082"/>
                </a:solidFill>
                <a:latin typeface="Aptos"/>
                <a:ea typeface="Aptos"/>
                <a:cs typeface="Aptos"/>
              </a:rPr>
              <a:t> record</a:t>
            </a:r>
            <a:r>
              <a:rPr sz="1600" b="1" dirty="0">
                <a:solidFill>
                  <a:srgbClr val="156082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8266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E8F6-23A5-4EC0-8864-9DEB027E9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holdout, five models</a:t>
            </a:r>
          </a:p>
        </p:txBody>
      </p:sp>
      <p:sp>
        <p:nvSpPr>
          <p:cNvPr id="3" name="comparison-scope">
            <a:extLst>
              <a:ext uri="{FF2B5EF4-FFF2-40B4-BE49-F238E27FC236}">
                <a16:creationId xmlns:a16="http://schemas.microsoft.com/office/drawing/2014/main" id="{883B28A8-1541-4AA6-AC5C-B227A613F6C9}"/>
              </a:ext>
            </a:extLst>
          </p:cNvPr>
          <p:cNvSpPr>
            <a:spLocks noGrp="1"/>
          </p:cNvSpPr>
          <p:nvPr/>
        </p:nvSpPr>
        <p:spPr>
          <a:xfrm>
            <a:off x="914400" y="1752600"/>
            <a:ext cx="1036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50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500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Same evaluation for every row: train </a:t>
            </a:r>
            <a:r>
              <a:rPr sz="1500" b="1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Jun 2025-May 2026 </a:t>
            </a:r>
            <a:r>
              <a:rPr sz="1500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(130,060 sales); test </a:t>
            </a:r>
            <a:r>
              <a:rPr sz="1500" b="1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Jun 2026 </a:t>
            </a:r>
            <a:r>
              <a:rPr sz="1500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(12,857 untouched sales).</a:t>
            </a:r>
          </a:p>
        </p:txBody>
      </p:sp>
      <p:graphicFrame>
        <p:nvGraphicFramePr>
          <p:cNvPr id="9" name="Table 8"/>
          <p:cNvGraphicFramePr/>
          <p:nvPr>
            <p:extLst>
              <p:ext uri="{D42A27DB-BD31-4B8C-83A1-F6EECF244321}">
                <p14:modId xmlns:p14="http://schemas.microsoft.com/office/powerpoint/2010/main" val="1243321354"/>
              </p:ext>
            </p:extLst>
          </p:nvPr>
        </p:nvGraphicFramePr>
        <p:xfrm>
          <a:off x="914400" y="2152650"/>
          <a:ext cx="10363200" cy="2724150"/>
        </p:xfrm>
        <a:graphic>
          <a:graphicData uri="http://schemas.openxmlformats.org/drawingml/2006/table">
            <a:tbl>
              <a:tblPr/>
              <a:tblGrid>
                <a:gridCol w="3684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5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5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4025">
                <a:tc>
                  <a:txBody>
                    <a:bodyPr/>
                    <a:lstStyle/>
                    <a:p>
                      <a:pPr algn="ctr"/>
                      <a:r>
                        <a:rPr sz="1425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Model</a:t>
                      </a:r>
                    </a:p>
                  </a:txBody>
                  <a:tcPr marL="76200" marR="76200" marT="47625" marB="47625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Test R2</a:t>
                      </a:r>
                    </a:p>
                  </a:txBody>
                  <a:tcPr marL="76200" marR="76200" marT="47625" marB="47625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MAPE</a:t>
                      </a:r>
                    </a:p>
                  </a:txBody>
                  <a:tcPr marL="76200" marR="76200" marT="47625" marB="47625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MdAPE</a:t>
                      </a:r>
                    </a:p>
                  </a:txBody>
                  <a:tcPr marL="76200" marR="76200" marT="47625" marB="47625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MAPE - MdAPE</a:t>
                      </a:r>
                    </a:p>
                  </a:txBody>
                  <a:tcPr marL="76200" marR="76200" marT="47625" marB="47625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6082"/>
                          </a:solidFill>
                          <a:latin typeface="Aptos"/>
                          <a:ea typeface="Aptos"/>
                          <a:cs typeface="Aptos"/>
                        </a:rPr>
                        <a:t>XGBoost</a:t>
                      </a:r>
                    </a:p>
                  </a:txBody>
                  <a:tcPr marL="76200" marR="76200" marT="47625" marB="47625" anchor="ctr"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56082"/>
                          </a:solidFill>
                          <a:latin typeface="Aptos"/>
                          <a:ea typeface="Aptos"/>
                          <a:cs typeface="Aptos"/>
                        </a:rPr>
                        <a:t>0.812</a:t>
                      </a:r>
                    </a:p>
                  </a:txBody>
                  <a:tcPr marL="76200" marR="76200" marT="47625" marB="47625" anchor="ctr"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25.20%</a:t>
                      </a:r>
                    </a:p>
                  </a:txBody>
                  <a:tcPr marL="76200" marR="76200" marT="47625" marB="47625" anchor="ctr"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11.77%</a:t>
                      </a:r>
                    </a:p>
                  </a:txBody>
                  <a:tcPr marL="76200" marR="76200" marT="47625" marB="47625" anchor="ctr"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dirty="0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13.43</a:t>
                      </a:r>
                      <a:r>
                        <a:rPr lang="en-US" sz="1425" dirty="0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%</a:t>
                      </a:r>
                      <a:endParaRPr sz="1425" dirty="0">
                        <a:solidFill>
                          <a:srgbClr val="263238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47625" marB="47625" anchor="ctr"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LightGBM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0.798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26.56%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12.23%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dirty="0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14.33</a:t>
                      </a:r>
                      <a:r>
                        <a:rPr lang="en-US" sz="1425" dirty="0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%</a:t>
                      </a:r>
                      <a:endParaRPr sz="1425" dirty="0">
                        <a:solidFill>
                          <a:srgbClr val="263238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47625" marB="476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97132"/>
                          </a:solidFill>
                          <a:latin typeface="Aptos"/>
                          <a:ea typeface="Aptos"/>
                          <a:cs typeface="Aptos"/>
                        </a:rPr>
                        <a:t>Random Forest</a:t>
                      </a:r>
                    </a:p>
                  </a:txBody>
                  <a:tcPr marL="76200" marR="76200" marT="47625" marB="47625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0.749</a:t>
                      </a:r>
                    </a:p>
                  </a:txBody>
                  <a:tcPr marL="76200" marR="76200" marT="47625" marB="47625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E97132"/>
                          </a:solidFill>
                          <a:latin typeface="Aptos"/>
                          <a:ea typeface="Aptos"/>
                          <a:cs typeface="Aptos"/>
                        </a:rPr>
                        <a:t>23.69%</a:t>
                      </a:r>
                    </a:p>
                  </a:txBody>
                  <a:tcPr marL="76200" marR="76200" marT="47625" marB="47625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E97132"/>
                          </a:solidFill>
                          <a:latin typeface="Aptos"/>
                          <a:ea typeface="Aptos"/>
                          <a:cs typeface="Aptos"/>
                        </a:rPr>
                        <a:t>9.14%</a:t>
                      </a:r>
                    </a:p>
                  </a:txBody>
                  <a:tcPr marL="76200" marR="76200" marT="47625" marB="47625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dirty="0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14.54</a:t>
                      </a:r>
                      <a:r>
                        <a:rPr lang="en-US" sz="1425" dirty="0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%</a:t>
                      </a:r>
                      <a:endParaRPr sz="1425" dirty="0">
                        <a:solidFill>
                          <a:srgbClr val="263238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47625" marB="47625" anchor="ctr">
                    <a:solidFill>
                      <a:srgbClr val="FD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Decision Tree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0.722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26.30%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10.61%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dirty="0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15.69</a:t>
                      </a:r>
                      <a:r>
                        <a:rPr lang="en-US" sz="1425" dirty="0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%</a:t>
                      </a:r>
                      <a:endParaRPr sz="1425" dirty="0">
                        <a:solidFill>
                          <a:srgbClr val="263238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47625" marB="476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Linear Regression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0.699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33.82%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17.98%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dirty="0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15.84</a:t>
                      </a:r>
                      <a:r>
                        <a:rPr lang="en-US" sz="1425" dirty="0">
                          <a:solidFill>
                            <a:srgbClr val="263238"/>
                          </a:solidFill>
                          <a:latin typeface="Aptos"/>
                          <a:ea typeface="Aptos"/>
                          <a:cs typeface="Aptos"/>
                        </a:rPr>
                        <a:t>%</a:t>
                      </a:r>
                      <a:endParaRPr sz="1425" dirty="0">
                        <a:solidFill>
                          <a:srgbClr val="263238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47625" marB="476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comparison-insight-bar">
            <a:extLst>
              <a:ext uri="{FF2B5EF4-FFF2-40B4-BE49-F238E27FC236}">
                <a16:creationId xmlns:a16="http://schemas.microsoft.com/office/drawing/2014/main" id="{BD8B736E-02CD-4F66-81E8-BC5758042BE0}"/>
              </a:ext>
            </a:extLst>
          </p:cNvPr>
          <p:cNvSpPr>
            <a:spLocks noGrp="1"/>
          </p:cNvSpPr>
          <p:nvPr/>
        </p:nvSpPr>
        <p:spPr>
          <a:xfrm>
            <a:off x="914400" y="5105400"/>
            <a:ext cx="76200" cy="819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mparison-insight">
            <a:extLst>
              <a:ext uri="{FF2B5EF4-FFF2-40B4-BE49-F238E27FC236}">
                <a16:creationId xmlns:a16="http://schemas.microsoft.com/office/drawing/2014/main" id="{5DBF1514-2D0B-4FCF-A007-F1AF18C67EA0}"/>
              </a:ext>
            </a:extLst>
          </p:cNvPr>
          <p:cNvSpPr>
            <a:spLocks noGrp="1"/>
          </p:cNvSpPr>
          <p:nvPr/>
        </p:nvSpPr>
        <p:spPr>
          <a:xfrm>
            <a:off x="1143000" y="5048250"/>
            <a:ext cx="101346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150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50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The 13</a:t>
            </a:r>
            <a:r>
              <a:rPr lang="en-US" sz="150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-to-</a:t>
            </a:r>
            <a:r>
              <a:rPr sz="150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16</a:t>
            </a:r>
            <a:r>
              <a:rPr lang="en-US" sz="150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% </a:t>
            </a:r>
            <a:r>
              <a:rPr sz="150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MAPE-</a:t>
            </a:r>
            <a:r>
              <a:rPr sz="1500" dirty="0" err="1">
                <a:solidFill>
                  <a:srgbClr val="263238"/>
                </a:solidFill>
                <a:latin typeface="Aptos"/>
                <a:ea typeface="Aptos"/>
                <a:cs typeface="Aptos"/>
              </a:rPr>
              <a:t>MdAPE</a:t>
            </a:r>
            <a:r>
              <a:rPr sz="150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 gaps are </a:t>
            </a:r>
            <a:r>
              <a:rPr lang="en-US" sz="150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reasonable</a:t>
            </a:r>
            <a:r>
              <a:rPr sz="150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: most homes are closer than the mean suggests, while a smaller tail of luxury or unusual properties </a:t>
            </a:r>
            <a:r>
              <a:rPr lang="en-US" sz="150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results in</a:t>
            </a:r>
            <a:r>
              <a:rPr sz="150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 much larger percentage misses. </a:t>
            </a:r>
            <a:r>
              <a:rPr sz="1500" b="1" dirty="0" err="1">
                <a:solidFill>
                  <a:srgbClr val="263238"/>
                </a:solidFill>
                <a:latin typeface="Aptos"/>
                <a:ea typeface="Aptos"/>
                <a:cs typeface="Aptos"/>
              </a:rPr>
              <a:t>XGBoost</a:t>
            </a:r>
            <a:r>
              <a:rPr sz="150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 leads R2; </a:t>
            </a:r>
            <a:r>
              <a:rPr sz="1500" b="1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Random Forest </a:t>
            </a:r>
            <a:r>
              <a:rPr sz="150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leads typical % accuracy.</a:t>
            </a:r>
          </a:p>
        </p:txBody>
      </p:sp>
    </p:spTree>
    <p:extLst>
      <p:ext uri="{BB962C8B-B14F-4D97-AF65-F5344CB8AC3E}">
        <p14:creationId xmlns:p14="http://schemas.microsoft.com/office/powerpoint/2010/main" val="1308266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adeoff-divider">
            <a:extLst>
              <a:ext uri="{FF2B5EF4-FFF2-40B4-BE49-F238E27FC236}">
                <a16:creationId xmlns:a16="http://schemas.microsoft.com/office/drawing/2014/main" id="{A9EA89A4-2943-417F-B2D1-AF81B37295D2}"/>
              </a:ext>
            </a:extLst>
          </p:cNvPr>
          <p:cNvSpPr>
            <a:spLocks noGrp="1"/>
          </p:cNvSpPr>
          <p:nvPr/>
        </p:nvSpPr>
        <p:spPr>
          <a:xfrm>
            <a:off x="6053137" y="2166938"/>
            <a:ext cx="28575" cy="2781300"/>
          </a:xfrm>
          <a:prstGeom prst="rect">
            <a:avLst/>
          </a:prstGeom>
          <a:solidFill>
            <a:srgbClr val="D9E1E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3CE8F6-23A5-4EC0-8864-9DEB027E9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 leads overall fit</a:t>
            </a:r>
          </a:p>
        </p:txBody>
      </p:sp>
      <p:sp>
        <p:nvSpPr>
          <p:cNvPr id="3" name="tradeoff-subtitle">
            <a:extLst>
              <a:ext uri="{FF2B5EF4-FFF2-40B4-BE49-F238E27FC236}">
                <a16:creationId xmlns:a16="http://schemas.microsoft.com/office/drawing/2014/main" id="{32F4CA14-A7F0-43B4-9E67-8A2ED717BA53}"/>
              </a:ext>
            </a:extLst>
          </p:cNvPr>
          <p:cNvSpPr>
            <a:spLocks noGrp="1"/>
          </p:cNvSpPr>
          <p:nvPr/>
        </p:nvSpPr>
        <p:spPr>
          <a:xfrm>
            <a:off x="914400" y="1752600"/>
            <a:ext cx="1036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B6770"/>
                </a:solidFill>
                <a:latin typeface="Aptos"/>
                <a:ea typeface="Aptos"/>
                <a:cs typeface="Aptos"/>
              </a:rPr>
              <a:t>Jun 2026 holdout (same rows)</a:t>
            </a:r>
          </a:p>
        </p:txBody>
      </p:sp>
      <p:sp>
        <p:nvSpPr>
          <p:cNvPr id="5" name="xgb-label">
            <a:extLst>
              <a:ext uri="{FF2B5EF4-FFF2-40B4-BE49-F238E27FC236}">
                <a16:creationId xmlns:a16="http://schemas.microsoft.com/office/drawing/2014/main" id="{4E3FB1D8-CC20-4B95-8CBC-A53C07F1904B}"/>
              </a:ext>
            </a:extLst>
          </p:cNvPr>
          <p:cNvSpPr>
            <a:spLocks noGrp="1"/>
          </p:cNvSpPr>
          <p:nvPr/>
        </p:nvSpPr>
        <p:spPr>
          <a:xfrm>
            <a:off x="466725" y="2162175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250" b="1">
                <a:solidFill>
                  <a:srgbClr val="156082"/>
                </a:solidFill>
                <a:latin typeface="Aptos"/>
                <a:ea typeface="Aptos"/>
                <a:cs typeface="Aptos"/>
              </a:defRPr>
            </a:pPr>
            <a:r>
              <a:rPr sz="2250" b="1" dirty="0" err="1">
                <a:solidFill>
                  <a:srgbClr val="156082"/>
                </a:solidFill>
                <a:latin typeface="Aptos"/>
                <a:ea typeface="Aptos"/>
                <a:cs typeface="Aptos"/>
              </a:rPr>
              <a:t>XGBoost</a:t>
            </a:r>
            <a:endParaRPr sz="2250" b="1" dirty="0">
              <a:solidFill>
                <a:srgbClr val="15608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f-label">
            <a:extLst>
              <a:ext uri="{FF2B5EF4-FFF2-40B4-BE49-F238E27FC236}">
                <a16:creationId xmlns:a16="http://schemas.microsoft.com/office/drawing/2014/main" id="{2191D3BC-B1E0-4E33-9080-7371610BFA66}"/>
              </a:ext>
            </a:extLst>
          </p:cNvPr>
          <p:cNvSpPr>
            <a:spLocks noGrp="1"/>
          </p:cNvSpPr>
          <p:nvPr/>
        </p:nvSpPr>
        <p:spPr>
          <a:xfrm>
            <a:off x="7667624" y="222885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250" b="1">
                <a:solidFill>
                  <a:srgbClr val="E97132"/>
                </a:solidFill>
                <a:latin typeface="Aptos"/>
                <a:ea typeface="Aptos"/>
                <a:cs typeface="Aptos"/>
              </a:defRPr>
            </a:pPr>
            <a:r>
              <a:rPr sz="2250" b="1" dirty="0">
                <a:solidFill>
                  <a:srgbClr val="E97132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7" name="metric-left-R2">
            <a:extLst>
              <a:ext uri="{FF2B5EF4-FFF2-40B4-BE49-F238E27FC236}">
                <a16:creationId xmlns:a16="http://schemas.microsoft.com/office/drawing/2014/main" id="{1FBB95F3-411E-4FD1-AE2A-7AF45B485471}"/>
              </a:ext>
            </a:extLst>
          </p:cNvPr>
          <p:cNvSpPr>
            <a:spLocks noGrp="1"/>
          </p:cNvSpPr>
          <p:nvPr/>
        </p:nvSpPr>
        <p:spPr>
          <a:xfrm>
            <a:off x="14668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550" b="1">
                <a:solidFill>
                  <a:srgbClr val="15608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6082"/>
                </a:solidFill>
                <a:latin typeface="Aptos"/>
                <a:ea typeface="Aptos"/>
                <a:cs typeface="Aptos"/>
              </a:rPr>
              <a:t>0.812</a:t>
            </a:r>
          </a:p>
        </p:txBody>
      </p:sp>
      <p:sp>
        <p:nvSpPr>
          <p:cNvPr id="8" name="metric-name-R2">
            <a:extLst>
              <a:ext uri="{FF2B5EF4-FFF2-40B4-BE49-F238E27FC236}">
                <a16:creationId xmlns:a16="http://schemas.microsoft.com/office/drawing/2014/main" id="{AAC73B9D-0230-42A9-908B-55670D53925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0E2841"/>
                </a:solidFill>
                <a:latin typeface="Aptos"/>
                <a:ea typeface="Aptos"/>
                <a:cs typeface="Aptos"/>
              </a:rPr>
              <a:t>R2</a:t>
            </a:r>
          </a:p>
        </p:txBody>
      </p:sp>
      <p:sp>
        <p:nvSpPr>
          <p:cNvPr id="9" name="metric-readout-R2">
            <a:extLst>
              <a:ext uri="{FF2B5EF4-FFF2-40B4-BE49-F238E27FC236}">
                <a16:creationId xmlns:a16="http://schemas.microsoft.com/office/drawing/2014/main" id="{F0CC1B53-5EFD-41E1-BD77-70FEB4A01749}"/>
              </a:ext>
            </a:extLst>
          </p:cNvPr>
          <p:cNvSpPr>
            <a:spLocks noGrp="1"/>
          </p:cNvSpPr>
          <p:nvPr/>
        </p:nvSpPr>
        <p:spPr>
          <a:xfrm>
            <a:off x="4762500" y="3076575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lang="en-US" sz="1200" dirty="0" err="1">
                <a:solidFill>
                  <a:srgbClr val="5B6770"/>
                </a:solidFill>
                <a:latin typeface="Aptos"/>
                <a:ea typeface="Aptos"/>
                <a:cs typeface="Aptos"/>
              </a:rPr>
              <a:t>XGBoost</a:t>
            </a:r>
            <a:r>
              <a:rPr lang="en-US" sz="1200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 </a:t>
            </a:r>
            <a:r>
              <a:rPr sz="1200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+0.063</a:t>
            </a:r>
          </a:p>
        </p:txBody>
      </p:sp>
      <p:sp>
        <p:nvSpPr>
          <p:cNvPr id="10" name="metric-right-R2">
            <a:extLst>
              <a:ext uri="{FF2B5EF4-FFF2-40B4-BE49-F238E27FC236}">
                <a16:creationId xmlns:a16="http://schemas.microsoft.com/office/drawing/2014/main" id="{370F35E4-45DC-45E0-A74B-70EBEB2C1EE1}"/>
              </a:ext>
            </a:extLst>
          </p:cNvPr>
          <p:cNvSpPr>
            <a:spLocks noGrp="1"/>
          </p:cNvSpPr>
          <p:nvPr/>
        </p:nvSpPr>
        <p:spPr>
          <a:xfrm>
            <a:off x="872490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550" b="1">
                <a:solidFill>
                  <a:srgbClr val="E9713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E97132"/>
                </a:solidFill>
                <a:latin typeface="Aptos"/>
                <a:ea typeface="Aptos"/>
                <a:cs typeface="Aptos"/>
              </a:rPr>
              <a:t>0.749</a:t>
            </a:r>
          </a:p>
        </p:txBody>
      </p:sp>
      <p:sp>
        <p:nvSpPr>
          <p:cNvPr id="11" name="metric-left-RMSE">
            <a:extLst>
              <a:ext uri="{FF2B5EF4-FFF2-40B4-BE49-F238E27FC236}">
                <a16:creationId xmlns:a16="http://schemas.microsoft.com/office/drawing/2014/main" id="{090B2C4A-6E52-4C47-8E5D-419E41F649FD}"/>
              </a:ext>
            </a:extLst>
          </p:cNvPr>
          <p:cNvSpPr>
            <a:spLocks noGrp="1"/>
          </p:cNvSpPr>
          <p:nvPr/>
        </p:nvSpPr>
        <p:spPr>
          <a:xfrm>
            <a:off x="1466850" y="352425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550" b="1">
                <a:solidFill>
                  <a:srgbClr val="15608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6082"/>
                </a:solidFill>
                <a:latin typeface="Aptos"/>
                <a:ea typeface="Aptos"/>
                <a:cs typeface="Aptos"/>
              </a:rPr>
              <a:t>$667K</a:t>
            </a:r>
          </a:p>
        </p:txBody>
      </p:sp>
      <p:sp>
        <p:nvSpPr>
          <p:cNvPr id="12" name="metric-name-RMSE">
            <a:extLst>
              <a:ext uri="{FF2B5EF4-FFF2-40B4-BE49-F238E27FC236}">
                <a16:creationId xmlns:a16="http://schemas.microsoft.com/office/drawing/2014/main" id="{CA25B121-AB37-4354-9715-929B1C423F76}"/>
              </a:ext>
            </a:extLst>
          </p:cNvPr>
          <p:cNvSpPr>
            <a:spLocks noGrp="1"/>
          </p:cNvSpPr>
          <p:nvPr/>
        </p:nvSpPr>
        <p:spPr>
          <a:xfrm>
            <a:off x="4953000" y="35433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RMSE</a:t>
            </a:r>
          </a:p>
        </p:txBody>
      </p:sp>
      <p:sp>
        <p:nvSpPr>
          <p:cNvPr id="13" name="metric-readout-RMSE">
            <a:extLst>
              <a:ext uri="{FF2B5EF4-FFF2-40B4-BE49-F238E27FC236}">
                <a16:creationId xmlns:a16="http://schemas.microsoft.com/office/drawing/2014/main" id="{A620C444-73EB-479E-8A3C-EBD52427FA05}"/>
              </a:ext>
            </a:extLst>
          </p:cNvPr>
          <p:cNvSpPr>
            <a:spLocks noGrp="1"/>
          </p:cNvSpPr>
          <p:nvPr/>
        </p:nvSpPr>
        <p:spPr>
          <a:xfrm>
            <a:off x="4762500" y="3819525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lang="en-US" sz="1200" dirty="0" err="1">
                <a:solidFill>
                  <a:srgbClr val="5B6770"/>
                </a:solidFill>
                <a:latin typeface="Aptos"/>
                <a:ea typeface="Aptos"/>
                <a:cs typeface="Aptos"/>
              </a:rPr>
              <a:t>XGBoost</a:t>
            </a:r>
            <a:r>
              <a:rPr lang="en-US" sz="1200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 </a:t>
            </a:r>
            <a:r>
              <a:rPr sz="1200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$103K lower</a:t>
            </a:r>
          </a:p>
        </p:txBody>
      </p:sp>
      <p:sp>
        <p:nvSpPr>
          <p:cNvPr id="14" name="metric-right-RMSE">
            <a:extLst>
              <a:ext uri="{FF2B5EF4-FFF2-40B4-BE49-F238E27FC236}">
                <a16:creationId xmlns:a16="http://schemas.microsoft.com/office/drawing/2014/main" id="{F1A19475-C3FD-4983-8345-520BFEA56BDC}"/>
              </a:ext>
            </a:extLst>
          </p:cNvPr>
          <p:cNvSpPr>
            <a:spLocks noGrp="1"/>
          </p:cNvSpPr>
          <p:nvPr/>
        </p:nvSpPr>
        <p:spPr>
          <a:xfrm>
            <a:off x="8724900" y="352425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550" b="1">
                <a:solidFill>
                  <a:srgbClr val="E9713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E97132"/>
                </a:solidFill>
                <a:latin typeface="Aptos"/>
                <a:ea typeface="Aptos"/>
                <a:cs typeface="Aptos"/>
              </a:rPr>
              <a:t>$770K</a:t>
            </a:r>
          </a:p>
        </p:txBody>
      </p:sp>
      <p:sp>
        <p:nvSpPr>
          <p:cNvPr id="15" name="metric-left-MdAPE">
            <a:extLst>
              <a:ext uri="{FF2B5EF4-FFF2-40B4-BE49-F238E27FC236}">
                <a16:creationId xmlns:a16="http://schemas.microsoft.com/office/drawing/2014/main" id="{9238F1C7-0E1E-45D1-B611-46DC900D808F}"/>
              </a:ext>
            </a:extLst>
          </p:cNvPr>
          <p:cNvSpPr>
            <a:spLocks noGrp="1"/>
          </p:cNvSpPr>
          <p:nvPr/>
        </p:nvSpPr>
        <p:spPr>
          <a:xfrm>
            <a:off x="1466850" y="42672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550" b="1">
                <a:solidFill>
                  <a:srgbClr val="15608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6082"/>
                </a:solidFill>
                <a:latin typeface="Aptos"/>
                <a:ea typeface="Aptos"/>
                <a:cs typeface="Aptos"/>
              </a:rPr>
              <a:t>11.8%</a:t>
            </a:r>
          </a:p>
        </p:txBody>
      </p:sp>
      <p:sp>
        <p:nvSpPr>
          <p:cNvPr id="16" name="metric-name-MdAPE">
            <a:extLst>
              <a:ext uri="{FF2B5EF4-FFF2-40B4-BE49-F238E27FC236}">
                <a16:creationId xmlns:a16="http://schemas.microsoft.com/office/drawing/2014/main" id="{F4CE3C29-B683-4D2D-8577-6EF605394C0D}"/>
              </a:ext>
            </a:extLst>
          </p:cNvPr>
          <p:cNvSpPr>
            <a:spLocks noGrp="1"/>
          </p:cNvSpPr>
          <p:nvPr/>
        </p:nvSpPr>
        <p:spPr>
          <a:xfrm>
            <a:off x="4953000" y="42862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MdAPE</a:t>
            </a:r>
          </a:p>
        </p:txBody>
      </p:sp>
      <p:sp>
        <p:nvSpPr>
          <p:cNvPr id="17" name="metric-readout-MdAPE">
            <a:extLst>
              <a:ext uri="{FF2B5EF4-FFF2-40B4-BE49-F238E27FC236}">
                <a16:creationId xmlns:a16="http://schemas.microsoft.com/office/drawing/2014/main" id="{B8A53BBF-926D-485B-8C21-115FFC6F1E8E}"/>
              </a:ext>
            </a:extLst>
          </p:cNvPr>
          <p:cNvSpPr>
            <a:spLocks noGrp="1"/>
          </p:cNvSpPr>
          <p:nvPr/>
        </p:nvSpPr>
        <p:spPr>
          <a:xfrm>
            <a:off x="4762500" y="4562475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lang="en-US" sz="1200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RF </a:t>
            </a:r>
            <a:r>
              <a:rPr sz="1200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2.6</a:t>
            </a:r>
            <a:r>
              <a:rPr lang="en-US" sz="1200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% </a:t>
            </a:r>
            <a:r>
              <a:rPr sz="1200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lowe</a:t>
            </a:r>
            <a:r>
              <a:rPr lang="en-US" sz="1200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r</a:t>
            </a:r>
            <a:endParaRPr sz="1200" dirty="0">
              <a:solidFill>
                <a:srgbClr val="5B67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metric-right-MdAPE">
            <a:extLst>
              <a:ext uri="{FF2B5EF4-FFF2-40B4-BE49-F238E27FC236}">
                <a16:creationId xmlns:a16="http://schemas.microsoft.com/office/drawing/2014/main" id="{D86F67D8-F943-4B1B-ADB6-43C0E281778B}"/>
              </a:ext>
            </a:extLst>
          </p:cNvPr>
          <p:cNvSpPr>
            <a:spLocks noGrp="1"/>
          </p:cNvSpPr>
          <p:nvPr/>
        </p:nvSpPr>
        <p:spPr>
          <a:xfrm>
            <a:off x="8724900" y="42672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550" b="1">
                <a:solidFill>
                  <a:srgbClr val="E9713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E97132"/>
                </a:solidFill>
                <a:latin typeface="Aptos"/>
                <a:ea typeface="Aptos"/>
                <a:cs typeface="Aptos"/>
              </a:rPr>
              <a:t>9.1%</a:t>
            </a:r>
          </a:p>
        </p:txBody>
      </p:sp>
      <p:sp>
        <p:nvSpPr>
          <p:cNvPr id="19" name="tradeoff-decision-bar">
            <a:extLst>
              <a:ext uri="{FF2B5EF4-FFF2-40B4-BE49-F238E27FC236}">
                <a16:creationId xmlns:a16="http://schemas.microsoft.com/office/drawing/2014/main" id="{BD929151-3885-4F59-B535-3258C614D116}"/>
              </a:ext>
            </a:extLst>
          </p:cNvPr>
          <p:cNvSpPr>
            <a:spLocks noGrp="1"/>
          </p:cNvSpPr>
          <p:nvPr/>
        </p:nvSpPr>
        <p:spPr>
          <a:xfrm>
            <a:off x="914400" y="5276850"/>
            <a:ext cx="76200" cy="723900"/>
          </a:xfrm>
          <a:prstGeom prst="rect">
            <a:avLst/>
          </a:prstGeom>
          <a:solidFill>
            <a:srgbClr val="15608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radeoff-decision">
            <a:extLst>
              <a:ext uri="{FF2B5EF4-FFF2-40B4-BE49-F238E27FC236}">
                <a16:creationId xmlns:a16="http://schemas.microsoft.com/office/drawing/2014/main" id="{263774D6-5866-4083-806B-85D3D95B0F7B}"/>
              </a:ext>
            </a:extLst>
          </p:cNvPr>
          <p:cNvSpPr>
            <a:spLocks noGrp="1"/>
          </p:cNvSpPr>
          <p:nvPr/>
        </p:nvSpPr>
        <p:spPr>
          <a:xfrm>
            <a:off x="1143000" y="5219700"/>
            <a:ext cx="10134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Decision: use XGBoost as the primary statewide candidate for explained variation and large-miss control; keep Random Forest as the benchmark (or ensemble candidate) for typical percentage accuracy.</a:t>
            </a:r>
          </a:p>
        </p:txBody>
      </p:sp>
    </p:spTree>
    <p:extLst>
      <p:ext uri="{BB962C8B-B14F-4D97-AF65-F5344CB8AC3E}">
        <p14:creationId xmlns:p14="http://schemas.microsoft.com/office/powerpoint/2010/main" val="1308266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05404-E522-B43E-E67E-BEF84A02F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Model </a:t>
            </a:r>
          </a:p>
        </p:txBody>
      </p:sp>
    </p:spTree>
    <p:extLst>
      <p:ext uri="{BB962C8B-B14F-4D97-AF65-F5344CB8AC3E}">
        <p14:creationId xmlns:p14="http://schemas.microsoft.com/office/powerpoint/2010/main" val="2154110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719C1-6FCD-E5BB-A052-0583517B8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By Price Band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BF558-8B8E-CEE5-FC59-242E27358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t>Best model for this section: Riva's XGBoost (depth 8, learning rate 0.05, 500 trees).</a:t>
            </a:r>
          </a:p>
        </p:txBody>
      </p:sp>
    </p:spTree>
    <p:extLst>
      <p:ext uri="{BB962C8B-B14F-4D97-AF65-F5344CB8AC3E}">
        <p14:creationId xmlns:p14="http://schemas.microsoft.com/office/powerpoint/2010/main" val="226973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8141B-7128-2D33-376E-816E252BB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 </a:t>
            </a:r>
          </a:p>
        </p:txBody>
      </p:sp>
    </p:spTree>
    <p:extLst>
      <p:ext uri="{BB962C8B-B14F-4D97-AF65-F5344CB8AC3E}">
        <p14:creationId xmlns:p14="http://schemas.microsoft.com/office/powerpoint/2010/main" val="1975664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E8F6-23A5-4EC0-8864-9DEB027E9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| Build a trustworthy baseline</a:t>
            </a:r>
          </a:p>
        </p:txBody>
      </p:sp>
      <p:sp>
        <p:nvSpPr>
          <p:cNvPr id="3" name="timeline-subtitle">
            <a:extLst>
              <a:ext uri="{FF2B5EF4-FFF2-40B4-BE49-F238E27FC236}">
                <a16:creationId xmlns:a16="http://schemas.microsoft.com/office/drawing/2014/main" id="{EB01C09E-4401-4408-8B8E-30EB2BB9E229}"/>
              </a:ext>
            </a:extLst>
          </p:cNvPr>
          <p:cNvSpPr>
            <a:spLocks noGrp="1"/>
          </p:cNvSpPr>
          <p:nvPr/>
        </p:nvSpPr>
        <p:spPr>
          <a:xfrm>
            <a:off x="914400" y="1771650"/>
            <a:ext cx="10363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725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5B6770"/>
                </a:solidFill>
                <a:latin typeface="Aptos"/>
                <a:ea typeface="Aptos"/>
                <a:cs typeface="Aptos"/>
              </a:rPr>
              <a:t>We fixed the evaluation rules before optimizing the algorithm.</a:t>
            </a:r>
          </a:p>
        </p:txBody>
      </p:sp>
      <p:sp>
        <p:nvSpPr>
          <p:cNvPr id="4" name="timeline-line">
            <a:extLst>
              <a:ext uri="{FF2B5EF4-FFF2-40B4-BE49-F238E27FC236}">
                <a16:creationId xmlns:a16="http://schemas.microsoft.com/office/drawing/2014/main" id="{03B6E387-CD66-44C9-A8BF-1F54D49F91D8}"/>
              </a:ext>
            </a:extLst>
          </p:cNvPr>
          <p:cNvSpPr>
            <a:spLocks noGrp="1"/>
          </p:cNvSpPr>
          <p:nvPr/>
        </p:nvSpPr>
        <p:spPr>
          <a:xfrm>
            <a:off x="1581150" y="2924175"/>
            <a:ext cx="9029700" cy="38100"/>
          </a:xfrm>
          <a:prstGeom prst="rect">
            <a:avLst/>
          </a:prstGeom>
          <a:solidFill>
            <a:srgbClr val="D9E1E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marker-1">
            <a:extLst>
              <a:ext uri="{FF2B5EF4-FFF2-40B4-BE49-F238E27FC236}">
                <a16:creationId xmlns:a16="http://schemas.microsoft.com/office/drawing/2014/main" id="{B035EC9C-BFCE-4B0C-9C9C-8CBBF20527A2}"/>
              </a:ext>
            </a:extLst>
          </p:cNvPr>
          <p:cNvSpPr>
            <a:spLocks noGrp="1"/>
          </p:cNvSpPr>
          <p:nvPr/>
        </p:nvSpPr>
        <p:spPr>
          <a:xfrm>
            <a:off x="2343150" y="2752725"/>
            <a:ext cx="381000" cy="381000"/>
          </a:xfrm>
          <a:prstGeom prst="ellipse">
            <a:avLst/>
          </a:prstGeom>
          <a:solidFill>
            <a:srgbClr val="156082"/>
          </a:solidFill>
          <a:ln w="28575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marker-2">
            <a:extLst>
              <a:ext uri="{FF2B5EF4-FFF2-40B4-BE49-F238E27FC236}">
                <a16:creationId xmlns:a16="http://schemas.microsoft.com/office/drawing/2014/main" id="{0B657C36-DA04-4F36-98B3-4D76A2CDB003}"/>
              </a:ext>
            </a:extLst>
          </p:cNvPr>
          <p:cNvSpPr>
            <a:spLocks noGrp="1"/>
          </p:cNvSpPr>
          <p:nvPr/>
        </p:nvSpPr>
        <p:spPr>
          <a:xfrm>
            <a:off x="5762625" y="2752725"/>
            <a:ext cx="381000" cy="381000"/>
          </a:xfrm>
          <a:prstGeom prst="ellipse">
            <a:avLst/>
          </a:prstGeom>
          <a:solidFill>
            <a:srgbClr val="156082"/>
          </a:solidFill>
          <a:ln w="28575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" name="marker-3">
            <a:extLst>
              <a:ext uri="{FF2B5EF4-FFF2-40B4-BE49-F238E27FC236}">
                <a16:creationId xmlns:a16="http://schemas.microsoft.com/office/drawing/2014/main" id="{623FB250-307F-42D4-A128-8F124DB338A3}"/>
              </a:ext>
            </a:extLst>
          </p:cNvPr>
          <p:cNvSpPr>
            <a:spLocks noGrp="1"/>
          </p:cNvSpPr>
          <p:nvPr/>
        </p:nvSpPr>
        <p:spPr>
          <a:xfrm>
            <a:off x="9182100" y="2752725"/>
            <a:ext cx="381000" cy="381000"/>
          </a:xfrm>
          <a:prstGeom prst="ellipse">
            <a:avLst/>
          </a:prstGeom>
          <a:solidFill>
            <a:srgbClr val="E97132"/>
          </a:solidFill>
          <a:ln w="28575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" name="W3 | Clean + split-header">
            <a:extLst>
              <a:ext uri="{FF2B5EF4-FFF2-40B4-BE49-F238E27FC236}">
                <a16:creationId xmlns:a16="http://schemas.microsoft.com/office/drawing/2014/main" id="{8F14196D-247E-4010-A67D-118BD0F0D4A6}"/>
              </a:ext>
            </a:extLst>
          </p:cNvPr>
          <p:cNvSpPr>
            <a:spLocks noGrp="1"/>
          </p:cNvSpPr>
          <p:nvPr/>
        </p:nvSpPr>
        <p:spPr>
          <a:xfrm>
            <a:off x="990600" y="22669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725" b="1" dirty="0">
                <a:solidFill>
                  <a:srgbClr val="0E2841"/>
                </a:solidFill>
                <a:latin typeface="Aptos"/>
                <a:ea typeface="Aptos"/>
                <a:cs typeface="Aptos"/>
              </a:rPr>
              <a:t>W3 | Clean + split</a:t>
            </a:r>
          </a:p>
        </p:txBody>
      </p:sp>
      <p:sp>
        <p:nvSpPr>
          <p:cNvPr id="9" name="W3 | Clean + split-body">
            <a:extLst>
              <a:ext uri="{FF2B5EF4-FFF2-40B4-BE49-F238E27FC236}">
                <a16:creationId xmlns:a16="http://schemas.microsoft.com/office/drawing/2014/main" id="{99DEE709-F934-4C46-A71C-8D26D5697E55}"/>
              </a:ext>
            </a:extLst>
          </p:cNvPr>
          <p:cNvSpPr>
            <a:spLocks noGrp="1"/>
          </p:cNvSpPr>
          <p:nvPr/>
        </p:nvSpPr>
        <p:spPr>
          <a:xfrm>
            <a:off x="990600" y="3314700"/>
            <a:ext cx="30480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CA single-family sales only; invalid values became missing</a:t>
            </a:r>
            <a:r>
              <a:rPr lang="en-US"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/got flagged</a:t>
            </a:r>
            <a:r>
              <a:rPr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; pricing leakage and IDs were excluded; the latest full month stayed untouched.</a:t>
            </a:r>
          </a:p>
        </p:txBody>
      </p:sp>
      <p:sp>
        <p:nvSpPr>
          <p:cNvPr id="10" name="W3 | Clean + split-metric">
            <a:extLst>
              <a:ext uri="{FF2B5EF4-FFF2-40B4-BE49-F238E27FC236}">
                <a16:creationId xmlns:a16="http://schemas.microsoft.com/office/drawing/2014/main" id="{E7A9C96B-5B81-4435-9663-D3EA1B8CABC6}"/>
              </a:ext>
            </a:extLst>
          </p:cNvPr>
          <p:cNvSpPr>
            <a:spLocks noGrp="1"/>
          </p:cNvSpPr>
          <p:nvPr/>
        </p:nvSpPr>
        <p:spPr>
          <a:xfrm>
            <a:off x="990600" y="4543425"/>
            <a:ext cx="304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15608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6082"/>
                </a:solidFill>
                <a:latin typeface="Aptos"/>
                <a:ea typeface="Aptos"/>
                <a:cs typeface="Aptos"/>
              </a:rPr>
              <a:t>Chronological holdout</a:t>
            </a:r>
          </a:p>
        </p:txBody>
      </p:sp>
      <p:sp>
        <p:nvSpPr>
          <p:cNvPr id="11" name="W3 | Encode-header">
            <a:extLst>
              <a:ext uri="{FF2B5EF4-FFF2-40B4-BE49-F238E27FC236}">
                <a16:creationId xmlns:a16="http://schemas.microsoft.com/office/drawing/2014/main" id="{755822FE-E353-4D63-9A5B-F0B277B24F3B}"/>
              </a:ext>
            </a:extLst>
          </p:cNvPr>
          <p:cNvSpPr>
            <a:spLocks noGrp="1"/>
          </p:cNvSpPr>
          <p:nvPr/>
        </p:nvSpPr>
        <p:spPr>
          <a:xfrm>
            <a:off x="4410075" y="22669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W3 | Encode</a:t>
            </a:r>
          </a:p>
        </p:txBody>
      </p:sp>
      <p:sp>
        <p:nvSpPr>
          <p:cNvPr id="12" name="W3 | Encode-body">
            <a:extLst>
              <a:ext uri="{FF2B5EF4-FFF2-40B4-BE49-F238E27FC236}">
                <a16:creationId xmlns:a16="http://schemas.microsoft.com/office/drawing/2014/main" id="{1032CA47-399D-4060-845E-D8B847C9923A}"/>
              </a:ext>
            </a:extLst>
          </p:cNvPr>
          <p:cNvSpPr>
            <a:spLocks noGrp="1"/>
          </p:cNvSpPr>
          <p:nvPr/>
        </p:nvSpPr>
        <p:spPr>
          <a:xfrm>
            <a:off x="4410075" y="3314700"/>
            <a:ext cx="30480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W4-5 work used KNN-imputed, one-hot </a:t>
            </a:r>
            <a:r>
              <a:rPr lang="en-US"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encoded W</a:t>
            </a:r>
            <a:r>
              <a:rPr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3 matrix. Missingness and rare categories remained explicit.</a:t>
            </a:r>
          </a:p>
        </p:txBody>
      </p:sp>
      <p:sp>
        <p:nvSpPr>
          <p:cNvPr id="13" name="W3 | Encode-metric">
            <a:extLst>
              <a:ext uri="{FF2B5EF4-FFF2-40B4-BE49-F238E27FC236}">
                <a16:creationId xmlns:a16="http://schemas.microsoft.com/office/drawing/2014/main" id="{38DFB0B3-4148-4639-B958-9690DFAE7811}"/>
              </a:ext>
            </a:extLst>
          </p:cNvPr>
          <p:cNvSpPr>
            <a:spLocks noGrp="1"/>
          </p:cNvSpPr>
          <p:nvPr/>
        </p:nvSpPr>
        <p:spPr>
          <a:xfrm>
            <a:off x="4410075" y="4543425"/>
            <a:ext cx="304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15608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6082"/>
                </a:solidFill>
                <a:latin typeface="Aptos"/>
                <a:ea typeface="Aptos"/>
                <a:cs typeface="Aptos"/>
              </a:rPr>
              <a:t>967 encoded features</a:t>
            </a:r>
          </a:p>
        </p:txBody>
      </p:sp>
      <p:sp>
        <p:nvSpPr>
          <p:cNvPr id="14" name="W4 | Baseline-header">
            <a:extLst>
              <a:ext uri="{FF2B5EF4-FFF2-40B4-BE49-F238E27FC236}">
                <a16:creationId xmlns:a16="http://schemas.microsoft.com/office/drawing/2014/main" id="{F1C5B280-CA19-4FA8-A270-6A5AE9F93A97}"/>
              </a:ext>
            </a:extLst>
          </p:cNvPr>
          <p:cNvSpPr>
            <a:spLocks noGrp="1"/>
          </p:cNvSpPr>
          <p:nvPr/>
        </p:nvSpPr>
        <p:spPr>
          <a:xfrm>
            <a:off x="7829550" y="22669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W4 | Baseline</a:t>
            </a:r>
          </a:p>
        </p:txBody>
      </p:sp>
      <p:sp>
        <p:nvSpPr>
          <p:cNvPr id="15" name="W4 | Baseline-body">
            <a:extLst>
              <a:ext uri="{FF2B5EF4-FFF2-40B4-BE49-F238E27FC236}">
                <a16:creationId xmlns:a16="http://schemas.microsoft.com/office/drawing/2014/main" id="{5ED84A43-3429-4A24-824A-103F23A2E5FF}"/>
              </a:ext>
            </a:extLst>
          </p:cNvPr>
          <p:cNvSpPr>
            <a:spLocks noGrp="1"/>
          </p:cNvSpPr>
          <p:nvPr/>
        </p:nvSpPr>
        <p:spPr>
          <a:xfrm>
            <a:off x="7829550" y="3314700"/>
            <a:ext cx="30480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Linear regression was transparent, but </a:t>
            </a:r>
            <a:r>
              <a:rPr lang="en-US"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upper</a:t>
            </a:r>
            <a:r>
              <a:rPr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 outliers and nonlinear location effects limited generalization.</a:t>
            </a:r>
          </a:p>
        </p:txBody>
      </p:sp>
      <p:sp>
        <p:nvSpPr>
          <p:cNvPr id="16" name="W4 | Baseline-metric">
            <a:extLst>
              <a:ext uri="{FF2B5EF4-FFF2-40B4-BE49-F238E27FC236}">
                <a16:creationId xmlns:a16="http://schemas.microsoft.com/office/drawing/2014/main" id="{23087A4C-F071-43AA-8B11-5B2CAC6B12AB}"/>
              </a:ext>
            </a:extLst>
          </p:cNvPr>
          <p:cNvSpPr>
            <a:spLocks noGrp="1"/>
          </p:cNvSpPr>
          <p:nvPr/>
        </p:nvSpPr>
        <p:spPr>
          <a:xfrm>
            <a:off x="7829550" y="4543425"/>
            <a:ext cx="304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E97132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E97132"/>
                </a:solidFill>
                <a:latin typeface="Aptos"/>
                <a:ea typeface="Aptos"/>
                <a:cs typeface="Aptos"/>
              </a:rPr>
              <a:t>R2 </a:t>
            </a:r>
            <a:r>
              <a:rPr lang="en-US" sz="1800" b="1" dirty="0">
                <a:solidFill>
                  <a:srgbClr val="E97132"/>
                </a:solidFill>
                <a:latin typeface="Aptos"/>
                <a:ea typeface="Aptos"/>
                <a:cs typeface="Aptos"/>
              </a:rPr>
              <a:t>0</a:t>
            </a:r>
            <a:r>
              <a:rPr sz="1800" b="1" dirty="0">
                <a:solidFill>
                  <a:srgbClr val="E97132"/>
                </a:solidFill>
                <a:latin typeface="Aptos"/>
                <a:ea typeface="Aptos"/>
                <a:cs typeface="Aptos"/>
              </a:rPr>
              <a:t>.471 | MAPE 37.8% | </a:t>
            </a:r>
            <a:r>
              <a:rPr sz="1800" b="1" dirty="0" err="1">
                <a:solidFill>
                  <a:srgbClr val="E97132"/>
                </a:solidFill>
                <a:latin typeface="Aptos"/>
                <a:ea typeface="Aptos"/>
                <a:cs typeface="Aptos"/>
              </a:rPr>
              <a:t>MdAPE</a:t>
            </a:r>
            <a:r>
              <a:rPr sz="1800" b="1" dirty="0">
                <a:solidFill>
                  <a:srgbClr val="E97132"/>
                </a:solidFill>
                <a:latin typeface="Aptos"/>
                <a:ea typeface="Aptos"/>
                <a:cs typeface="Aptos"/>
              </a:rPr>
              <a:t> 22.4%</a:t>
            </a:r>
          </a:p>
        </p:txBody>
      </p:sp>
      <p:sp>
        <p:nvSpPr>
          <p:cNvPr id="17" name="timeline-1-decision">
            <a:extLst>
              <a:ext uri="{FF2B5EF4-FFF2-40B4-BE49-F238E27FC236}">
                <a16:creationId xmlns:a16="http://schemas.microsoft.com/office/drawing/2014/main" id="{FF786FC3-B3EF-4930-BDA9-0189C5E7EF8C}"/>
              </a:ext>
            </a:extLst>
          </p:cNvPr>
          <p:cNvSpPr>
            <a:spLocks noGrp="1"/>
          </p:cNvSpPr>
          <p:nvPr/>
        </p:nvSpPr>
        <p:spPr>
          <a:xfrm>
            <a:off x="1066800" y="5391150"/>
            <a:ext cx="10058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0E2841"/>
                </a:solidFill>
                <a:latin typeface="Aptos"/>
                <a:ea typeface="Aptos"/>
                <a:cs typeface="Aptos"/>
              </a:rPr>
              <a:t>Decision: keep Linear Regression as an interpretable benchmark, then move to tree models.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EBAF1A4-3162-5137-CCEA-F216661F98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Iteration Timeline</a:t>
            </a:r>
          </a:p>
        </p:txBody>
      </p:sp>
    </p:spTree>
    <p:extLst>
      <p:ext uri="{BB962C8B-B14F-4D97-AF65-F5344CB8AC3E}">
        <p14:creationId xmlns:p14="http://schemas.microsoft.com/office/powerpoint/2010/main" val="1308266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E8F6-23A5-4EC0-8864-9DEB027E9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 | </a:t>
            </a:r>
            <a:r>
              <a:rPr lang="en-US" dirty="0"/>
              <a:t>Explore</a:t>
            </a:r>
            <a:r>
              <a:rPr dirty="0"/>
              <a:t> nonlinear models</a:t>
            </a:r>
          </a:p>
        </p:txBody>
      </p:sp>
      <p:sp>
        <p:nvSpPr>
          <p:cNvPr id="3" name="timeline-subtitle">
            <a:extLst>
              <a:ext uri="{FF2B5EF4-FFF2-40B4-BE49-F238E27FC236}">
                <a16:creationId xmlns:a16="http://schemas.microsoft.com/office/drawing/2014/main" id="{871C7AE4-642C-47D1-A852-BF22DBEE3A75}"/>
              </a:ext>
            </a:extLst>
          </p:cNvPr>
          <p:cNvSpPr>
            <a:spLocks noGrp="1"/>
          </p:cNvSpPr>
          <p:nvPr/>
        </p:nvSpPr>
        <p:spPr>
          <a:xfrm>
            <a:off x="914400" y="1771650"/>
            <a:ext cx="10363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725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725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Each iteration answered a specific failure in the </a:t>
            </a:r>
            <a:r>
              <a:rPr lang="en-US" sz="1725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previous</a:t>
            </a:r>
            <a:r>
              <a:rPr sz="1725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 model.</a:t>
            </a:r>
          </a:p>
        </p:txBody>
      </p:sp>
      <p:sp>
        <p:nvSpPr>
          <p:cNvPr id="4" name="timeline-line">
            <a:extLst>
              <a:ext uri="{FF2B5EF4-FFF2-40B4-BE49-F238E27FC236}">
                <a16:creationId xmlns:a16="http://schemas.microsoft.com/office/drawing/2014/main" id="{7CE3164A-9E29-4C1A-8561-22355FB1325D}"/>
              </a:ext>
            </a:extLst>
          </p:cNvPr>
          <p:cNvSpPr>
            <a:spLocks noGrp="1"/>
          </p:cNvSpPr>
          <p:nvPr/>
        </p:nvSpPr>
        <p:spPr>
          <a:xfrm>
            <a:off x="1581150" y="2924175"/>
            <a:ext cx="9029700" cy="38100"/>
          </a:xfrm>
          <a:prstGeom prst="rect">
            <a:avLst/>
          </a:prstGeom>
          <a:solidFill>
            <a:srgbClr val="D9E1E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marker-1">
            <a:extLst>
              <a:ext uri="{FF2B5EF4-FFF2-40B4-BE49-F238E27FC236}">
                <a16:creationId xmlns:a16="http://schemas.microsoft.com/office/drawing/2014/main" id="{518EE2C1-61FD-4B33-859D-9EB24C0FE6D2}"/>
              </a:ext>
            </a:extLst>
          </p:cNvPr>
          <p:cNvSpPr>
            <a:spLocks noGrp="1"/>
          </p:cNvSpPr>
          <p:nvPr/>
        </p:nvSpPr>
        <p:spPr>
          <a:xfrm>
            <a:off x="2343150" y="2752725"/>
            <a:ext cx="381000" cy="381000"/>
          </a:xfrm>
          <a:prstGeom prst="ellipse">
            <a:avLst/>
          </a:prstGeom>
          <a:solidFill>
            <a:srgbClr val="E97132"/>
          </a:solidFill>
          <a:ln w="28575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marker-2">
            <a:extLst>
              <a:ext uri="{FF2B5EF4-FFF2-40B4-BE49-F238E27FC236}">
                <a16:creationId xmlns:a16="http://schemas.microsoft.com/office/drawing/2014/main" id="{9EE8BDCA-A227-40D0-8AB9-7604DAE40455}"/>
              </a:ext>
            </a:extLst>
          </p:cNvPr>
          <p:cNvSpPr>
            <a:spLocks noGrp="1"/>
          </p:cNvSpPr>
          <p:nvPr/>
        </p:nvSpPr>
        <p:spPr>
          <a:xfrm>
            <a:off x="5762625" y="2752725"/>
            <a:ext cx="381000" cy="381000"/>
          </a:xfrm>
          <a:prstGeom prst="ellipse">
            <a:avLst/>
          </a:prstGeom>
          <a:solidFill>
            <a:srgbClr val="E97132"/>
          </a:solidFill>
          <a:ln w="28575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" name="marker-3">
            <a:extLst>
              <a:ext uri="{FF2B5EF4-FFF2-40B4-BE49-F238E27FC236}">
                <a16:creationId xmlns:a16="http://schemas.microsoft.com/office/drawing/2014/main" id="{8D6609E7-DBC8-48FE-8295-49C7E1F9ACDD}"/>
              </a:ext>
            </a:extLst>
          </p:cNvPr>
          <p:cNvSpPr>
            <a:spLocks noGrp="1"/>
          </p:cNvSpPr>
          <p:nvPr/>
        </p:nvSpPr>
        <p:spPr>
          <a:xfrm>
            <a:off x="9182100" y="2752725"/>
            <a:ext cx="381000" cy="381000"/>
          </a:xfrm>
          <a:prstGeom prst="ellipse">
            <a:avLst/>
          </a:prstGeom>
          <a:solidFill>
            <a:srgbClr val="156082"/>
          </a:solidFill>
          <a:ln w="28575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" name="W5 | Try trees-header">
            <a:extLst>
              <a:ext uri="{FF2B5EF4-FFF2-40B4-BE49-F238E27FC236}">
                <a16:creationId xmlns:a16="http://schemas.microsoft.com/office/drawing/2014/main" id="{F1DEE039-F534-42AC-AA1D-1EB2DAD6C32E}"/>
              </a:ext>
            </a:extLst>
          </p:cNvPr>
          <p:cNvSpPr>
            <a:spLocks noGrp="1"/>
          </p:cNvSpPr>
          <p:nvPr/>
        </p:nvSpPr>
        <p:spPr>
          <a:xfrm>
            <a:off x="990600" y="22669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W5 | Try trees</a:t>
            </a:r>
          </a:p>
        </p:txBody>
      </p:sp>
      <p:sp>
        <p:nvSpPr>
          <p:cNvPr id="9" name="W5 | Try trees-body">
            <a:extLst>
              <a:ext uri="{FF2B5EF4-FFF2-40B4-BE49-F238E27FC236}">
                <a16:creationId xmlns:a16="http://schemas.microsoft.com/office/drawing/2014/main" id="{26C28435-ABDD-47D9-A069-00164B23F635}"/>
              </a:ext>
            </a:extLst>
          </p:cNvPr>
          <p:cNvSpPr>
            <a:spLocks noGrp="1"/>
          </p:cNvSpPr>
          <p:nvPr/>
        </p:nvSpPr>
        <p:spPr>
          <a:xfrm>
            <a:off x="990600" y="3314700"/>
            <a:ext cx="30480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Decision Tree and Random Forest tested on the same </a:t>
            </a:r>
            <a:r>
              <a:rPr sz="1425" b="1" dirty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May</a:t>
            </a:r>
            <a:r>
              <a:rPr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 holdout. Averaging many trees reduced the single-tree variance problem.</a:t>
            </a:r>
          </a:p>
        </p:txBody>
      </p:sp>
      <p:sp>
        <p:nvSpPr>
          <p:cNvPr id="10" name="W5 | Try trees-metric">
            <a:extLst>
              <a:ext uri="{FF2B5EF4-FFF2-40B4-BE49-F238E27FC236}">
                <a16:creationId xmlns:a16="http://schemas.microsoft.com/office/drawing/2014/main" id="{72E9529F-2E16-41C4-BAD8-112FDBBA8ED1}"/>
              </a:ext>
            </a:extLst>
          </p:cNvPr>
          <p:cNvSpPr>
            <a:spLocks noGrp="1"/>
          </p:cNvSpPr>
          <p:nvPr/>
        </p:nvSpPr>
        <p:spPr>
          <a:xfrm>
            <a:off x="990600" y="4543425"/>
            <a:ext cx="304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E97132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E97132"/>
                </a:solidFill>
                <a:latin typeface="Aptos"/>
                <a:ea typeface="Aptos"/>
                <a:cs typeface="Aptos"/>
              </a:rPr>
              <a:t>RF: R2 </a:t>
            </a:r>
            <a:r>
              <a:rPr lang="en-US" sz="1800" b="1" dirty="0">
                <a:solidFill>
                  <a:srgbClr val="E97132"/>
                </a:solidFill>
                <a:latin typeface="Aptos"/>
                <a:ea typeface="Aptos"/>
                <a:cs typeface="Aptos"/>
              </a:rPr>
              <a:t>0</a:t>
            </a:r>
            <a:r>
              <a:rPr sz="1800" b="1" dirty="0">
                <a:solidFill>
                  <a:srgbClr val="E97132"/>
                </a:solidFill>
                <a:latin typeface="Aptos"/>
                <a:ea typeface="Aptos"/>
                <a:cs typeface="Aptos"/>
              </a:rPr>
              <a:t>.514 | </a:t>
            </a:r>
            <a:r>
              <a:rPr sz="1800" b="1" dirty="0" err="1">
                <a:solidFill>
                  <a:srgbClr val="E97132"/>
                </a:solidFill>
                <a:latin typeface="Aptos"/>
                <a:ea typeface="Aptos"/>
                <a:cs typeface="Aptos"/>
              </a:rPr>
              <a:t>MdAPE</a:t>
            </a:r>
            <a:r>
              <a:rPr sz="1800" b="1" dirty="0">
                <a:solidFill>
                  <a:srgbClr val="E97132"/>
                </a:solidFill>
                <a:latin typeface="Aptos"/>
                <a:ea typeface="Aptos"/>
                <a:cs typeface="Aptos"/>
              </a:rPr>
              <a:t> 9.0%</a:t>
            </a:r>
          </a:p>
        </p:txBody>
      </p:sp>
      <p:sp>
        <p:nvSpPr>
          <p:cNvPr id="11" name="W5 | Keep RF-header">
            <a:extLst>
              <a:ext uri="{FF2B5EF4-FFF2-40B4-BE49-F238E27FC236}">
                <a16:creationId xmlns:a16="http://schemas.microsoft.com/office/drawing/2014/main" id="{1A3B9374-28C0-42D9-AFFE-65F361F95E34}"/>
              </a:ext>
            </a:extLst>
          </p:cNvPr>
          <p:cNvSpPr>
            <a:spLocks noGrp="1"/>
          </p:cNvSpPr>
          <p:nvPr/>
        </p:nvSpPr>
        <p:spPr>
          <a:xfrm>
            <a:off x="4410075" y="22669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W5 | Keep RF</a:t>
            </a:r>
          </a:p>
        </p:txBody>
      </p:sp>
      <p:sp>
        <p:nvSpPr>
          <p:cNvPr id="12" name="W5 | Keep RF-body">
            <a:extLst>
              <a:ext uri="{FF2B5EF4-FFF2-40B4-BE49-F238E27FC236}">
                <a16:creationId xmlns:a16="http://schemas.microsoft.com/office/drawing/2014/main" id="{8ED3E1BC-AEBF-47CB-A0CD-2243D87AE303}"/>
              </a:ext>
            </a:extLst>
          </p:cNvPr>
          <p:cNvSpPr>
            <a:spLocks noGrp="1"/>
          </p:cNvSpPr>
          <p:nvPr/>
        </p:nvSpPr>
        <p:spPr>
          <a:xfrm>
            <a:off x="4410075" y="3314700"/>
            <a:ext cx="30480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Random Forest beat the baseline on overall fit and cut typical percentage error by 13.</a:t>
            </a:r>
            <a:r>
              <a:rPr lang="en-US"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4%</a:t>
            </a:r>
            <a:r>
              <a:rPr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3" name="W5 | Keep RF-metric">
            <a:extLst>
              <a:ext uri="{FF2B5EF4-FFF2-40B4-BE49-F238E27FC236}">
                <a16:creationId xmlns:a16="http://schemas.microsoft.com/office/drawing/2014/main" id="{C555D7D5-5042-45FA-8BD5-666DB34B0C24}"/>
              </a:ext>
            </a:extLst>
          </p:cNvPr>
          <p:cNvSpPr>
            <a:spLocks noGrp="1"/>
          </p:cNvSpPr>
          <p:nvPr/>
        </p:nvSpPr>
        <p:spPr>
          <a:xfrm>
            <a:off x="4410075" y="4543425"/>
            <a:ext cx="304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E9713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97132"/>
                </a:solidFill>
                <a:latin typeface="Aptos"/>
                <a:ea typeface="Aptos"/>
                <a:cs typeface="Aptos"/>
              </a:rPr>
              <a:t>MAPE 18.2%</a:t>
            </a:r>
          </a:p>
        </p:txBody>
      </p:sp>
      <p:sp>
        <p:nvSpPr>
          <p:cNvPr id="14" name="W6 | Engineer-header">
            <a:extLst>
              <a:ext uri="{FF2B5EF4-FFF2-40B4-BE49-F238E27FC236}">
                <a16:creationId xmlns:a16="http://schemas.microsoft.com/office/drawing/2014/main" id="{57ED217C-4815-4094-89C0-6BE95074EA6B}"/>
              </a:ext>
            </a:extLst>
          </p:cNvPr>
          <p:cNvSpPr>
            <a:spLocks noGrp="1"/>
          </p:cNvSpPr>
          <p:nvPr/>
        </p:nvSpPr>
        <p:spPr>
          <a:xfrm>
            <a:off x="7829550" y="22669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725" b="1" dirty="0">
                <a:solidFill>
                  <a:srgbClr val="0E2841"/>
                </a:solidFill>
                <a:latin typeface="Aptos"/>
                <a:ea typeface="Aptos"/>
                <a:cs typeface="Aptos"/>
              </a:rPr>
              <a:t>W6 | </a:t>
            </a:r>
            <a:r>
              <a:rPr lang="en-US" sz="1725" b="1" dirty="0">
                <a:solidFill>
                  <a:srgbClr val="0E2841"/>
                </a:solidFill>
                <a:latin typeface="Aptos"/>
                <a:ea typeface="Aptos"/>
                <a:cs typeface="Aptos"/>
              </a:rPr>
              <a:t>Feature </a:t>
            </a:r>
            <a:r>
              <a:rPr sz="1725" b="1" dirty="0">
                <a:solidFill>
                  <a:srgbClr val="0E2841"/>
                </a:solidFill>
                <a:latin typeface="Aptos"/>
                <a:ea typeface="Aptos"/>
                <a:cs typeface="Aptos"/>
              </a:rPr>
              <a:t>Engineer</a:t>
            </a:r>
            <a:r>
              <a:rPr lang="en-US" sz="1725" b="1" dirty="0">
                <a:solidFill>
                  <a:srgbClr val="0E2841"/>
                </a:solidFill>
                <a:latin typeface="Aptos"/>
                <a:ea typeface="Aptos"/>
                <a:cs typeface="Aptos"/>
              </a:rPr>
              <a:t>ing</a:t>
            </a:r>
            <a:endParaRPr sz="1725" b="1" dirty="0">
              <a:solidFill>
                <a:srgbClr val="0E284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W6 | Engineer-body">
            <a:extLst>
              <a:ext uri="{FF2B5EF4-FFF2-40B4-BE49-F238E27FC236}">
                <a16:creationId xmlns:a16="http://schemas.microsoft.com/office/drawing/2014/main" id="{70DC492D-66A7-45EE-8D81-771FD875C72C}"/>
              </a:ext>
            </a:extLst>
          </p:cNvPr>
          <p:cNvSpPr>
            <a:spLocks noGrp="1"/>
          </p:cNvSpPr>
          <p:nvPr/>
        </p:nvSpPr>
        <p:spPr>
          <a:xfrm>
            <a:off x="7829550" y="3314700"/>
            <a:ext cx="30480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Added bed/bath </a:t>
            </a:r>
            <a:r>
              <a:rPr lang="en-US"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ratios</a:t>
            </a:r>
            <a:r>
              <a:rPr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, property age, seasonal cycles, log size, and unified-school-district location; transformations moved inside time-based </a:t>
            </a:r>
            <a:r>
              <a:rPr lang="en-US"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cross validation</a:t>
            </a:r>
            <a:r>
              <a:rPr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6" name="W6 | Engineer-metric">
            <a:extLst>
              <a:ext uri="{FF2B5EF4-FFF2-40B4-BE49-F238E27FC236}">
                <a16:creationId xmlns:a16="http://schemas.microsoft.com/office/drawing/2014/main" id="{443154F9-63CF-4436-8AA8-B2E0489A87A5}"/>
              </a:ext>
            </a:extLst>
          </p:cNvPr>
          <p:cNvSpPr>
            <a:spLocks noGrp="1"/>
          </p:cNvSpPr>
          <p:nvPr/>
        </p:nvSpPr>
        <p:spPr>
          <a:xfrm>
            <a:off x="7829550" y="4543425"/>
            <a:ext cx="304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15608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6082"/>
                </a:solidFill>
                <a:latin typeface="Aptos"/>
                <a:ea typeface="Aptos"/>
                <a:cs typeface="Aptos"/>
              </a:rPr>
              <a:t>1,193 encoded features</a:t>
            </a:r>
          </a:p>
        </p:txBody>
      </p:sp>
      <p:sp>
        <p:nvSpPr>
          <p:cNvPr id="17" name="timeline-2-decision">
            <a:extLst>
              <a:ext uri="{FF2B5EF4-FFF2-40B4-BE49-F238E27FC236}">
                <a16:creationId xmlns:a16="http://schemas.microsoft.com/office/drawing/2014/main" id="{14143127-D2E2-4395-BE35-119A57D1BD4B}"/>
              </a:ext>
            </a:extLst>
          </p:cNvPr>
          <p:cNvSpPr>
            <a:spLocks noGrp="1"/>
          </p:cNvSpPr>
          <p:nvPr/>
        </p:nvSpPr>
        <p:spPr>
          <a:xfrm>
            <a:off x="1066800" y="5314950"/>
            <a:ext cx="10058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0E2841"/>
                </a:solidFill>
                <a:latin typeface="Aptos"/>
                <a:ea typeface="Aptos"/>
                <a:cs typeface="Aptos"/>
              </a:rPr>
              <a:t>Result: RF moved to R2 </a:t>
            </a:r>
            <a:r>
              <a:rPr lang="en-US" sz="1500" b="1" dirty="0">
                <a:solidFill>
                  <a:srgbClr val="0E2841"/>
                </a:solidFill>
                <a:latin typeface="Aptos"/>
                <a:ea typeface="Aptos"/>
                <a:cs typeface="Aptos"/>
              </a:rPr>
              <a:t>0</a:t>
            </a:r>
            <a:r>
              <a:rPr sz="1500" b="1" dirty="0">
                <a:solidFill>
                  <a:srgbClr val="0E2841"/>
                </a:solidFill>
                <a:latin typeface="Aptos"/>
                <a:ea typeface="Aptos"/>
                <a:cs typeface="Aptos"/>
              </a:rPr>
              <a:t>.522 / MAPE 17.9% / </a:t>
            </a:r>
            <a:r>
              <a:rPr sz="1500" b="1" dirty="0" err="1">
                <a:solidFill>
                  <a:srgbClr val="0E2841"/>
                </a:solidFill>
                <a:latin typeface="Aptos"/>
                <a:ea typeface="Aptos"/>
                <a:cs typeface="Aptos"/>
              </a:rPr>
              <a:t>MdAPE</a:t>
            </a:r>
            <a:r>
              <a:rPr sz="1500" b="1" dirty="0">
                <a:solidFill>
                  <a:srgbClr val="0E2841"/>
                </a:solidFill>
                <a:latin typeface="Aptos"/>
                <a:ea typeface="Aptos"/>
                <a:cs typeface="Aptos"/>
              </a:rPr>
              <a:t> 9.0%. Linear improved most (</a:t>
            </a:r>
            <a:r>
              <a:rPr sz="1500" b="1" dirty="0" err="1">
                <a:solidFill>
                  <a:srgbClr val="0E2841"/>
                </a:solidFill>
                <a:latin typeface="Aptos"/>
                <a:ea typeface="Aptos"/>
                <a:cs typeface="Aptos"/>
              </a:rPr>
              <a:t>MdAPE</a:t>
            </a:r>
            <a:r>
              <a:rPr sz="1500" b="1" dirty="0">
                <a:solidFill>
                  <a:srgbClr val="0E2841"/>
                </a:solidFill>
                <a:latin typeface="Aptos"/>
                <a:ea typeface="Aptos"/>
                <a:cs typeface="Aptos"/>
              </a:rPr>
              <a:t> 22.4% -&gt; 17.7%), so we kept the engineered </a:t>
            </a:r>
            <a:r>
              <a:rPr lang="en-US" sz="1500" b="1" dirty="0">
                <a:solidFill>
                  <a:srgbClr val="0E2841"/>
                </a:solidFill>
                <a:latin typeface="Aptos"/>
                <a:ea typeface="Aptos"/>
                <a:cs typeface="Aptos"/>
              </a:rPr>
              <a:t>feature </a:t>
            </a:r>
            <a:r>
              <a:rPr sz="1500" b="1" dirty="0">
                <a:solidFill>
                  <a:srgbClr val="0E2841"/>
                </a:solidFill>
                <a:latin typeface="Aptos"/>
                <a:ea typeface="Aptos"/>
                <a:cs typeface="Aptos"/>
              </a:rPr>
              <a:t>set.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61490D6-F6AA-1994-5351-5F9DF93A699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Iteration Timeline</a:t>
            </a:r>
          </a:p>
        </p:txBody>
      </p:sp>
    </p:spTree>
    <p:extLst>
      <p:ext uri="{BB962C8B-B14F-4D97-AF65-F5344CB8AC3E}">
        <p14:creationId xmlns:p14="http://schemas.microsoft.com/office/powerpoint/2010/main" val="1308266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E8F6-23A5-4EC0-8864-9DEB027E9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| Tune and choose</a:t>
            </a:r>
          </a:p>
        </p:txBody>
      </p:sp>
      <p:sp>
        <p:nvSpPr>
          <p:cNvPr id="3" name="timeline-subtitle">
            <a:extLst>
              <a:ext uri="{FF2B5EF4-FFF2-40B4-BE49-F238E27FC236}">
                <a16:creationId xmlns:a16="http://schemas.microsoft.com/office/drawing/2014/main" id="{180D907D-C83E-4DCD-9731-21FF6127CEAB}"/>
              </a:ext>
            </a:extLst>
          </p:cNvPr>
          <p:cNvSpPr>
            <a:spLocks noGrp="1"/>
          </p:cNvSpPr>
          <p:nvPr/>
        </p:nvSpPr>
        <p:spPr>
          <a:xfrm>
            <a:off x="914400" y="1771650"/>
            <a:ext cx="10363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725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725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The final run rebuilt the pipeline from raw data and moved the untouched holdout</a:t>
            </a:r>
            <a:r>
              <a:rPr lang="en-US" sz="1725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 one month forward</a:t>
            </a:r>
            <a:r>
              <a:rPr sz="1725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 to </a:t>
            </a:r>
            <a:r>
              <a:rPr b="1" dirty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</a:rPr>
              <a:t>June</a:t>
            </a:r>
            <a:r>
              <a:rPr sz="1725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4" name="timeline-line">
            <a:extLst>
              <a:ext uri="{FF2B5EF4-FFF2-40B4-BE49-F238E27FC236}">
                <a16:creationId xmlns:a16="http://schemas.microsoft.com/office/drawing/2014/main" id="{4144E661-463A-4F9E-88BC-B2EAFFF1309D}"/>
              </a:ext>
            </a:extLst>
          </p:cNvPr>
          <p:cNvSpPr>
            <a:spLocks noGrp="1"/>
          </p:cNvSpPr>
          <p:nvPr/>
        </p:nvSpPr>
        <p:spPr>
          <a:xfrm>
            <a:off x="1581150" y="2924175"/>
            <a:ext cx="9029700" cy="38100"/>
          </a:xfrm>
          <a:prstGeom prst="rect">
            <a:avLst/>
          </a:prstGeom>
          <a:solidFill>
            <a:srgbClr val="D9E1E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marker-1">
            <a:extLst>
              <a:ext uri="{FF2B5EF4-FFF2-40B4-BE49-F238E27FC236}">
                <a16:creationId xmlns:a16="http://schemas.microsoft.com/office/drawing/2014/main" id="{F1ACAA86-B237-4E61-855A-141592D4B857}"/>
              </a:ext>
            </a:extLst>
          </p:cNvPr>
          <p:cNvSpPr>
            <a:spLocks noGrp="1"/>
          </p:cNvSpPr>
          <p:nvPr/>
        </p:nvSpPr>
        <p:spPr>
          <a:xfrm>
            <a:off x="2343150" y="2752725"/>
            <a:ext cx="381000" cy="381000"/>
          </a:xfrm>
          <a:prstGeom prst="ellipse">
            <a:avLst/>
          </a:prstGeom>
          <a:solidFill>
            <a:srgbClr val="156082"/>
          </a:solidFill>
          <a:ln w="28575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marker-2">
            <a:extLst>
              <a:ext uri="{FF2B5EF4-FFF2-40B4-BE49-F238E27FC236}">
                <a16:creationId xmlns:a16="http://schemas.microsoft.com/office/drawing/2014/main" id="{E3FC79B7-8DF6-4876-B90A-D22EE79055C8}"/>
              </a:ext>
            </a:extLst>
          </p:cNvPr>
          <p:cNvSpPr>
            <a:spLocks noGrp="1"/>
          </p:cNvSpPr>
          <p:nvPr/>
        </p:nvSpPr>
        <p:spPr>
          <a:xfrm>
            <a:off x="5762625" y="2752725"/>
            <a:ext cx="381000" cy="381000"/>
          </a:xfrm>
          <a:prstGeom prst="ellipse">
            <a:avLst/>
          </a:prstGeom>
          <a:solidFill>
            <a:srgbClr val="156082"/>
          </a:solidFill>
          <a:ln w="28575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" name="marker-3">
            <a:extLst>
              <a:ext uri="{FF2B5EF4-FFF2-40B4-BE49-F238E27FC236}">
                <a16:creationId xmlns:a16="http://schemas.microsoft.com/office/drawing/2014/main" id="{28D3650C-F3CE-40BA-9571-D3195626D36C}"/>
              </a:ext>
            </a:extLst>
          </p:cNvPr>
          <p:cNvSpPr>
            <a:spLocks noGrp="1"/>
          </p:cNvSpPr>
          <p:nvPr/>
        </p:nvSpPr>
        <p:spPr>
          <a:xfrm>
            <a:off x="9182100" y="2752725"/>
            <a:ext cx="381000" cy="381000"/>
          </a:xfrm>
          <a:prstGeom prst="ellipse">
            <a:avLst/>
          </a:prstGeom>
          <a:solidFill>
            <a:srgbClr val="196B24"/>
          </a:solidFill>
          <a:ln w="28575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" name="W7 | Rebuild-header">
            <a:extLst>
              <a:ext uri="{FF2B5EF4-FFF2-40B4-BE49-F238E27FC236}">
                <a16:creationId xmlns:a16="http://schemas.microsoft.com/office/drawing/2014/main" id="{E19494BB-4ACC-4062-92A3-A6B36F25E6D8}"/>
              </a:ext>
            </a:extLst>
          </p:cNvPr>
          <p:cNvSpPr>
            <a:spLocks noGrp="1"/>
          </p:cNvSpPr>
          <p:nvPr/>
        </p:nvSpPr>
        <p:spPr>
          <a:xfrm>
            <a:off x="990600" y="22669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W7 | Rebuild</a:t>
            </a:r>
          </a:p>
        </p:txBody>
      </p:sp>
      <p:sp>
        <p:nvSpPr>
          <p:cNvPr id="9" name="W7 | Rebuild-body">
            <a:extLst>
              <a:ext uri="{FF2B5EF4-FFF2-40B4-BE49-F238E27FC236}">
                <a16:creationId xmlns:a16="http://schemas.microsoft.com/office/drawing/2014/main" id="{CB6DE74D-5C0C-45CD-9B9A-F6F28840CC2E}"/>
              </a:ext>
            </a:extLst>
          </p:cNvPr>
          <p:cNvSpPr>
            <a:spLocks noGrp="1"/>
          </p:cNvSpPr>
          <p:nvPr/>
        </p:nvSpPr>
        <p:spPr>
          <a:xfrm>
            <a:off x="990600" y="3314700"/>
            <a:ext cx="30480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Fold-fitted median imputation + missing indicators; Unknown/rare one-hot encoding; 154 train-only target outliers removed; </a:t>
            </a:r>
            <a:r>
              <a:rPr lang="en-US"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all</a:t>
            </a:r>
            <a:r>
              <a:rPr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 June test rows</a:t>
            </a:r>
            <a:r>
              <a:rPr lang="en-US"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 kept</a:t>
            </a:r>
            <a:r>
              <a:rPr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0" name="W7 | Rebuild-metric">
            <a:extLst>
              <a:ext uri="{FF2B5EF4-FFF2-40B4-BE49-F238E27FC236}">
                <a16:creationId xmlns:a16="http://schemas.microsoft.com/office/drawing/2014/main" id="{F90A59D2-0241-4AA1-A5B4-1554C3C1A5C7}"/>
              </a:ext>
            </a:extLst>
          </p:cNvPr>
          <p:cNvSpPr>
            <a:spLocks noGrp="1"/>
          </p:cNvSpPr>
          <p:nvPr/>
        </p:nvSpPr>
        <p:spPr>
          <a:xfrm>
            <a:off x="990600" y="4543425"/>
            <a:ext cx="304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15608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6082"/>
                </a:solidFill>
                <a:latin typeface="Aptos"/>
                <a:ea typeface="Aptos"/>
                <a:cs typeface="Aptos"/>
              </a:rPr>
              <a:t>Train 130,060 | Test 12,857</a:t>
            </a:r>
          </a:p>
        </p:txBody>
      </p:sp>
      <p:sp>
        <p:nvSpPr>
          <p:cNvPr id="11" name="W7 | Tune-header">
            <a:extLst>
              <a:ext uri="{FF2B5EF4-FFF2-40B4-BE49-F238E27FC236}">
                <a16:creationId xmlns:a16="http://schemas.microsoft.com/office/drawing/2014/main" id="{11DF1277-B119-414D-9468-3A73CC96E371}"/>
              </a:ext>
            </a:extLst>
          </p:cNvPr>
          <p:cNvSpPr>
            <a:spLocks noGrp="1"/>
          </p:cNvSpPr>
          <p:nvPr/>
        </p:nvSpPr>
        <p:spPr>
          <a:xfrm>
            <a:off x="4410075" y="22669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W7 | Tune</a:t>
            </a:r>
          </a:p>
        </p:txBody>
      </p:sp>
      <p:sp>
        <p:nvSpPr>
          <p:cNvPr id="12" name="W7 | Tune-body">
            <a:extLst>
              <a:ext uri="{FF2B5EF4-FFF2-40B4-BE49-F238E27FC236}">
                <a16:creationId xmlns:a16="http://schemas.microsoft.com/office/drawing/2014/main" id="{962CA934-CC50-441E-B558-B0810098CCD2}"/>
              </a:ext>
            </a:extLst>
          </p:cNvPr>
          <p:cNvSpPr>
            <a:spLocks noGrp="1"/>
          </p:cNvSpPr>
          <p:nvPr/>
        </p:nvSpPr>
        <p:spPr>
          <a:xfrm>
            <a:off x="4410075" y="3314700"/>
            <a:ext cx="30480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624"/>
          </a:bodyPr>
          <a:lstStyle/>
          <a:p>
            <a:pPr algn="ctr">
              <a:defRPr sz="1425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63238"/>
                </a:solidFill>
                <a:latin typeface="Aptos"/>
                <a:ea typeface="Aptos"/>
                <a:cs typeface="Aptos"/>
              </a:rPr>
              <a:t>Three rolling validation months compared XGBoost and LightGBM depths, learning rates, and tree counts. 300 trees underfit; 700-tree variants added no useful MdAPE gain.</a:t>
            </a:r>
          </a:p>
        </p:txBody>
      </p:sp>
      <p:sp>
        <p:nvSpPr>
          <p:cNvPr id="13" name="W7 | Tune-metric">
            <a:extLst>
              <a:ext uri="{FF2B5EF4-FFF2-40B4-BE49-F238E27FC236}">
                <a16:creationId xmlns:a16="http://schemas.microsoft.com/office/drawing/2014/main" id="{2A4AB348-BA48-4F28-BE97-CA1F4C4FB6D4}"/>
              </a:ext>
            </a:extLst>
          </p:cNvPr>
          <p:cNvSpPr>
            <a:spLocks noGrp="1"/>
          </p:cNvSpPr>
          <p:nvPr/>
        </p:nvSpPr>
        <p:spPr>
          <a:xfrm>
            <a:off x="4410075" y="4543425"/>
            <a:ext cx="304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156082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156082"/>
                </a:solidFill>
                <a:latin typeface="Aptos"/>
                <a:ea typeface="Aptos"/>
                <a:cs typeface="Aptos"/>
              </a:rPr>
              <a:t>Selected: depth 8 / </a:t>
            </a:r>
            <a:r>
              <a:rPr lang="en-US" sz="1800" b="1" dirty="0" err="1">
                <a:solidFill>
                  <a:srgbClr val="156082"/>
                </a:solidFill>
                <a:latin typeface="Aptos"/>
                <a:ea typeface="Aptos"/>
                <a:cs typeface="Aptos"/>
              </a:rPr>
              <a:t>lr</a:t>
            </a:r>
            <a:r>
              <a:rPr lang="en-US" sz="1800" b="1" dirty="0">
                <a:solidFill>
                  <a:srgbClr val="156082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1" dirty="0">
                <a:solidFill>
                  <a:srgbClr val="156082"/>
                </a:solidFill>
                <a:latin typeface="Aptos"/>
                <a:ea typeface="Aptos"/>
                <a:cs typeface="Aptos"/>
              </a:rPr>
              <a:t>0.05 / 500</a:t>
            </a:r>
            <a:r>
              <a:rPr lang="en-US" sz="1800" b="1" dirty="0">
                <a:solidFill>
                  <a:srgbClr val="156082"/>
                </a:solidFill>
                <a:latin typeface="Aptos"/>
                <a:ea typeface="Aptos"/>
                <a:cs typeface="Aptos"/>
              </a:rPr>
              <a:t> trees</a:t>
            </a:r>
            <a:endParaRPr sz="1800" b="1" dirty="0">
              <a:solidFill>
                <a:srgbClr val="15608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W8 | Standardize-header">
            <a:extLst>
              <a:ext uri="{FF2B5EF4-FFF2-40B4-BE49-F238E27FC236}">
                <a16:creationId xmlns:a16="http://schemas.microsoft.com/office/drawing/2014/main" id="{C49DB8B8-453D-479C-8846-B3EEF0EDC1C5}"/>
              </a:ext>
            </a:extLst>
          </p:cNvPr>
          <p:cNvSpPr>
            <a:spLocks noGrp="1"/>
          </p:cNvSpPr>
          <p:nvPr/>
        </p:nvSpPr>
        <p:spPr>
          <a:xfrm>
            <a:off x="7829550" y="22669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W8 | Standardize</a:t>
            </a:r>
          </a:p>
        </p:txBody>
      </p:sp>
      <p:sp>
        <p:nvSpPr>
          <p:cNvPr id="15" name="W8 | Standardize-body">
            <a:extLst>
              <a:ext uri="{FF2B5EF4-FFF2-40B4-BE49-F238E27FC236}">
                <a16:creationId xmlns:a16="http://schemas.microsoft.com/office/drawing/2014/main" id="{63394B3C-0E35-4C59-B7D8-6FE8D0764420}"/>
              </a:ext>
            </a:extLst>
          </p:cNvPr>
          <p:cNvSpPr>
            <a:spLocks noGrp="1"/>
          </p:cNvSpPr>
          <p:nvPr/>
        </p:nvSpPr>
        <p:spPr>
          <a:xfrm>
            <a:off x="7829550" y="3314700"/>
            <a:ext cx="30480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425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All five model families were retrained on the same June holdout. </a:t>
            </a:r>
            <a:r>
              <a:rPr sz="1425" b="1" dirty="0" err="1">
                <a:solidFill>
                  <a:srgbClr val="263238"/>
                </a:solidFill>
                <a:latin typeface="Aptos"/>
                <a:ea typeface="Aptos"/>
                <a:cs typeface="Aptos"/>
              </a:rPr>
              <a:t>XGBoost</a:t>
            </a:r>
            <a:r>
              <a:rPr sz="1425" b="1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 led R2 and RMSE; RF retained the best MAPE and </a:t>
            </a:r>
            <a:r>
              <a:rPr sz="1425" b="1" dirty="0" err="1">
                <a:solidFill>
                  <a:srgbClr val="263238"/>
                </a:solidFill>
                <a:latin typeface="Aptos"/>
                <a:ea typeface="Aptos"/>
                <a:cs typeface="Aptos"/>
              </a:rPr>
              <a:t>MdAPE</a:t>
            </a:r>
            <a:r>
              <a:rPr sz="1425" b="1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6" name="W8 | Standardize-metric">
            <a:extLst>
              <a:ext uri="{FF2B5EF4-FFF2-40B4-BE49-F238E27FC236}">
                <a16:creationId xmlns:a16="http://schemas.microsoft.com/office/drawing/2014/main" id="{5C34D5F6-B4AA-4801-B1BC-DED9FA480F10}"/>
              </a:ext>
            </a:extLst>
          </p:cNvPr>
          <p:cNvSpPr>
            <a:spLocks noGrp="1"/>
          </p:cNvSpPr>
          <p:nvPr/>
        </p:nvSpPr>
        <p:spPr>
          <a:xfrm>
            <a:off x="7829550" y="4543425"/>
            <a:ext cx="304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196B24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196B24"/>
                </a:solidFill>
                <a:latin typeface="Aptos"/>
                <a:ea typeface="Aptos"/>
                <a:cs typeface="Aptos"/>
              </a:rPr>
              <a:t>XGB: R2 </a:t>
            </a:r>
            <a:r>
              <a:rPr lang="en-US" sz="1800" b="1" dirty="0">
                <a:solidFill>
                  <a:srgbClr val="196B24"/>
                </a:solidFill>
                <a:latin typeface="Aptos"/>
                <a:ea typeface="Aptos"/>
                <a:cs typeface="Aptos"/>
              </a:rPr>
              <a:t>0</a:t>
            </a:r>
            <a:r>
              <a:rPr sz="1800" b="1" dirty="0">
                <a:solidFill>
                  <a:srgbClr val="196B24"/>
                </a:solidFill>
                <a:latin typeface="Aptos"/>
                <a:ea typeface="Aptos"/>
                <a:cs typeface="Aptos"/>
              </a:rPr>
              <a:t>.812 | </a:t>
            </a:r>
            <a:r>
              <a:rPr sz="1800" b="1" dirty="0" err="1">
                <a:solidFill>
                  <a:srgbClr val="196B24"/>
                </a:solidFill>
                <a:latin typeface="Aptos"/>
                <a:ea typeface="Aptos"/>
                <a:cs typeface="Aptos"/>
              </a:rPr>
              <a:t>MdAPE</a:t>
            </a:r>
            <a:r>
              <a:rPr sz="1800" b="1" dirty="0">
                <a:solidFill>
                  <a:srgbClr val="196B24"/>
                </a:solidFill>
                <a:latin typeface="Aptos"/>
                <a:ea typeface="Aptos"/>
                <a:cs typeface="Aptos"/>
              </a:rPr>
              <a:t> 11.8%</a:t>
            </a:r>
          </a:p>
        </p:txBody>
      </p:sp>
      <p:sp>
        <p:nvSpPr>
          <p:cNvPr id="17" name="timeline-3-decision">
            <a:extLst>
              <a:ext uri="{FF2B5EF4-FFF2-40B4-BE49-F238E27FC236}">
                <a16:creationId xmlns:a16="http://schemas.microsoft.com/office/drawing/2014/main" id="{17788B70-91C0-4668-B23C-7AD0A217CE61}"/>
              </a:ext>
            </a:extLst>
          </p:cNvPr>
          <p:cNvSpPr>
            <a:spLocks noGrp="1"/>
          </p:cNvSpPr>
          <p:nvPr/>
        </p:nvSpPr>
        <p:spPr>
          <a:xfrm>
            <a:off x="1066800" y="5314950"/>
            <a:ext cx="10058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0E2841"/>
                </a:solidFill>
                <a:latin typeface="Aptos"/>
                <a:ea typeface="Aptos"/>
                <a:cs typeface="Aptos"/>
              </a:rPr>
              <a:t>Decision: select </a:t>
            </a:r>
            <a:r>
              <a:rPr sz="1500" b="1" dirty="0" err="1">
                <a:solidFill>
                  <a:srgbClr val="0E2841"/>
                </a:solidFill>
                <a:latin typeface="Aptos"/>
                <a:ea typeface="Aptos"/>
                <a:cs typeface="Aptos"/>
              </a:rPr>
              <a:t>XGBoost</a:t>
            </a:r>
            <a:r>
              <a:rPr sz="1500" b="1" dirty="0">
                <a:solidFill>
                  <a:srgbClr val="0E2841"/>
                </a:solidFill>
                <a:latin typeface="Aptos"/>
                <a:ea typeface="Aptos"/>
                <a:cs typeface="Aptos"/>
              </a:rPr>
              <a:t> for statewide fit and large-miss control; keep Random Forest as the relative-error benchmark. Earlier May metrics show lineage, not a direct June </a:t>
            </a:r>
            <a:r>
              <a:rPr lang="en-US" sz="1500" b="1" dirty="0">
                <a:solidFill>
                  <a:srgbClr val="0E2841"/>
                </a:solidFill>
                <a:latin typeface="Aptos"/>
                <a:ea typeface="Aptos"/>
                <a:cs typeface="Aptos"/>
              </a:rPr>
              <a:t>ranking</a:t>
            </a:r>
            <a:r>
              <a:rPr sz="1500" b="1" dirty="0">
                <a:solidFill>
                  <a:srgbClr val="0E2841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2785208-9DE2-8D82-2576-32833DFCDD1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Iteration Timeline</a:t>
            </a:r>
          </a:p>
        </p:txBody>
      </p:sp>
    </p:spTree>
    <p:extLst>
      <p:ext uri="{BB962C8B-B14F-4D97-AF65-F5344CB8AC3E}">
        <p14:creationId xmlns:p14="http://schemas.microsoft.com/office/powerpoint/2010/main" val="1308266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48940-5BE7-7C81-EB0E-2903CC1E5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2486439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1574</Words>
  <Application>Microsoft Macintosh PowerPoint</Application>
  <DocSecurity>0</DocSecurity>
  <PresentationFormat>Widescreen</PresentationFormat>
  <Paragraphs>205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Courier New</vt:lpstr>
      <vt:lpstr>Office Theme</vt:lpstr>
      <vt:lpstr>ds 55 presentation</vt:lpstr>
      <vt:lpstr>Timeline / Content</vt:lpstr>
      <vt:lpstr>Objective</vt:lpstr>
      <vt:lpstr>Dataset</vt:lpstr>
      <vt:lpstr>Initial Data Exploration</vt:lpstr>
      <vt:lpstr>Dataset Challenges</vt:lpstr>
      <vt:lpstr>Preprocessing Pipeline</vt:lpstr>
      <vt:lpstr>Feature Engineering</vt:lpstr>
      <vt:lpstr>Models Used:</vt:lpstr>
      <vt:lpstr>Model Comparison </vt:lpstr>
      <vt:lpstr>How XGBoost learns</vt:lpstr>
      <vt:lpstr>One holdout, five models</vt:lpstr>
      <vt:lpstr>XGBoost leads overall fit</vt:lpstr>
      <vt:lpstr>Best Model </vt:lpstr>
      <vt:lpstr>Performance By Price Band</vt:lpstr>
      <vt:lpstr>Evaluation </vt:lpstr>
      <vt:lpstr>1 | Build a trustworthy baseline</vt:lpstr>
      <vt:lpstr>2 | Explore nonlinear models</vt:lpstr>
      <vt:lpstr>3 | Tune and choose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Lan Riva</cp:lastModifiedBy>
  <cp:revision>5</cp:revision>
  <dcterms:created xsi:type="dcterms:W3CDTF">2026-08-27T01:50:59Z</dcterms:created>
  <dcterms:modified xsi:type="dcterms:W3CDTF">2026-08-27T02:50:18Z</dcterms:modified>
</cp:coreProperties>
</file>